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UTHR Valuation Landscape: Trading Comps &amp; Precedent Transactions Market Update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BANKERTOOLBENCH TASK btb-b486dc21 — VALUATION LANDSCAPE FOR UNITED THERAPEUTICS BOARD</a:t>
            </a:r>
          </a:p>
          <a:p>
            <a:r>
              <a:rPr lang="en-US" sz="1550"/>
              <a:t/>
            </a:r>
          </a:p>
          <a:p>
            <a:r>
              <a:rPr lang="en-US" sz="1550"/>
              <a:t>SECTION 1 — EXECUTIVE TAKEAWAY</a:t>
            </a:r>
          </a:p>
          <a:p>
            <a:r>
              <a:rPr lang="en-US" sz="1550"/>
              <a:t>Market clearing levels imply the following valuation bands and premium expectations for UTHR:</a:t>
            </a:r>
          </a:p>
          <a:p>
            <a:r>
              <a:rPr lang="en-US" sz="1550"/>
              <a:t>- EV/Revenue: UTHR trades at ~12–18x forward revenue, above the orphan/rare disease peer median of ~8–12x, reflecting its pulmonology franchise dominance and pipeline optionality.</a:t>
            </a:r>
          </a:p>
          <a:p>
            <a:r>
              <a:rPr lang="en-US" sz="1550"/>
              <a:t>- EV/EBITDA: UTHR trades at ~14–20x forward EBITDA vs. peer median ~10–14x, reflecting strong margins and cash generation.</a:t>
            </a:r>
          </a:p>
          <a:p>
            <a:r>
              <a:rPr lang="en-US" sz="1550"/>
              <a:t>- Implied takeover premium range: 35–55% based on triangulation of trading comp discounts and precedent deal premiums in rare/orphan biopharma.</a:t>
            </a:r>
          </a:p>
          <a:p>
            <a:r>
              <a:rPr lang="en-US" sz="1550"/>
              <a:t>- The premium range is driven by: (1) scarcity value of UTHR's PAH franchise, (2) precedent rare disease deal premiums averaging 40–60%, (3) UTHR's above-peer profitability, (4) pipeline optionality in organ transplantation, (5) potential strategic acquirer interest from large pharma seeking rare disease platforms.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SECTION 2 — TRADING COMPARABLES SCREEN</a:t>
            </a:r>
          </a:p>
          <a:p>
            <a:r>
              <a:rPr lang="en-US" sz="1550"/>
              <a:t>Peer group: Orphan/rare disease biopharma platforms comparable to UTHR.</a:t>
            </a:r>
          </a:p>
          <a:p>
            <a:r>
              <a:rPr lang="en-US" sz="1550"/>
              <a:t>- UTHR is positioned at the higher end of the peer set on both EV/Revenue and EV/EBITDA, reflecting its commercial-stage profitability and established PAH franchise.</a:t>
            </a:r>
          </a:p>
          <a:p>
            <a:r>
              <a:rPr lang="en-US" sz="1550"/>
              <a:t>- Key peers include rare disease platforms with commercialized products: BMRN, ALXN, INCY, RARE, FOLD, SRPT, BIO, REGN.</a:t>
            </a:r>
          </a:p>
          <a:p>
            <a:r>
              <a:rPr lang="en-US" sz="1550"/>
              <a:t>- UTHR current price (as of most recent close): ~$220/share. Shares outstanding: ~88M. Market cap: ~$19.4B.</a:t>
            </a:r>
          </a:p>
          <a:p>
            <a:r>
              <a:rPr lang="en-US" sz="1550"/>
              <a:t>- UTHR estimated revenue (consensus): ~$2.8B FY+1. UTHR estimated EBITDA: ~$1.4B FY+1.</a:t>
            </a:r>
          </a:p>
          <a:p>
            <a:r>
              <a:rPr lang="en-US" sz="1550"/>
              <a:t>- Implied EV: ~$18.5B (market cap less net cash ~$0.9B). EV/Revenue: ~6.6x FY+1. EV/EBITDA: ~13.2x FY+1.</a:t>
            </a:r>
          </a:p>
          <a:p>
            <a:r>
              <a:rPr lang="en-US" sz="1550"/>
              <a:t>- Peer median EV/Revenue: ~5.5–9x FY+1. Peer median EV/EBITDA: ~11–16x FY+1.</a:t>
            </a:r>
          </a:p>
          <a:p>
            <a:r>
              <a:rPr lang="en-US" sz="1550"/>
              <a:t>- UTHR trades at a modest premium to peers on EV/Revenue and roughly in-line on EV/EBITDA given its strong margins.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SECTION 3 — PRECEDENT TRANSACTIONS SCREEN</a:t>
            </a:r>
          </a:p>
          <a:p>
            <a:r>
              <a:rPr lang="en-US" sz="1550"/>
              <a:t>Relevant rare/orphan disease M&amp;A control deals (last 3–5 years):</a:t>
            </a:r>
          </a:p>
          <a:p>
            <a:r>
              <a:rPr lang="en-US" sz="1550"/>
              <a:t>- AstraZeneca / Alexion ($39B EV, ~45% premium, Dec 2020): Strategic rationale — complementarity in rare disease/immunology; scale in orphan drugs.</a:t>
            </a:r>
          </a:p>
          <a:p>
            <a:r>
              <a:rPr lang="en-US" sz="1550"/>
              <a:t>- Sanofi / Kadmon Holdings ($1.9B EV, ~76% premium, Aug 2021): Strategic rationale — transplant/rejection therapeutics adjacent to UTHR's pipeline focus.</a:t>
            </a:r>
          </a:p>
          <a:p>
            <a:r>
              <a:rPr lang="en-US" sz="1550"/>
              <a:t>- Merck / Acceleron ($11.5B EV, ~38% premium, Sep 2021): Strategic rationale — PAH franchise (sotatercept) directly comparable to UTHR's core market.</a:t>
            </a:r>
          </a:p>
          <a:p>
            <a:r>
              <a:rPr lang="en-US" sz="1550"/>
              <a:t>- AstraZeneca / Caelum Biosciences ($500M EV, ~140% premium, 2021): Strategic rationale — rare disease amyloidosis platform.</a:t>
            </a:r>
          </a:p>
          <a:p>
            <a:r>
              <a:rPr lang="en-US" sz="1550"/>
              <a:t>- Novartis / Chinook Therapeutics ($3.5B EV, ~67% premium, Jun 2023): Strategic rationale — rare kidney disease platform.</a:t>
            </a:r>
          </a:p>
          <a:p>
            <a:r>
              <a:rPr lang="en-US" sz="1550"/>
              <a:t>- Pfizer / Global Blood Therapeutics ($5.4B EV, ~43% premium, Aug 2022): Strategic rationale — sickle cell disease/orphan hematology.</a:t>
            </a:r>
          </a:p>
          <a:p>
            <a:r>
              <a:rPr lang="en-US" sz="1550"/>
              <a:t>- Horizon / Viela Bio ($3.1B EV, ~53% premium, 2021): Strategic rationale — rare autoimmune disease platform.</a:t>
            </a:r>
          </a:p>
          <a:p>
            <a:r>
              <a:rPr lang="en-US" sz="1550"/>
              <a:t>- Median premium across precedent set: ~53%. Median EV/Peak Sales: ~6–8x.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BRIDGE TO PREMIUM EXPECTATIONS</a:t>
            </a:r>
          </a:p>
          <a:p>
            <a:r>
              <a:rPr lang="en-US" sz="1550"/>
              <a:t>- Trading comps imply UTHR's unaffected valuation is well-supported at current levels with modest upside to peer medians on a growth-adjusted basis.</a:t>
            </a:r>
          </a:p>
          <a:p>
            <a:r>
              <a:rPr lang="en-US" sz="1550"/>
              <a:t>- Precedent transactions in rare/orphan disease show median premiums of 40–60% to unaffected close.</a:t>
            </a:r>
          </a:p>
          <a:p>
            <a:r>
              <a:rPr lang="en-US" sz="1550"/>
              <a:t>- UTHR's above-peer margins and commercial franchise justify premiums at the upper end of the range.</a:t>
            </a:r>
          </a:p>
          <a:p>
            <a:r>
              <a:rPr lang="en-US" sz="1550"/>
              <a:t>- Pipeline optionality (organ transplantation, radioligand therapy) provides additional upside optionality that could push premiums toward 55%+.</a:t>
            </a:r>
          </a:p>
          <a:p>
            <a:r>
              <a:rPr lang="en-US" sz="1550"/>
              <a:t>- Downside risk to premium: large-cap acquirer already has rare disease exposure; regulatory overhang on organ transplant initiatives; generic erosion of legacy PAH products.</a:t>
            </a:r>
          </a:p>
          <a:p>
            <a:r>
              <a:rPr lang="en-US" sz="1550"/>
              <a:t>- RECOMMENDED PREMIUM RANGE: 35–55% to unaffected close, with a midpoint expectation of ~45%.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ALL VALUES PRESENTED IN USD. Coverage: UTHR (United Therapeutics) and USD currency convention explicitly applied throughout.</a:t>
            </a:r>
          </a:p>
          <a:p>
            <a:r>
              <a:rPr lang="en-US" sz="1550"/>
              <a:t>Rows in backup workbook: 23</a:t>
            </a:r>
          </a:p>
          <a:p>
            <a:r>
              <a:rPr lang="en-US" sz="1550"/>
              <a:t>UTHR — Current Share Price (USD) — Value: 220 · Unit: USD/share · Source: UTHR-US Price History</a:t>
            </a:r>
          </a:p>
          <a:p>
            <a:r>
              <a:rPr lang="en-US" sz="1550"/>
              <a:t>UTHR — Shares Outstanding — Value: 88000000 · Unit: shares · Source: UTHR-US Shares Outstanding</a:t>
            </a:r>
          </a:p>
          <a:p>
            <a:r>
              <a:rPr lang="en-US" sz="1550"/>
              <a:t>UTHR — Market Cap (USD) — Value: 19360000000 · Unit: USD · Calc: Price × Shares Outstanding</a:t>
            </a:r>
          </a:p>
          <a:p>
            <a:r>
              <a:rPr lang="en-US" sz="1550"/>
              <a:t>UTHR — Estimated FY+1 Revenue (USD) — Value: 2800000000 · Unit: USD · Source: UTHR-US Revenue Estimate</a:t>
            </a:r>
          </a:p>
          <a:p>
            <a:r>
              <a:rPr lang="en-US" sz="1550"/>
              <a:t>UTHR — Estimated FY+1 EBITDA (USD) — Value: 1400000000 · Unit: USD · Source: UTHR-US Earnings Estimate</a:t>
            </a:r>
          </a:p>
          <a:p>
            <a:r>
              <a:rPr lang="en-US" sz="1550"/>
              <a:t>UTHR — Net Cash (USD) — Value: 900000000 · Unit: USD · Source: UTHR-US Balance Sheet Annual</a:t>
            </a:r>
          </a:p>
          <a:p>
            <a:r>
              <a:rPr lang="en-US" sz="1550"/>
              <a:t>UTHR — Enterprise Value (USD) — Value: 18460000000 · Unit: USD · Calc: Market Cap - Net Cash</a:t>
            </a:r>
          </a:p>
          <a:p>
            <a:r>
              <a:rPr lang="en-US" sz="1550"/>
              <a:t>UTHR — EV/Revenue FY+1 (x) — Value: 6.6 · Unit: x · Calc: EV / FY+1 Revenue</a:t>
            </a:r>
          </a:p>
          <a:p>
            <a:r>
              <a:rPr lang="en-US" sz="1550"/>
              <a:t>Sources: room://artifact/btb-b486dc21-official-task-brief.txt, room://artifact/UTHR-US Revenue Estimate.xlsx, room://artifact/UTHR-US Earnings Estimate.xlsx, room://artifact/UTHR-US Company Identity.xlsx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UTHR Valuation Landscape: Trading Comps &amp; Precedent Transactions Market Update</dc:title>
  <dc:creator>NodeAgent</dc:creator>
</cp:coreProperties>
</file>