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P&amp;G Preliminary DCF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P&amp;G Preliminary DCF Analysis — BTB Task btb-e3c47ea1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Task Summary</a:t>
            </a:r>
          </a:p>
          <a:p>
            <a:r>
              <a:rPr lang="en-US" sz="1550"/>
              <a:t>First-year analyst preliminary DCF for Procter &amp; Gamble (NYSE: PG) to assess attractiveness for Private Equity. Valuation date: 30-Jun-25 (P&amp;G FY25A fiscal year end). No calendarization needed.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Assumptions (per MD)</a:t>
            </a:r>
          </a:p>
          <a:p>
            <a:r>
              <a:rPr lang="en-US" sz="1550"/>
              <a:t>- **WACC**: 8.0%</a:t>
            </a:r>
          </a:p>
          <a:p>
            <a:r>
              <a:rPr lang="en-US" sz="1550"/>
              <a:t>- **Long-term growth rate (LTGR)**: 2.0%</a:t>
            </a:r>
          </a:p>
          <a:p>
            <a:r>
              <a:rPr lang="en-US" sz="1550"/>
              <a:t>- **Tax rate**: 21.0% (US statutory)</a:t>
            </a:r>
          </a:p>
          <a:p>
            <a:r>
              <a:rPr lang="en-US" sz="1550"/>
              <a:t>- **Forecast horizon**: 8 years (FY26E–FY33E)</a:t>
            </a:r>
          </a:p>
          <a:p>
            <a:r>
              <a:rPr lang="en-US" sz="1550"/>
              <a:t>- **EBITDA margin**: Held constant at FY25A level</a:t>
            </a:r>
          </a:p>
          <a:p>
            <a:r>
              <a:rPr lang="en-US" sz="1550"/>
              <a:t>- **D&amp;A and Capex**: Held constant as % of sales (at FY25A levels)</a:t>
            </a:r>
          </a:p>
          <a:p>
            <a:r>
              <a:rPr lang="en-US" sz="1550"/>
              <a:t>- **Change in NWC**: Held flat (constant at FY25A level)</a:t>
            </a:r>
          </a:p>
          <a:p>
            <a:r>
              <a:rPr lang="en-US" sz="1550"/>
              <a:t>- **Sales growth rate**: Same as last year of historical estimate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P&amp;G FY25A Historical Financials (in $ millions)</a:t>
            </a:r>
          </a:p>
          <a:p>
            <a:r>
              <a:rPr lang="en-US" sz="1550"/>
              <a:t>Source: P&amp;G FY2025 annual financials (fiscal year ended June 30, 2025)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Line Item | FY25A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Net Sales | $83,989 |</a:t>
            </a:r>
          </a:p>
          <a:p>
            <a:r>
              <a:rPr lang="en-US" sz="1550"/>
              <a:t>| EBITDA | $23,614 |</a:t>
            </a:r>
          </a:p>
          <a:p>
            <a:r>
              <a:rPr lang="en-US" sz="1550"/>
              <a:t>| EBITDA Margin | 28.1% |</a:t>
            </a:r>
          </a:p>
          <a:p>
            <a:r>
              <a:rPr lang="en-US" sz="1550"/>
              <a:t>| D&amp;A | $3,502 |</a:t>
            </a:r>
          </a:p>
          <a:p>
            <a:r>
              <a:rPr lang="en-US" sz="1550"/>
              <a:t>| D&amp;A % of Sales | 4.17% |</a:t>
            </a:r>
          </a:p>
          <a:p>
            <a:r>
              <a:rPr lang="en-US" sz="1550"/>
              <a:t>| Capex | $3,614 |</a:t>
            </a:r>
          </a:p>
          <a:p>
            <a:r>
              <a:rPr lang="en-US" sz="1550"/>
              <a:t>| Capex % of Sales | 4.30% |</a:t>
            </a:r>
          </a:p>
          <a:p>
            <a:r>
              <a:rPr lang="en-US" sz="1550"/>
              <a:t>| EBIT | $20,112 |</a:t>
            </a:r>
          </a:p>
          <a:p>
            <a:r>
              <a:rPr lang="en-US" sz="1550"/>
              <a:t>| Change in NWC | $950 |</a:t>
            </a:r>
          </a:p>
          <a:p>
            <a:r>
              <a:rPr lang="en-US" sz="1550"/>
              <a:t>| Tax Rate | 21.0%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DCF Model Output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**Forecast Financials ($ millions):**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Line Item | FY26E | FY27E | FY28E | FY29E | FY30E | FY31E | FY32E | FY33E |</a:t>
            </a:r>
          </a:p>
          <a:p>
            <a:r>
              <a:rPr lang="en-US" sz="1550"/>
              <a:t>|---|---|---|---|---|---|---|---|---|</a:t>
            </a:r>
          </a:p>
          <a:p>
            <a:r>
              <a:rPr lang="en-US" sz="1550"/>
              <a:t>| Net Sales | 86,821 | 90,027 | 93,353 | 96,805 | 100,386 | 104,100 | 107,952 | 111,947 |</a:t>
            </a:r>
          </a:p>
          <a:p>
            <a:r>
              <a:rPr lang="en-US" sz="1550"/>
              <a:t>| EBITDA | 24,400 | 25,300 | 26,236 | 27,207 | 28,213 | 29,257 | 30,340 | 31,464 |</a:t>
            </a:r>
          </a:p>
          <a:p>
            <a:r>
              <a:rPr lang="en-US" sz="1550"/>
              <a:t>| D&amp;A | 3,621 | 3,755 | 3,894 | 4,038 | 4,187 | 4,342 | 4,503 | 4,669 |</a:t>
            </a:r>
          </a:p>
          <a:p>
            <a:r>
              <a:rPr lang="en-US" sz="1550"/>
              <a:t>| EBIT | 20,779 | 21,546 | 22,342 | 23,169 | 24,026 | 24,915 | 25,837 | 26,795 |</a:t>
            </a:r>
          </a:p>
          <a:p>
            <a:r>
              <a:rPr lang="en-US" sz="1550"/>
              <a:t>| Taxes (21%) | 4,364 | 4,525 | 4,692 | 4,865 | 5,046 | 5,232 | 5,426 | 5,627 |</a:t>
            </a:r>
          </a:p>
          <a:p>
            <a:r>
              <a:rPr lang="en-US" sz="1550"/>
              <a:t>| NOPAT | 16,416 | 17,021 | 17,651 | 18,303 | 18,981 | 19,683 | 20,412 | 21,168 |</a:t>
            </a:r>
          </a:p>
          <a:p>
            <a:r>
              <a:rPr lang="en-US" sz="1550"/>
              <a:t>| + D&amp;A | 3,621 | 3,755 | 3,894 | 4,038 | 4,187 | 4,342 | 4,503 | 4,669 |</a:t>
            </a:r>
          </a:p>
          <a:p>
            <a:r>
              <a:rPr lang="en-US" sz="1550"/>
              <a:t>| - Capex | (3,734) | (3,872) | (4,015) | (4,163) | (4,317) | (4,477) | (4,642) | (4,814) |</a:t>
            </a:r>
          </a:p>
          <a:p>
            <a:r>
              <a:rPr lang="en-US" sz="1550"/>
              <a:t>| - ΔNWC | (950) | (950) | (950) | (950) | (950) | (950) | (950) | (950) |</a:t>
            </a:r>
          </a:p>
          <a:p>
            <a:r>
              <a:rPr lang="en-US" sz="1550"/>
              <a:t>| **FCF** | **15,353** | **15,954** | **16,580** | **17,228** | **17,900** | **18,598** | **19,323** | **20,074** |</a:t>
            </a:r>
          </a:p>
          <a:p>
            <a:r>
              <a:rPr lang="en-US" sz="1550"/>
              <a:t>| Discount Factor | 0.962 | 0.890 | 0.824 | 0.763 | 0.706 | 0.654 | 0.606 | 0.561 |</a:t>
            </a:r>
          </a:p>
          <a:p>
            <a:r>
              <a:rPr lang="en-US" sz="1550"/>
              <a:t>| **DCF** | **14,769** | **14,197** | **13,667** | **13,146** | **12,644** | **12,160** | **11,710** | **11,262**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**Sum of DCF (FY26E–FY33E)**: $103,555M</a:t>
            </a:r>
          </a:p>
          <a:p>
            <a:r>
              <a:rPr lang="en-US" sz="1550"/>
              <a:t>**Terminal Value** (Gordon Growth, LTGR=2.0%): FCF_FY33E × (1+LTGR) / (WACC−LTGR) = 20,074 × 1.02 / (0.08−0.02) = $341,258M</a:t>
            </a:r>
          </a:p>
          <a:p>
            <a:r>
              <a:rPr lang="en-US" sz="1550"/>
              <a:t>**PV of Terminal Value**: $341,258 × 0.561 = $191,446M</a:t>
            </a:r>
          </a:p>
          <a:p>
            <a:r>
              <a:rPr lang="en-US" sz="1550"/>
              <a:t>**Enterprise Value (EV)**: $103,555 + $191,446 = **$295,001M**</a:t>
            </a:r>
          </a:p>
          <a:p>
            <a:r>
              <a:rPr lang="en-US" sz="1550"/>
              <a:t>**EV/EBITDA FY26E**: $295,001 / $24,400 = **12.1x**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Sensitivity Table 1: Enterprise Value ($ millions)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| LTGR 1.5% | LTGR 2.0% | LTGR 2.5% | LTGR 3.0% |</a:t>
            </a:r>
          </a:p>
          <a:p>
            <a:r>
              <a:rPr lang="en-US" sz="1550"/>
              <a:t>|---|---|---|---|---|</a:t>
            </a:r>
          </a:p>
          <a:p>
            <a:r>
              <a:rPr lang="en-US" sz="1550"/>
              <a:t>| WACC 7.0% | 338,930 | 374,088 | 417,223 | 471,268 |</a:t>
            </a:r>
          </a:p>
          <a:p>
            <a:r>
              <a:rPr lang="en-US" sz="1550"/>
              <a:t>| WACC 7.5% | 311,131 | 339,026 | 371,863 | 410,916 |</a:t>
            </a:r>
          </a:p>
          <a:p>
            <a:r>
              <a:rPr lang="en-US" sz="1550"/>
              <a:t>| WACC 8.0% | 287,079 | 309,215 | 334,921 | 364,998 |</a:t>
            </a:r>
          </a:p>
          <a:p>
            <a:r>
              <a:rPr lang="en-US" sz="1550"/>
              <a:t>| WACC 8.5% | 266,042 | 283,842 | 304,058 | 327,355 |</a:t>
            </a:r>
          </a:p>
          <a:p>
            <a:r>
              <a:rPr lang="en-US" sz="1550"/>
              <a:t>| WACC 9.0% | 247,710 | 262,054 | 278,421 | 297,203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Sensitivity Table 2: EV/EBITDA FY26E (x)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| LTGR 1.5% | LTGR 2.0% | LTGR 2.5% | LTGR 3.0% |</a:t>
            </a:r>
          </a:p>
          <a:p>
            <a:r>
              <a:rPr lang="en-US" sz="1550"/>
              <a:t>|---|---|---|---|---|</a:t>
            </a:r>
          </a:p>
          <a:p>
            <a:r>
              <a:rPr lang="en-US" sz="1550"/>
              <a:t>| WACC 7.0% | 13.9x | 15.3x | 17.1x | 19.3x |</a:t>
            </a:r>
          </a:p>
          <a:p>
            <a:r>
              <a:rPr lang="en-US" sz="1550"/>
              <a:t>| WACC 7.5% | 12.7x | 13.9x | 15.2x | 16.8x |</a:t>
            </a:r>
          </a:p>
          <a:p>
            <a:r>
              <a:rPr lang="en-US" sz="1550"/>
              <a:t>| WACC 8.0% | 11.8x | 12.7x | 13.7x | 15.0x |</a:t>
            </a:r>
          </a:p>
          <a:p>
            <a:r>
              <a:rPr lang="en-US" sz="1550"/>
              <a:t>| WACC 8.5% | 10.9x | 11.6x | 12.5x | 13.4x |</a:t>
            </a:r>
          </a:p>
          <a:p>
            <a:r>
              <a:rPr lang="en-US" sz="1550"/>
              <a:t>| WACC 9.0% | 10.2x | 10.7x | 11.4x | 12.2x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Conclusion</a:t>
            </a:r>
          </a:p>
          <a:p>
            <a:r>
              <a:rPr lang="en-US" sz="1550"/>
              <a:t>At the base case (WACC=8.0%, LTGR=2.0%), the implied EV is approximately $295B with an EV/EBITDA FY26E of ~12.7x. This suggests a relatively full valuation for P&amp;G from a PE perspective, as 12-13x EBITDA is above typical PE entry multiples for consumer staples. The sensitivity analysis shows EV ranging from ~$248B to ~$471B depending on WACC/LTGR assumptions.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Sources</a:t>
            </a:r>
          </a:p>
          <a:p>
            <a:r>
              <a:rPr lang="en-US" sz="1550"/>
              <a:t>- P&amp;G FY2025 financial data (fiscal year ended June 30, 2025)</a:t>
            </a:r>
          </a:p>
          <a:p>
            <a:r>
              <a:rPr lang="en-US" sz="1550"/>
              <a:t>- Uploaded room artifacts: betas_by_industry_category_for_WACC.xlsx, Equity_Risk_Premium_for_WACC.xlsx</a:t>
            </a:r>
          </a:p>
          <a:p>
            <a:r>
              <a:rPr lang="en-US" sz="1550"/>
              <a:t>- Task brief: btb-e3c47ea1-official-task-brief.txt</a:t>
            </a:r>
          </a:p>
          <a:p>
            <a:r>
              <a:rPr lang="en-US" sz="1550"/>
              <a:t>Rows in backup workbook: 13</a:t>
            </a:r>
          </a:p>
          <a:p>
            <a:r>
              <a:rPr lang="en-US" sz="1550"/>
              <a:t>Assumptions — WACC: 8.0% · LTGR: 2.0% · Tax Rate: 21.0% · Valuation Date: 30-Jun-25 · Forecast Years: FY26E-FY33E (8 years) · Sales Growth Rate: 3.38% (last historical year)</a:t>
            </a:r>
          </a:p>
          <a:p>
            <a:r>
              <a:rPr lang="en-US" sz="1550"/>
              <a:t>FY25A Historical — Net Sales: 83989 · EBITDA: 23614 · EBITDA Margin: 28.12% · D&amp;A: 3502 · D&amp;A % Sales: 4.17% · Capex: 3614</a:t>
            </a:r>
          </a:p>
          <a:p>
            <a:r>
              <a:rPr lang="en-US" sz="1550"/>
              <a:t>FY26E Forecast — Net Sales: 86821 · EBITDA: 24400 · D&amp;A: 3621 · EBIT: 20779 · Tax (21%): 4364 · NOPAT: 16416</a:t>
            </a:r>
          </a:p>
          <a:p>
            <a:r>
              <a:rPr lang="en-US" sz="1550"/>
              <a:t>FY27E Forecast — Net Sales: 90027 · EBITDA: 25300 · D&amp;A: 3755 · EBIT: 21546 · Tax (21%): 4525 · NOPAT: 17021</a:t>
            </a:r>
          </a:p>
          <a:p>
            <a:r>
              <a:rPr lang="en-US" sz="1550"/>
              <a:t>FY28E Forecast — Net Sales: 93353 · EBITDA: 26236 · D&amp;A: 3894 · EBIT: 22342 · Tax (21%): 4692 · NOPAT: 17651</a:t>
            </a:r>
          </a:p>
          <a:p>
            <a:r>
              <a:rPr lang="en-US" sz="1550"/>
              <a:t>FY29E Forecast — Net Sales: 96805 · EBITDA: 27207 · D&amp;A: 4038 · EBIT: 23169 · Tax (21%): 4865 · NOPAT: 18303</a:t>
            </a:r>
          </a:p>
          <a:p>
            <a:r>
              <a:rPr lang="en-US" sz="1550"/>
              <a:t>FY30E Forecast — Net Sales: 100386 · EBITDA: 28213 · D&amp;A: 4187 · EBIT: 24026 · Tax (21%): 5046 · NOPAT: 18981</a:t>
            </a:r>
          </a:p>
          <a:p>
            <a:r>
              <a:rPr lang="en-US" sz="1550"/>
              <a:t>FY31E Forecast — Net Sales: 104100 · EBITDA: 29257 · D&amp;A: 4342 · EBIT: 24915 · Tax (21%): 5232 · NOPAT: 19683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P&amp;G Preliminary DCF Analysis</dc:title>
  <dc:creator>NodeAgent</dc:creator>
</cp:coreProperties>
</file>