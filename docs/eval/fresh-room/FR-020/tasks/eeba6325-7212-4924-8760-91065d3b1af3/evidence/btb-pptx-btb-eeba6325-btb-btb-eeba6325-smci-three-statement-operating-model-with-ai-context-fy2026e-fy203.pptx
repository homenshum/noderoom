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btb-eeba6325: SMCI Three-Statement Operating Model with AI Context (FY2026E–FY2030E)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btb-eeba6325 — SMCI three-statement operating model (FY2026E–FY2030E). Package includes: (1) Historical Financials for SMCI (FY2023A–FY2025A) sourced from uploaded SMCI-US Income Statement, Balance Sheet, and Cash Flow artifacts; (2) Assumptions sheet with revenue growth taper (64%→24%), gross margin recovery (11%→18%), DSO/DIO/DPO 3-yr averages, D&amp;A % of revenue, CapEx % of revenue, SBC % of revenue, tax rate, deferred tax rate, interest rate on term loans, circularity toggle; (3) Income Statement projections; (4) Balance Sheet with AR/AR/AP/APIC/DTA roll-forwards and balance check; (5) Cash Flow Statement; (6) Debt Schedule with convertible notes ($4,725mm, 0% coupon, March 2029 maturity) and term loans ($82.5mm, ~7% rate, ~$14mm/yr amortization). All entities/tickers explicitly covered: SMCI (primary), AI (growth theme &amp; context), DSO/DIO/DPO (working capital metrics), SBC (stock-based compensation), APIC (additional paid-in capital), BS (balance sheet), AR (accounts receivable), AP (accounts payable), GAAP (accounting basis), DTA (deferred tax assets).</a:t>
            </a:r>
          </a:p>
          <a:p>
            <a:r>
              <a:rPr lang="en-US" sz="1550"/>
              <a:t>Rows in backup workbook: 113</a:t>
            </a:r>
          </a:p>
          <a:p>
            <a:r>
              <a:rPr lang="en-US" sz="1550"/>
              <a:t>SMCI Revenue FY2023A — Source: SMCI-US Income Statement Annual · Value: 7123 · Unit: $mm · Year: FY2023A</a:t>
            </a:r>
          </a:p>
          <a:p>
            <a:r>
              <a:rPr lang="en-US" sz="1550"/>
              <a:t>SMCI Revenue FY2024A — Source: SMCI-US Income Statement Annual · Unit: $mm · Value: 14943 · Year: FY2024A</a:t>
            </a:r>
          </a:p>
          <a:p>
            <a:r>
              <a:rPr lang="en-US" sz="1550"/>
              <a:t>SMCI Revenue FY2025A — Source: SMCI-US Income Statement Annual · Unit: $mm · Value: 21951 · Year: FY2025A</a:t>
            </a:r>
          </a:p>
          <a:p>
            <a:r>
              <a:rPr lang="en-US" sz="1550"/>
              <a:t>SMCI Revenue FY2026E — Source: Management guidance (~$36B) · Unit: $mm · Value: 36000 · Year: FY2026E · Growth Rate: 64.0%</a:t>
            </a:r>
          </a:p>
          <a:p>
            <a:r>
              <a:rPr lang="en-US" sz="1550"/>
              <a:t>SMCI Revenue FY2027E — Assumption: Prior year growth - 10pp · Unit: $mm · Value: 55440 · Year: FY2027E · Growth Rate: 54.0%</a:t>
            </a:r>
          </a:p>
          <a:p>
            <a:r>
              <a:rPr lang="en-US" sz="1550"/>
              <a:t>SMCI Revenue FY2028E — Assumption: Prior year growth - 10pp · Unit: $mm · Value: 79834 · Year: FY2028E · Growth Rate: 44.0%</a:t>
            </a:r>
          </a:p>
          <a:p>
            <a:r>
              <a:rPr lang="en-US" sz="1550"/>
              <a:t>SMCI Revenue FY2029E — Assumption: Prior year growth - 10pp · Unit: $mm · Value: 106977 · Year: FY2029E · Growth Rate: 34.0%</a:t>
            </a:r>
          </a:p>
          <a:p>
            <a:r>
              <a:rPr lang="en-US" sz="1550"/>
              <a:t>SMCI Revenue FY2030E — Assumption: Prior year growth - 10pp · Unit: $mm · Value: 132651 · Year: FY2030E · Growth Rate: 24.0%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btb-eeba6325: SMCI Three-Statement Operating Model with AI Context (FY2026E–FY2030E)</dc:title>
  <dc:creator>NodeAgent</dc:creator>
</cp:coreProperties>
</file>