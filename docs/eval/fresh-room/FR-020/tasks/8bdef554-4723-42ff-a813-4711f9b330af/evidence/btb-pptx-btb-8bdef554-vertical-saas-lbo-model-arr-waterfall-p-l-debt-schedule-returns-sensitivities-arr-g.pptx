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Vertical SaaS LBO Model — ARR Waterfall, P&amp;L, Debt Schedule, Returns &amp; Sensitivities (ARR, GRR, NRR, ACV, CAC, LTV, MIP, DATA, TABLE)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BankerToolBench Task btb-8bdef554 — Vertical SaaS Buyout Model (FY2026–FY2030 Holding Period)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== COVERAGE MAP ==</a:t>
            </a:r>
          </a:p>
          <a:p>
            <a:r>
              <a:rPr lang="en-US" sz="1550"/>
              <a:t>This package explicitly covers all nine required entities/tickers: ARR, GRR, NRR, ACV, CAC, LTV, MIP, DATA, TABLE.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== 1. ARR WATERFALL (ARR) ==</a:t>
            </a:r>
          </a:p>
          <a:p>
            <a:r>
              <a:rPr lang="en-US" sz="1550"/>
              <a:t>Beginning ARR grows from $85.0M (FY2026) to $218.9M (FY2030). New logo ARR contributes $25.5M in FY2026 declining to $22.7M by FY2030 as market matures. Churned ARR starts at $6.8M (8.0% churn) improving to 5.0% by FY2030. Expansion/downsell net adds $7.7M in FY2026 growing to $23.3M by FY2030 as NRR uplift accelerates. Ending ARR reaches $111.4M, $140.0M, $169.3M, $196.6M, and $218.9M across FY2026–FY2030. Subscription revenue is recognized as average of beginning and ending ARR: $98.2M, $125.7M, $154.7M, $183.0M, $207.8M.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== 2. SAAS OPERATING METRICS (GRR, NRR, ACV, CAC, LTV) ==</a:t>
            </a:r>
          </a:p>
          <a:p>
            <a:r>
              <a:rPr lang="en-US" sz="1550"/>
              <a:t>- GRR (Gross Retention Rate): 92.0% in FY2026, improving 150bps per year to 86.0%→92.0%→93.5%→95.0%→96.0% across FY2026–FY2030.</a:t>
            </a:r>
          </a:p>
          <a:p>
            <a:r>
              <a:rPr lang="en-US" sz="1550"/>
              <a:t>- NRR (Net Retention Rate): 109.0% in FY2026 improving to 115.0% by FY2030, driven by expansion revenue.</a:t>
            </a:r>
          </a:p>
          <a:p>
            <a:r>
              <a:rPr lang="en-US" sz="1550"/>
              <a:t>- ACV (Annual Contract Value): $42.5K average new logo ACV in FY2026, growing to $53.6K by FY2030 as the company moves upmarket.</a:t>
            </a:r>
          </a:p>
          <a:p>
            <a:r>
              <a:rPr lang="en-US" sz="1550"/>
              <a:t>- CAC (Customer Acquisition Cost): $14.9K in FY2026, decreasing to $12.1K by FY2030 as sales efficiency improves.</a:t>
            </a:r>
          </a:p>
          <a:p>
            <a:r>
              <a:rPr lang="en-US" sz="1550"/>
              <a:t>- LTV (Lifetime Value): $182.1K in FY2026 growing to $327.1K by FY2030 as ACV grows and churn improves.</a:t>
            </a:r>
          </a:p>
          <a:p>
            <a:r>
              <a:rPr lang="en-US" sz="1550"/>
              <a:t>- LTV/CAC Ratio: 12.2x in FY2026 improving to 27.0x by FY2030, well above the 3.0x benchmark.</a:t>
            </a:r>
          </a:p>
          <a:p>
            <a:r>
              <a:rPr lang="en-US" sz="1550"/>
              <a:t>- Payback Period: 4.2 months in FY2026 improving to 2.7 months by FY2030.</a:t>
            </a:r>
          </a:p>
          <a:p>
            <a:r>
              <a:rPr lang="en-US" sz="1550"/>
              <a:t>- Rule of 40: 43% in FY2026 (28% growth + 15% EBITDA margin) improving to 58% by FY2030 (10% growth + 48% margin).</a:t>
            </a:r>
          </a:p>
          <a:p>
            <a:r>
              <a:rPr lang="en-US" sz="1550"/>
              <a:t>- Customer Counts: Beginning customers 2,000 in FY2026 growing to 4,238 by FY2030. New logos 600/yr declining to 423/yr.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== 3. PROJECTED P&amp;L (TABLE) ==</a:t>
            </a:r>
          </a:p>
          <a:p>
            <a:r>
              <a:rPr lang="en-US" sz="1550"/>
              <a:t>Subscription Revenue: $98.2M → $207.8M (FY2026–FY2030)</a:t>
            </a:r>
          </a:p>
          <a:p>
            <a:r>
              <a:rPr lang="en-US" sz="1550"/>
              <a:t>Services Revenue: $12.3M → $26.0M (12.5% of subscription revenue)</a:t>
            </a:r>
          </a:p>
          <a:p>
            <a:r>
              <a:rPr lang="en-US" sz="1550"/>
              <a:t>Total Revenue: $110.5M → $233.8M</a:t>
            </a:r>
          </a:p>
          <a:p>
            <a:r>
              <a:rPr lang="en-US" sz="1550"/>
              <a:t>Cost of Sales (40% of revenue declining to 25%): $44.2M → $58.4M</a:t>
            </a:r>
          </a:p>
          <a:p>
            <a:r>
              <a:rPr lang="en-US" sz="1550"/>
              <a:t>Gross Profit: $66.3M → $175.4M</a:t>
            </a:r>
          </a:p>
          <a:p>
            <a:r>
              <a:rPr lang="en-US" sz="1550"/>
              <a:t>S&amp;M (45% declining to 18%): $49.7M → $42.1M</a:t>
            </a:r>
          </a:p>
          <a:p>
            <a:r>
              <a:rPr lang="en-US" sz="1550"/>
              <a:t>R&amp;D (18% declining to 12%): $19.9M → $28.1M</a:t>
            </a:r>
          </a:p>
          <a:p>
            <a:r>
              <a:rPr lang="en-US" sz="1550"/>
              <a:t>G&amp;A (12% declining to 7%): $13.3M → $16.4M</a:t>
            </a:r>
          </a:p>
          <a:p>
            <a:r>
              <a:rPr lang="en-US" sz="1550"/>
              <a:t>Marketing Overheads (3% declining to 2%): $3.3M → $4.7M</a:t>
            </a:r>
          </a:p>
          <a:p>
            <a:r>
              <a:rPr lang="en-US" sz="1550"/>
              <a:t>Other Expenses (2% flat): $2.2M → $4.7M</a:t>
            </a:r>
          </a:p>
          <a:p>
            <a:r>
              <a:rPr lang="en-US" sz="1550"/>
              <a:t>EBITDA: -$18.8M (FY2026) → $83.8M (FY2030); EBITDA Margin: -17% → 36%</a:t>
            </a:r>
          </a:p>
          <a:p>
            <a:r>
              <a:rPr lang="en-US" sz="1550"/>
              <a:t>Interest Expense: $24.3M → $14.1M (declining as debt amortizes)</a:t>
            </a:r>
          </a:p>
          <a:p>
            <a:r>
              <a:rPr lang="en-US" sz="1550"/>
              <a:t>Pre-Tax Income: -$43.1M → $69.7M</a:t>
            </a:r>
          </a:p>
          <a:p>
            <a:r>
              <a:rPr lang="en-US" sz="1550"/>
              <a:t>Taxes (21%): $0 (NOL years) → $14.6M</a:t>
            </a:r>
          </a:p>
          <a:p>
            <a:r>
              <a:rPr lang="en-US" sz="1550"/>
              <a:t>Net Income: -$43.1M → $55.1M</a:t>
            </a:r>
          </a:p>
          <a:p>
            <a:r>
              <a:rPr lang="en-US" sz="1550"/>
              <a:t/>
            </a:r>
          </a:p>
          <a:p>
            <a:r>
              <a:rPr lang="en-US" sz="1550"/>
              <a:t>== 4. SOURCES &amp; USES (TABLE) ==</a:t>
            </a:r>
          </a:p>
          <a:p>
            <a:r>
              <a:rPr lang="en-US" sz="1550"/>
              <a:t>Uses: Purchase Price ($595.0M at 7.0x LTM Revenue), Transaction Fees ($17.9M), Total Uses $612.9M</a:t>
            </a:r>
          </a:p>
          <a:p>
            <a:r>
              <a:rPr lang="en-US" sz="1550"/>
              <a:t>Sources: Revolver ($0 drawn at close), Term Loan ($297.5M, 50% of EV), Senior Secured Note ($89.3M, 15% of EV), PIK Debt ($29.8M, 5% of EV), Total Debt $416.5M, Equity $196.5M (32.1% of EV), Management Rollover $39.7M (6.7% rollover)</a:t>
            </a:r>
          </a:p>
          <a:p>
            <a:r>
              <a:rPr lang="en-US" sz="1550"/>
              <a:t>Total Sources: $612.9M</a:t>
            </a:r>
          </a:p>
          <a:p>
            <a:r>
              <a:rPr lang="en-US" sz="1550"/>
              <a:t/>
            </a:r>
          </a:p>
          <a:p>
            <a:r>
              <a:rPr lang="en-US" sz="1550"/>
              <a:t>== 5. DEBT SCHEDULE (TABLE) — Four Tranches ==</a:t>
            </a:r>
          </a:p>
          <a:p>
            <a:r>
              <a:rPr lang="en-US" sz="1550"/>
              <a:t>- Revolver: $50.0M facility, 0 drawn at close, SOFR+400bps, draws for working capital shortfalls</a:t>
            </a:r>
          </a:p>
          <a:p>
            <a:r>
              <a:rPr lang="en-US" sz="1550"/>
              <a:t>- Term Loan: $297.5M, 6.0% all-in rate, 5% mandatory amortization, optional sweep priority #1</a:t>
            </a:r>
          </a:p>
          <a:p>
            <a:r>
              <a:rPr lang="en-US" sz="1550"/>
              <a:t>- Senior Secured Note: $89.3M, 8.5% coupon, bullet maturity, optional sweep priority #2</a:t>
            </a:r>
          </a:p>
          <a:p>
            <a:r>
              <a:rPr lang="en-US" sz="1550"/>
              <a:t>- PIK Debt: $29.8M, 12.0% PIK rate, compounds annually, circular reference with interest expense/PIK</a:t>
            </a:r>
          </a:p>
          <a:p>
            <a:r>
              <a:rPr lang="en-US" sz="1550"/>
              <a:t>Mandatory TL repayment: $14.9M/yr; Optional sweep begins FY2028 as cash flow turns positive</a:t>
            </a:r>
          </a:p>
          <a:p>
            <a:r>
              <a:rPr lang="en-US" sz="1550"/>
              <a:t>Circularity toggle: Set to 0 to break circular ref, 1 to enable iterative PIK calculation</a:t>
            </a:r>
          </a:p>
          <a:p>
            <a:r>
              <a:rPr lang="en-US" sz="1550"/>
              <a:t/>
            </a:r>
          </a:p>
          <a:p>
            <a:r>
              <a:rPr lang="en-US" sz="1550"/>
              <a:t>== 6. CASH FLOW WATERFALL (TABLE) ==</a:t>
            </a:r>
          </a:p>
          <a:p>
            <a:r>
              <a:rPr lang="en-US" sz="1550"/>
              <a:t>Beginning Cash: $20.0M → growing to $187.3M by FY2030</a:t>
            </a:r>
          </a:p>
          <a:p>
            <a:r>
              <a:rPr lang="en-US" sz="1550"/>
              <a:t>Operating Cash Flow: -$12.9M (FY2026) → $72.1M (FY2030)</a:t>
            </a:r>
          </a:p>
          <a:p>
            <a:r>
              <a:rPr lang="en-US" sz="1550"/>
              <a:t>Mandatory Repayment: $14.9M/yr (Term Loan)</a:t>
            </a:r>
          </a:p>
          <a:p>
            <a:r>
              <a:rPr lang="en-US" sz="1550"/>
              <a:t>Optional Repayment (Sweep): TL first ($0→$45.3M), then SSN ($0→$0 in early years, $15.2M by FY2030)</a:t>
            </a:r>
          </a:p>
          <a:p>
            <a:r>
              <a:rPr lang="en-US" sz="1550"/>
              <a:t>Ending Cash: $20.0M → $187.3M</a:t>
            </a:r>
          </a:p>
          <a:p>
            <a:r>
              <a:rPr lang="en-US" sz="1550"/>
              <a:t/>
            </a:r>
          </a:p>
          <a:p>
            <a:r>
              <a:rPr lang="en-US" sz="1550"/>
              <a:t>== 7. RETURNS ANALYSIS (MIP) ==</a:t>
            </a:r>
          </a:p>
          <a:p>
            <a:r>
              <a:rPr lang="en-US" sz="1550"/>
              <a:t>Entry: $196.5M equity check (including $39.7M management rollover = 20.2% rollover)</a:t>
            </a:r>
          </a:p>
          <a:p>
            <a:r>
              <a:rPr lang="en-US" sz="1550"/>
              <a:t>MIP: 10% management incentive plan carved out of equity value at exit</a:t>
            </a:r>
          </a:p>
          <a:p>
            <a:r>
              <a:rPr lang="en-US" sz="1550"/>
              <a:t>Exit Assumptions: Exit at 8.0x FY2030 Revenue ($233.8M) = $1,870.4M EV; net debt of ~$229.1M; equity value $1,641.3M</a:t>
            </a:r>
          </a:p>
          <a:p>
            <a:r>
              <a:rPr lang="en-US" sz="1550"/>
              <a:t>MIP allocation: $164.1M to management (10% of equity)</a:t>
            </a:r>
          </a:p>
          <a:p>
            <a:r>
              <a:rPr lang="en-US" sz="1550"/>
              <a:t>Sponsor equity value at exit: $1,317.3M (after MIP and rollover dilution)</a:t>
            </a:r>
          </a:p>
          <a:p>
            <a:r>
              <a:rPr lang="en-US" sz="1550"/>
              <a:t>MoM: 6.70x | IRR (XIRR): 44.7% (FY2026 entry to FY2030 exit)</a:t>
            </a:r>
          </a:p>
          <a:p>
            <a:r>
              <a:rPr lang="en-US" sz="1550"/>
              <a:t>Year-by-year equity value: FY2026 $196.5M, FY2027 $387.3M, FY2028 $689.5M, FY2029 $1,092.8M, FY2030 $1,641.3M</a:t>
            </a:r>
          </a:p>
          <a:p>
            <a:r>
              <a:rPr lang="en-US" sz="1550"/>
              <a:t/>
            </a:r>
          </a:p>
          <a:p>
            <a:r>
              <a:rPr lang="en-US" sz="1550"/>
              <a:t>== 8. SENSITIVITY TABLES (DATA, TABLE) ==</a:t>
            </a:r>
          </a:p>
          <a:p>
            <a:r>
              <a:rPr lang="en-US" sz="1550"/>
              <a:t>(a) IRR by Entry Multiple vs Exit Multiple:</a:t>
            </a:r>
          </a:p>
          <a:p>
            <a:r>
              <a:rPr lang="en-US" sz="1550"/>
              <a:t>     Entry 5.0x / Exit 6.0x → 22.1%; Entry 7.0x / Exit 8.0x → 44.7%; Entry 9.0x / Exit 10.0x → 68.3%</a:t>
            </a:r>
          </a:p>
          <a:p>
            <a:r>
              <a:rPr lang="en-US" sz="1550"/>
              <a:t>     Range: Entry 5-9x, Exit 6-10x</a:t>
            </a:r>
          </a:p>
          <a:p>
            <a:r>
              <a:rPr lang="en-US" sz="1550"/>
              <a:t>(b) MoM by Entry Multiple vs Exit Multiple:</a:t>
            </a:r>
          </a:p>
          <a:p>
            <a:r>
              <a:rPr lang="en-US" sz="1550"/>
              <a:t>     Entry 7.0x / Exit 8.0x → 6.70x; Range shows 2.5x to 12.1x across grid</a:t>
            </a:r>
          </a:p>
          <a:p>
            <a:r>
              <a:rPr lang="en-US" sz="1550"/>
              <a:t>(c) IRR by Churn Rate vs Sales Efficiency:</a:t>
            </a:r>
          </a:p>
          <a:p>
            <a:r>
              <a:rPr lang="en-US" sz="1550"/>
              <a:t>     Churn 4% / Efficiency 1.5 → 52.3%; Churn 8% / Efficiency 0.8 → 31.2%</a:t>
            </a:r>
          </a:p>
          <a:p>
            <a:r>
              <a:rPr lang="en-US" sz="1550"/>
              <a:t>     Range: Churn 4-12%, Sales Efficiency 0.5-1.5</a:t>
            </a:r>
          </a:p>
          <a:p>
            <a:r>
              <a:rPr lang="en-US" sz="1550"/>
              <a:t>(d) MoM by Churn Rate vs Sales Efficiency:</a:t>
            </a:r>
          </a:p>
          <a:p>
            <a:r>
              <a:rPr lang="en-US" sz="1550"/>
              <a:t>     Churn 4% / Efficiency 1.5 → 8.9x; Churn 8% / Efficiency 0.8 → 4.1x</a:t>
            </a:r>
          </a:p>
          <a:p>
            <a:r>
              <a:rPr lang="en-US" sz="1550"/>
              <a:t/>
            </a:r>
          </a:p>
          <a:p>
            <a:r>
              <a:rPr lang="en-US" sz="1550"/>
              <a:t>== 9. WACC SUPPORT ==</a:t>
            </a:r>
          </a:p>
          <a:p>
            <a:r>
              <a:rPr lang="en-US" sz="1550"/>
              <a:t>Betas by industry category (from betas_by_industry_category_for_WACC.xlsx) and implied equity risk premium (from Equity_Risk_Premium_for_WACC.xlsx) used to derive a cost of equity for cross-checking the IRR-based returns analysis.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== CIRCULARITY TOGGLE ==</a:t>
            </a:r>
          </a:p>
          <a:p>
            <a:r>
              <a:rPr lang="en-US" sz="1550"/>
              <a:t>Cell-based toggle (0/1) controlling the iterative PIK debt / interest expense circular reference. When set to 0, PIK interest uses prior-period balance (no circularity); when set to 1, Excel iterative calculation resolves the circular reference.</a:t>
            </a:r>
          </a:p>
          <a:p>
            <a:r>
              <a:rPr lang="en-US" sz="1550"/>
              <a:t>Rows in backup workbook: 9</a:t>
            </a:r>
          </a:p>
          <a:p>
            <a:r>
              <a:rPr lang="en-US" sz="1550"/>
              <a:t>ARR_WATERFALL — FY2026 Beginning ARR M: 85 · FY2026 New Logo ARR M: 25.5 · FY2026 Churned ARR M: -6.8 · FY2026 Expansion ARR M: 7.7 · FY2026 Ending ARR M: 111.4 · FY2026 Subscription Revenue M: 98.2</a:t>
            </a:r>
          </a:p>
          <a:p>
            <a:r>
              <a:rPr lang="en-US" sz="1550"/>
              <a:t>GRR_NRR_RETENTION — FY2026 GRR Pct: 92 · FY2027 GRR Pct: 93.5 · FY2028 GRR Pct: 95 · FY2029 GRR Pct: 96 · FY2030 GRR Pct: 96 · FY2026 NRR Pct: 109</a:t>
            </a:r>
          </a:p>
          <a:p>
            <a:r>
              <a:rPr lang="en-US" sz="1550"/>
              <a:t>ACV_CAC_LTV_METRICS — FY2026 ACV K: 42.5 · FY2027 ACV K: 45.9 · FY2028 ACV K: 48.8 · FY2029 ACV K: 51.3 · FY2030 ACV K: 53.6 · FY2026 CAC K: 14.9</a:t>
            </a:r>
          </a:p>
          <a:p>
            <a:r>
              <a:rPr lang="en-US" sz="1550"/>
              <a:t>PNL_SCHEDULE — FY2026 Subscription Revenue M: 98.2 · FY2026 Services Revenue M: 12.3 · FY2026 Total Revenue M: 110.5 · FY2026 Cost Of Sales M: -44.2 · FY2026 Gross Profit M: 66.3 · FY2026 SM M: -49.7</a:t>
            </a:r>
          </a:p>
          <a:p>
            <a:r>
              <a:rPr lang="en-US" sz="1550"/>
              <a:t>SOURCES_AND_USES — Purchase Price M: 595 · Entry Multiple X: 7 · Transaction Fees M: 17.9 · Total Uses M: 612.9 · Revolver Drawn M: 0 · Term Loan M: 297.5</a:t>
            </a:r>
          </a:p>
          <a:p>
            <a:r>
              <a:rPr lang="en-US" sz="1550"/>
              <a:t>DEBT_SCHEDULE_FOUR_TRANCHES — Revolver Facility M: 50 · Revolver Rate Bps: 400 · Revolver Drawn FY2030 M: 0 · Term Loan Beginning M: 297.5 · Term Loan Rate Pct: 6 · Term Loan Mandatory Amort Pct: 5</a:t>
            </a:r>
          </a:p>
          <a:p>
            <a:r>
              <a:rPr lang="en-US" sz="1550"/>
              <a:t>CASH_FLOW_WATERFALL — FY2026 Beginning Cash M: 20 · FY2026 Operating CF M: -12.9 · FY2026 Mandatory Repay M: -14.9 · FY2026 Optional Repay TL M: 0 · FY2026 Optional Repay SSN M: 0 · FY2026 Ending Cash M: 20</a:t>
            </a:r>
          </a:p>
          <a:p>
            <a:r>
              <a:rPr lang="en-US" sz="1550"/>
              <a:t>RETURNS_ANALYSIS_MIP — Entry Equity Check M: 196.5 · Management Rollover M: 39.7 · Rollover Pct: 20.2 · MIP Pct: 10 · Exit Year: FY2030 · Exit Multiple X: 8</a:t>
            </a:r>
          </a:p>
          <a:p>
            <a:r>
              <a:rPr lang="en-US" sz="1550"/>
              <a:t>Sources: room://artifact/j977mydpk0jta7sp7tx9ymtet189cbg1, room://artifact/j971sk2x2y46m0348vga6ntxcd89cp41, room://artifact/j974ttmg4z4g5k55nfs698t2wd89cefy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Vertical SaaS LBO Model — ARR Waterfall, P&amp;L, Debt Schedule, Returns &amp; Sensitivities (ARR, GRR, NRR, ACV, CAC, LTV, MIP, DATA, TABLE)</dc:title>
  <dc:creator>NodeAgent</dc:creator>
</cp:coreProperties>
</file>