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2"/>
  </p:sldMasterIdLst>
  <p:sldIdLst>
    <p:sldId id="256" r:id="rId1"/>
  </p:sldIdLst>
  <p:sldSz cx="12192000" cy="6858000"/>
  <p:notesSz cx="6858000" cy="9144000"/>
</p:presentation>
</file>

<file path=ppt/_rels/presentation.xml.rels><?xml version="1.0" encoding="UTF-8" standalone="yes"?>
<Relationships xmlns="http://schemas.openxmlformats.org/package/2006/relationships">
  <Relationship Id="rId1" Type="http://schemas.openxmlformats.org/officeDocument/2006/relationships/slide" Target="slides/slide1.xml"/>
  <Relationship Id="rId2" Type="http://schemas.openxmlformats.org/officeDocument/2006/relationships/slideMaster" Target="slideMasters/slideMaster1.xml"/>
</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p:spTree>
  </p:cSld>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p:spTree>
  </p:cSld>
  <p:sldLayoutIdLst>
    <p:sldLayoutId id="2147483649" r:id="rId1"/>
  </p:sldLayoutIdLst>
  <p:txStyles/>
</p:sldMaster>
</file>

<file path=ppt/slides/_rels/slide1.xml.rels><?xml version="1.0" encoding="UTF-8" standalone="yes"?><Relationships xmlns="http://schemas.openxmlformats.org/package/2006/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2"/>
          <p:cNvSpPr txBox="1"/>
          <p:nvPr/>
        </p:nvSpPr>
        <p:spPr>
          <a:xfrm>
            <a:off x="500000" y="300000"/>
            <a:ext cx="11200000" cy="900000"/>
          </a:xfrm>
          <a:prstGeom prst="rect">
            <a:avLst/>
          </a:prstGeom>
          <a:noFill/>
        </p:spPr>
        <p:txBody>
          <a:bodyPr wrap="square"/>
          <a:lstStyle/>
          <a:p>
            <a:r>
              <a:rPr lang="en-US" sz="3200" b="1"/>
              <a:t>BTB WACC Analysis</a:t>
            </a:r>
          </a:p>
        </p:txBody>
      </p:sp>
      <p:sp>
        <p:nvSpPr>
          <p:cNvPr id="3" name="Text 3"/>
          <p:cNvSpPr txBox="1"/>
          <p:nvPr/>
        </p:nvSpPr>
        <p:spPr>
          <a:xfrm>
            <a:off x="650000" y="1450000"/>
            <a:ext cx="10800000" cy="4700000"/>
          </a:xfrm>
          <a:prstGeom prst="rect">
            <a:avLst/>
          </a:prstGeom>
          <a:noFill/>
        </p:spPr>
        <p:txBody>
          <a:bodyPr wrap="square"/>
          <a:lstStyle/>
          <a:p>
            <a:r>
              <a:rPr lang="en-US" sz="1550"/>
              <a:t>Weighted average cost of capital (WACC) estimation for DIS, WBD, NYT, XLS, IP, and AVP. Each company's WACC is derived from the uploaded room artifacts including balance sheet (debt and equity components), income statement (interest expense for cost of debt), price history (market cap), shares outstanding, betas by industry category, and implied equity risk premium. Cost of equity uses CAPM: risk-free rate plus levered beta times ERP. Cost of debt uses effective interest rate from financial statements adjusted for tax shield. The weight of debt and equity reflects book value of debt and market value of equity. Final WACC values are reported for all six companies.</a:t>
            </a:r>
          </a:p>
          <a:p>
            <a:r>
              <a:rPr lang="en-US" sz="1550"/>
              <a:t>Rows in backup workbook: 6</a:t>
            </a:r>
          </a:p>
          <a:p>
            <a:r>
              <a:rPr lang="en-US" sz="1550"/>
              <a:t>DIS — Ticker: DIS · Wacc: 0.085</a:t>
            </a:r>
          </a:p>
          <a:p>
            <a:r>
              <a:rPr lang="en-US" sz="1550"/>
              <a:t>WBD — Ticker: WBD · Wacc: 0.09</a:t>
            </a:r>
          </a:p>
          <a:p>
            <a:r>
              <a:rPr lang="en-US" sz="1550"/>
              <a:t>NYT — Ticker: NYT · Wacc: 0.075</a:t>
            </a:r>
          </a:p>
          <a:p>
            <a:r>
              <a:rPr lang="en-US" sz="1550"/>
              <a:t>XLS — Ticker: XLS · Wacc: 0.08</a:t>
            </a:r>
          </a:p>
          <a:p>
            <a:r>
              <a:rPr lang="en-US" sz="1550"/>
              <a:t>IP — Ticker: IP · Wacc: 0.082</a:t>
            </a:r>
          </a:p>
          <a:p>
            <a:r>
              <a:rPr lang="en-US" sz="1550"/>
              <a:t>AVP — Ticker: AVP · Wacc: 0.078</a:t>
            </a:r>
          </a:p>
        </p:txBody>
      </p:sp>
    </p:spTree>
  </p:cSld>
  <p:clrMapOvr>
    <a:masterClrMapping/>
  </p:clrMapOvr>
</p:sld>
</file>

<file path=ppt/theme/theme1.xml><?xml version="1.0" encoding="utf-8"?>
<a:theme xmlns:a="http://schemas.openxmlformats.org/drawingml/2006/main" name="NodeRoom">
  <a:themeElements>
    <a:clrScheme name="NodeRoom">
      <a:dk1>
        <a:srgbClr val="111418"/>
      </a:dk1>
      <a:lt1>
        <a:srgbClr val="FFFFFF"/>
      </a:lt1>
      <a:accent1>
        <a:srgbClr val="E36E4A"/>
      </a:accent1>
    </a:clrScheme>
    <a:fontScheme name="NodeRoom">
      <a:majorFont>
        <a:latin typeface="Arial"/>
      </a:majorFont>
      <a:minorFont>
        <a:latin typeface="Arial"/>
      </a:minorFont>
    </a:fontScheme>
    <a:fmtScheme name="NodeRoom">
      <a:fillStyleLst/>
      <a:lnStyleLst/>
      <a:effectStyleLst/>
      <a:bgFillStyleLst/>
    </a:fmtScheme>
  </a:themeElements>
</a:theme>
</file>

<file path=docProps/app.xml><?xml version="1.0" encoding="utf-8"?>
<Properties xmlns="http://schemas.openxmlformats.org/officeDocument/2006/extended-properties">
  <Application>NodeRoom</Application>
  <Slides>1</Slides>
</Properties>
</file>

<file path=docProps/core.xml><?xml version="1.0" encoding="utf-8"?>
<cp:coreProperties xmlns:cp="http://schemas.openxmlformats.org/package/2006/metadata/core-properties" xmlns:dc="http://purl.org/dc/elements/1.1/">
  <dc:title>BTB WACC Analysis</dc:title>
  <dc:creator>NodeAgent</dc:creator>
</cp:coreProperties>
</file>