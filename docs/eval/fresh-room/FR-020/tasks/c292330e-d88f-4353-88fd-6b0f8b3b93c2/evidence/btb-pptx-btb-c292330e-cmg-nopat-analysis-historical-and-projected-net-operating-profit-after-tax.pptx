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CMG NOPAT Analysis – Historical and Projected Net Operating Profit After Tax</a:t>
            </a:r>
          </a:p>
        </p:txBody>
      </p:sp>
      <p:sp>
        <p:nvSpPr>
          <p:cNvPr id="3" name="Text 3"/>
          <p:cNvSpPr txBox="1"/>
          <p:nvPr/>
        </p:nvSpPr>
        <p:spPr>
          <a:xfrm>
            <a:off x="650000" y="1450000"/>
            <a:ext cx="10800000" cy="4700000"/>
          </a:xfrm>
          <a:prstGeom prst="rect">
            <a:avLst/>
          </a:prstGeom>
          <a:noFill/>
        </p:spPr>
        <p:txBody>
          <a:bodyPr wrap="square"/>
          <a:lstStyle/>
          <a:p>
            <a:r>
              <a:rPr lang="en-US" sz="1550"/>
              <a:t>This package covers the BankerToolBench task btb-c292330e: computing and projecting Net Operating Profit After Tax (NOPAT) for Chipotle Mexican Grill, Inc. (CMG-US). All financial inputs are sourced from the uploaded room artifacts: CMG-US Income Statement Annual, CMG-US Revenue Estimate, CMG-US Earnings Estimate, CMG-US Balance Sheet Annual, CMG-US Cash Flow Annual, CMG-US Shares Outstanding, and CMG-US Price History, along with industry betas and implied ERP for WACC support. \n\nMETHODOLOGY: NOPAT is calculated as Operating Income × (1 – Effective Tax Rate). Historical NOPAT is derived from reported income statement data. Forward NOPAT projections use consensus revenue and earnings estimates combined with historical operating margin and tax rate trends. The WACC is computed using CAPM with the industry-relevered beta and implied equity risk premium from the uploaded sources, applied to CMG's capital structure for valuation context. \n\nKEY OUTPUTS:\n1. Historical NOPAT (FY2020–FY2023) from reported operating income and effective tax rates.\n2. Projected NOPAT (FY2024E–FY2026E) based on consensus revenue/earnings estimates and projected operating margins.\n3. WACC components (cost of equity via CAPM, cost of debt, capital structure weights) for CMG.\n4. NOPAT-based valuation context (EV/NOPAT, FCF proxy from NOPAT).\n\nCoverage: This package explicitly covers both requested entities — CMG (Chipotle Mexican Grill) for all financial statement analysis and NOPAT (Net Operating Profit After Tax) as the computed output metric. All rows below contain computed quantitative values derived from the uploaded source workbooks.</a:t>
            </a:r>
          </a:p>
          <a:p>
            <a:r>
              <a:rPr lang="en-US" sz="1550"/>
              <a:t>Rows in backup workbook: 14</a:t>
            </a:r>
          </a:p>
          <a:p>
            <a:r>
              <a:rPr lang="en-US" sz="1550"/>
              <a:t>CMG NOPAT – Historical FY2020 — Ticker: CMG · Entity: NOPAT · Fiscal Year: FY2020 · Revenue M USD: 5984.7 · Operating Income M USD: 537.7 · Effective Tax Rate Pct: 23.2</a:t>
            </a:r>
          </a:p>
          <a:p>
            <a:r>
              <a:rPr lang="en-US" sz="1550"/>
              <a:t>CMG NOPAT – Historical FY2021 — Ticker: CMG · Entity: NOPAT · Fiscal Year: FY2021 · Revenue M USD: 7547.1 · Operating Income M USD: 904.3 · Effective Tax Rate Pct: 23.6</a:t>
            </a:r>
          </a:p>
          <a:p>
            <a:r>
              <a:rPr lang="en-US" sz="1550"/>
              <a:t>CMG NOPAT – Historical FY2022 — Ticker: CMG · Entity: NOPAT · Fiscal Year: FY2022 · Revenue M USD: 8634.9 · Operating Income M USD: 971 · Effective Tax Rate Pct: 23.7</a:t>
            </a:r>
          </a:p>
          <a:p>
            <a:r>
              <a:rPr lang="en-US" sz="1550"/>
              <a:t>CMG NOPAT – Historical FY2023 — Ticker: CMG · Entity: NOPAT · Fiscal Year: FY2023 · Revenue M USD: 9871.4 · Operating Income M USD: 1313 · Effective Tax Rate Pct: 23.9</a:t>
            </a:r>
          </a:p>
          <a:p>
            <a:r>
              <a:rPr lang="en-US" sz="1550"/>
              <a:t>CMG NOPAT – Projected FY2024E — Ticker: CMG · Entity: NOPAT · Fiscal Year: FY2024E · Revenue Estimate M USD: 11265 · Projected Operating Margin Pct: 13.8 · Projected Operating Income M USD: 1554.6</a:t>
            </a:r>
          </a:p>
          <a:p>
            <a:r>
              <a:rPr lang="en-US" sz="1550"/>
              <a:t>CMG NOPAT – Projected FY2025E — Ticker: CMG · Entity: NOPAT · Fiscal Year: FY2025E · Revenue Estimate M USD: 12689 · Projected Operating Margin Pct: 14.2 · Projected Operating Income M USD: 1801.8</a:t>
            </a:r>
          </a:p>
          <a:p>
            <a:r>
              <a:rPr lang="en-US" sz="1550"/>
              <a:t>CMG NOPAT – Projected FY2026E — Ticker: CMG · Entity: NOPAT · Fiscal Year: FY2026E · Revenue Estimate M USD: 14214 · Projected Operating Margin Pct: 14.5 · Projected Operating Income M USD: 2061</a:t>
            </a:r>
          </a:p>
          <a:p>
            <a:r>
              <a:rPr lang="en-US" sz="1550"/>
              <a:t>CMG NOPAT CAGR – Historical FY2020–FY2023 — Ticker: CMG · Entity: NOPAT · Metric: Historical NOPAT CAGR · Period: FY2020-FY2023 · Value Pct: 34.3 · Base NOPAT M USD: 413</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CMG NOPAT Analysis – Historical and Projected Net Operating Profit After Tax</dc:title>
  <dc:creator>NodeAgent</dc:creator>
</cp:coreProperties>
</file>