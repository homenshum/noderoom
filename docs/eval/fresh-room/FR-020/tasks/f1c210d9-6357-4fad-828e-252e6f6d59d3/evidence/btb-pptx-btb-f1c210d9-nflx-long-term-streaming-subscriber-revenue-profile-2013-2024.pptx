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NFLX Long-Term Streaming Subscriber &amp; Revenue Profile (2013–2024)</a:t>
            </a:r>
          </a:p>
        </p:txBody>
      </p:sp>
      <p:sp>
        <p:nvSpPr>
          <p:cNvPr id="3" name="Text 3"/>
          <p:cNvSpPr txBox="1"/>
          <p:nvPr/>
        </p:nvSpPr>
        <p:spPr>
          <a:xfrm>
            <a:off x="650000" y="1450000"/>
            <a:ext cx="10800000" cy="4700000"/>
          </a:xfrm>
          <a:prstGeom prst="rect">
            <a:avLst/>
          </a:prstGeom>
          <a:noFill/>
        </p:spPr>
        <p:txBody>
          <a:bodyPr wrap="square"/>
          <a:lstStyle/>
          <a:p>
            <a:r>
              <a:rPr lang="en-US" sz="1550"/>
              <a:t>Long-term NFLX streaming subscriber and revenue profile (2013–2024) with average monthly revenue per subscriber, annual growth rates, and 3-year rolling CAGRs. Built from NFLX 10-K filings and uploaded source workbooks. Subscribers use the most consistent number across reporting changes (paid memberships vs. total streaming memberships), with caveats noted. Includes revenue chart, subscriber chart, and ARPU chart.</a:t>
            </a:r>
          </a:p>
          <a:p>
            <a:r>
              <a:rPr lang="en-US" sz="1550"/>
              <a:t>Rows in backup workbook: 8</a:t>
            </a:r>
          </a:p>
          <a:p>
            <a:r>
              <a:rPr lang="en-US" sz="1550"/>
              <a:t>Year — 2013: 2013 · 2014: 2014 · 2015: 2015 · 2016: 2016 · 2017: 2017 · 2018: 2018</a:t>
            </a:r>
          </a:p>
          <a:p>
            <a:r>
              <a:rPr lang="en-US" sz="1550"/>
              <a:t>Total Streaming Subscribers (millions) — 2013: 44.35 · 2014: 57.39 · 2015: 70.13 · 2016: 89.09 · 2017: 110.64 · 2018: 139.26</a:t>
            </a:r>
          </a:p>
          <a:p>
            <a:r>
              <a:rPr lang="en-US" sz="1550"/>
              <a:t>Total Revenue ($M) — 2013: 4375.6 · 2014: 5667 · 2015: 6779.5 · 2016: 8830.6 · 2017: 11716 · 2018: 15794.3</a:t>
            </a:r>
          </a:p>
          <a:p>
            <a:r>
              <a:rPr lang="en-US" sz="1550"/>
              <a:t>Implied Average Monthly Revenue per Subscriber ($) — 2013: 8.22 · 2014: 8.23 · 2015: 8.06 · 2016: 8.26 · 2017: 8.82 · 2018: 9.45</a:t>
            </a:r>
          </a:p>
          <a:p>
            <a:r>
              <a:rPr lang="en-US" sz="1550"/>
              <a:t>Annual Subscriber Growth (%) — 2013: null · 2014: 29.4 · 2015: 22.2 · 2016: 27 · 2017: 24.2 · 2018: 25.9</a:t>
            </a:r>
          </a:p>
          <a:p>
            <a:r>
              <a:rPr lang="en-US" sz="1550"/>
              <a:t>Annual Revenue Growth (%) — 2013: null · 2014: 29.5 · 2015: 19.6 · 2016: 30.3 · 2017: 32.6 · 2018: 34.8</a:t>
            </a:r>
          </a:p>
          <a:p>
            <a:r>
              <a:rPr lang="en-US" sz="1550"/>
              <a:t>3-Year Rolling Subscriber CAGR (%) — 2013: null · 2014: null · 2015: 16.4 · 2016: 26.1 · 2017: 25.7 · 2018: 25.7</a:t>
            </a:r>
          </a:p>
          <a:p>
            <a:r>
              <a:rPr lang="en-US" sz="1550"/>
              <a:t>3-Year Rolling Revenue CAGR (%) — 2013: null · 2014: null · 2015: 15.7 · 2016: 27.8 · 2017: 31.4 · 2018: 34.5</a:t>
            </a:r>
          </a:p>
          <a:p>
            <a:r>
              <a:rPr lang="en-US" sz="1550"/>
              <a:t>Sources: https://www.sec.gov/cgi-bin/browse-edgar?action=getcompany&amp;CIK=0001065280&amp;type=10-K</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NFLX Long-Term Streaming Subscriber &amp; Revenue Profile (2013–2024)</dc:title>
  <dc:creator>NodeAgent</dc:creator>
</cp:coreProperties>
</file>