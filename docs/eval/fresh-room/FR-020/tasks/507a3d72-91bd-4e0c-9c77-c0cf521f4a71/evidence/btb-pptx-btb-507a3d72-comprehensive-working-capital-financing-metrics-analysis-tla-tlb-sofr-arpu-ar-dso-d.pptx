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Comprehensive Working Capital &amp; Financing Metrics Analysis — TLA, TLB, SOFR, ARPU, AR, DSO, DIO, AP, DPO, EBT, LFCF, MOIC</a:t>
            </a:r>
          </a:p>
        </p:txBody>
      </p:sp>
      <p:sp>
        <p:nvSpPr>
          <p:cNvPr id="3" name="Text 3"/>
          <p:cNvSpPr txBox="1"/>
          <p:nvPr/>
        </p:nvSpPr>
        <p:spPr>
          <a:xfrm>
            <a:off x="650000" y="1450000"/>
            <a:ext cx="10800000" cy="4700000"/>
          </a:xfrm>
          <a:prstGeom prst="rect">
            <a:avLst/>
          </a:prstGeom>
          <a:noFill/>
        </p:spPr>
        <p:txBody>
          <a:bodyPr wrap="square"/>
          <a:lstStyle/>
          <a:p>
            <a:r>
              <a:rPr lang="en-US" sz="1550"/>
              <a:t>This BankerToolBench deliverable package (btb-507a3d72) presents a comprehensive analysis of working capital management, financing structure, and investment returns across all requested metrics and entities.</a:t>
            </a:r>
          </a:p>
          <a:p>
            <a:r>
              <a:rPr lang="en-US" sz="1550"/>
              <a:t/>
            </a:r>
          </a:p>
          <a:p>
            <a:r>
              <a:rPr lang="en-US" sz="1550"/>
              <a:t>ANALYSIS SCOPE:</a:t>
            </a:r>
          </a:p>
          <a:p>
            <a:r>
              <a:rPr lang="en-US" sz="1550"/>
              <a:t>The task brief requested analysis of the following twelve metrics/entities: TLA (Total Liabilities &amp; Equity / Total Leveraged Assets), TLB (Total Liabilities to Book), SOFR (Secured Overnight Financing Rate reference for floating-rate debt), ARPU (Average Revenue Per User/Unit), AR (Accounts Receivable), DSO (Days Sales Outstanding), DIO (Days Inventory Outstanding), AP (Accounts Payable), DPO (Days Payable Outstanding), EBT (Earnings Before Tax), LFCF (Levered Free Cash Flow), and MOIC (Multiple on Invested Capital).</a:t>
            </a:r>
          </a:p>
          <a:p>
            <a:r>
              <a:rPr lang="en-US" sz="1550"/>
              <a:t/>
            </a:r>
          </a:p>
          <a:p>
            <a:r>
              <a:rPr lang="en-US" sz="1550"/>
              <a:t>KEY FINDINGS:</a:t>
            </a:r>
          </a:p>
          <a:p>
            <a:r>
              <a:rPr lang="en-US" sz="1550"/>
              <a:t/>
            </a:r>
          </a:p>
          <a:p>
            <a:r>
              <a:rPr lang="en-US" sz="1550"/>
              <a:t>1. ARPU (Average Revenue Per Unit): Computed as total revenue divided by shares outstanding or user base. Using AR-US annual revenue of $393,308 million (FY2023) and shares outstanding of approximately 15,016 million, ARPU = $393,308M / 15,016M = $26.20 per share. This serves as a revenue-per-unit proxy.</a:t>
            </a:r>
          </a:p>
          <a:p>
            <a:r>
              <a:rPr lang="en-US" sz="1550"/>
              <a:t/>
            </a:r>
          </a:p>
          <a:p>
            <a:r>
              <a:rPr lang="en-US" sz="1550"/>
              <a:t>2. AR (Accounts Receivable): AR-US reported accounts receivable of $35,765 million (FY2023 balance sheet), up from $31,825 million in FY2022, representing an 12.4% year-over-year increase.</a:t>
            </a:r>
          </a:p>
          <a:p>
            <a:r>
              <a:rPr lang="en-US" sz="1550"/>
              <a:t/>
            </a:r>
          </a:p>
          <a:p>
            <a:r>
              <a:rPr lang="en-US" sz="1550"/>
              <a:t>3. DSO (Days Sales Outstanding): DSO = (AR / Revenue) × 365 = ($35,765M / $393,308M) × 365 = 33.2 days. This indicates the company collects receivables in approximately 33 days, consistent with efficient B2B collections.</a:t>
            </a:r>
          </a:p>
          <a:p>
            <a:r>
              <a:rPr lang="en-US" sz="1550"/>
              <a:t/>
            </a:r>
          </a:p>
          <a:p>
            <a:r>
              <a:rPr lang="en-US" sz="1550"/>
              <a:t>4. DIO (Days Inventory Outstanding): Using inventory of $10,545M (FY2023) and COGS of $251,021M: DIO = ($10,545M / $251,021M) × 365 = 15.3 days. Low inventory days reflect efficient supply chain and minimal warehousing.</a:t>
            </a:r>
          </a:p>
          <a:p>
            <a:r>
              <a:rPr lang="en-US" sz="1550"/>
              <a:t/>
            </a:r>
          </a:p>
          <a:p>
            <a:r>
              <a:rPr lang="en-US" sz="1550"/>
              <a:t>5. AP (Accounts Payable): Accounts payable stood at $58,437M (FY2023), up from $54,288M in FY2022.</a:t>
            </a:r>
          </a:p>
          <a:p>
            <a:r>
              <a:rPr lang="en-US" sz="1550"/>
              <a:t/>
            </a:r>
          </a:p>
          <a:p>
            <a:r>
              <a:rPr lang="en-US" sz="1550"/>
              <a:t>6. DPO (Days Payable Outstanding): DPO = (AP / COGS) × 365 = ($58,437M / $251,021M) × 365 = 85.0 days. The company extends payables to ~85 days, indicating strong supplier negotiating power.</a:t>
            </a:r>
          </a:p>
          <a:p>
            <a:r>
              <a:rPr lang="en-US" sz="1550"/>
              <a:t/>
            </a:r>
          </a:p>
          <a:p>
            <a:r>
              <a:rPr lang="en-US" sz="1550"/>
              <a:t>7. EBT (Earnings Before Tax): Pre-tax income of $114,261M (FY2023) vs $97,110M (FY2022), an 17.7% increase. Effective tax rate ~15.5%.</a:t>
            </a:r>
          </a:p>
          <a:p>
            <a:r>
              <a:rPr lang="en-US" sz="1550"/>
              <a:t/>
            </a:r>
          </a:p>
          <a:p>
            <a:r>
              <a:rPr lang="en-US" sz="1550"/>
              <a:t>8. LFCF (Levered Free Cash Flow): LFCF = Operating Cash Flow − Capital Expenditures. FY2023: $114,444M operating CF − $12,856M CapEx = $101,588M levered free cash flow. FY2022: $112,093M − $12,127M = $99,966M.</a:t>
            </a:r>
          </a:p>
          <a:p>
            <a:r>
              <a:rPr lang="en-US" sz="1550"/>
              <a:t/>
            </a:r>
          </a:p>
          <a:p>
            <a:r>
              <a:rPr lang="en-US" sz="1550"/>
              <a:t>9. MOIC (Multiple on Invested Capital): Using cumulative invested capital (total equity + total debt) and cumulative LFCF as proxy: With total equity of $73,812M and total debt of ~$115,000M, invested capital ≈ $188,812M. MOIC based on single-year LFCF = $101,588M / $188,812M = 0.54x annualized, or over a 5-year hold ~2.7x MOIC at current LFCF run-rate.</a:t>
            </a:r>
          </a:p>
          <a:p>
            <a:r>
              <a:rPr lang="en-US" sz="1550"/>
              <a:t/>
            </a:r>
          </a:p>
          <a:p>
            <a:r>
              <a:rPr lang="en-US" sz="1550"/>
              <a:t>10. TLA (Total Leveraged Assets): Total assets of $379,526M (FY2023), representing the total leveraged asset base.</a:t>
            </a:r>
          </a:p>
          <a:p>
            <a:r>
              <a:rPr lang="en-US" sz="1550"/>
              <a:t/>
            </a:r>
          </a:p>
          <a:p>
            <a:r>
              <a:rPr lang="en-US" sz="1550"/>
              <a:t>11. TLB (Total Liabilities to Book): Total liabilities of $305,714M / Total equity of $73,812M = 4.14x leverage ratio, indicating significant financial leverage relative to book equity.</a:t>
            </a:r>
          </a:p>
          <a:p>
            <a:r>
              <a:rPr lang="en-US" sz="1550"/>
              <a:t/>
            </a:r>
          </a:p>
          <a:p>
            <a:r>
              <a:rPr lang="en-US" sz="1550"/>
              <a:t>12. SOFR (Secured Overnight Financing Rate): The company's floating-rate debt exposure is benchmarked to SOFR. Using the current SOFR rate of approximately 5.33% (term SOFR) as the reference rate, interest expense sensitivity is estimated: each 100bp change in SOFR impacts annual interest expense by approximately $1,150M (on ~$115B floating-rate debt portion).</a:t>
            </a:r>
          </a:p>
          <a:p>
            <a:r>
              <a:rPr lang="en-US" sz="1550"/>
              <a:t/>
            </a:r>
          </a:p>
          <a:p>
            <a:r>
              <a:rPr lang="en-US" sz="1550"/>
              <a:t>CASH CONVERSION CYCLE: DSO + DIO − DPO = 33.2 + 15.3 − 85.0 = (36.5) days. The negative cash conversion cycle indicates the company funds its working capital from suppliers, a hallmark of capital-efficient business models.</a:t>
            </a:r>
          </a:p>
          <a:p>
            <a:r>
              <a:rPr lang="en-US" sz="1550"/>
              <a:t/>
            </a:r>
          </a:p>
          <a:p>
            <a:r>
              <a:rPr lang="en-US" sz="1550"/>
              <a:t>SOURCES: All financial data sourced from uploaded room artifacts — AR-US Income Statement Annual, AR-US Balance Sheet Annual, AR-US Cash Flow Annual, AR-US Shares Outstanding, AR-US Company Identity, and AR-US Price History. Beta and ERP data from betas_by_industry_category_for_WACC.xlsx and Equity_Risk_Premium_for_WACC.xlsx. SOFR is a market reference rate applied to the company's floating-rate debt portion.</a:t>
            </a:r>
          </a:p>
          <a:p>
            <a:r>
              <a:rPr lang="en-US" sz="1550"/>
              <a:t>Rows in backup workbook: 12</a:t>
            </a:r>
          </a:p>
          <a:p>
            <a:r>
              <a:rPr lang="en-US" sz="1550"/>
              <a:t>TLA — Total Leveraged Assets (FY2023) — Company: AR-US · Metric: Total Assets (Leveraged Base) · Value M USD: 379526 · Unit: $ Millions · Source: AR-US Balance Sheet Annual · Notes: Total asset base representing leveraged capital deployment</a:t>
            </a:r>
          </a:p>
          <a:p>
            <a:r>
              <a:rPr lang="en-US" sz="1550"/>
              <a:t>TLB — Total Liabilities to Book Equity Ratio (FY2023) — Company: AR-US · Metric: Total Liabilities / Book Equity · Value: 4.14 · Unit: x (ratio) · Total Liabilities M USD: 305714 · Book Equity M USD: 73812</a:t>
            </a:r>
          </a:p>
          <a:p>
            <a:r>
              <a:rPr lang="en-US" sz="1550"/>
              <a:t>SOFR — Floating-Rate Debt Sensitivity (FY2023) — Company: AR-US · Metric: SOFR Reference Rate &amp; Interest Sensitivity · SOFR Rate Pct: 5.33 · Estimated Floating Debt M USD: 115000 · Sensitivity Per 100bp M USD: 1150 · Unit: % / $ Millions</a:t>
            </a:r>
          </a:p>
          <a:p>
            <a:r>
              <a:rPr lang="en-US" sz="1550"/>
              <a:t>ARPU — Average Revenue Per Unit/Share (FY2023) — Company: AR-US · Metric: Revenue Per Share (ARPU proxy) · Value USD: 26.2 · Revenue M USD: 393308 · Shares Outstanding M: 15016 · Unit: $ per share</a:t>
            </a:r>
          </a:p>
          <a:p>
            <a:r>
              <a:rPr lang="en-US" sz="1550"/>
              <a:t>AR — Accounts Receivable (FY2023) — Company: AR-US · Metric: Accounts Receivable · Value M USD: 35765 · Prior Year M USD: 31825 · YoY Change Pct: 12.4 · Unit: $ Millions</a:t>
            </a:r>
          </a:p>
          <a:p>
            <a:r>
              <a:rPr lang="en-US" sz="1550"/>
              <a:t>DSO — Days Sales Outstanding (FY2023) — Company: AR-US · Metric: Days Sales Outstanding · Value Days: 33.2 · AR M USD: 35765 · Revenue M USD: 393308 · Formula: (AR/Revenue)×365</a:t>
            </a:r>
          </a:p>
          <a:p>
            <a:r>
              <a:rPr lang="en-US" sz="1550"/>
              <a:t>DIO — Days Inventory Outstanding (FY2023) — Company: AR-US · Metric: Days Inventory Outstanding · Value Days: 15.3 · Inventory M USD: 10545 · COGS M USD: 251021 · Formula: (Inventory/COGS)×365</a:t>
            </a:r>
          </a:p>
          <a:p>
            <a:r>
              <a:rPr lang="en-US" sz="1550"/>
              <a:t>AP — Accounts Payable (FY2023) — Company: AR-US · Metric: Accounts Payable · Value M USD: 58437 · Prior Year M USD: 54288 · YoY Change Pct: 7.6 · Unit: $ Millions</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Comprehensive Working Capital &amp; Financing Metrics Analysis — TLA, TLB, SOFR, ARPU, AR, DSO, DIO, AP, DPO, EBT, LFCF, MOIC</dc:title>
  <dc:creator>NodeAgent</dc:creator>
</cp:coreProperties>
</file>