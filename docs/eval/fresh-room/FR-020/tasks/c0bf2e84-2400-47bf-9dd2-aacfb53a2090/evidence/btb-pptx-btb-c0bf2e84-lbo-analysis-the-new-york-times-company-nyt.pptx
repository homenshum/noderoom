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LBO Analysis — The New York Times Company (NYT)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BankerToolBench Task btb-c0bf2e84 — LBO Analysis: The New York Times Company (NYT)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Transaction Assumptions</a:t>
            </a:r>
          </a:p>
          <a:p>
            <a:r>
              <a:rPr lang="en-US" sz="1550"/>
              <a:t>An activist investor is seeking an exit via a sale of NYT. This analysis models an LBO using a unitranche debt structure to assess whether the returns math works for financial sponsors.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- **Share price (latest close)**: $48.60</a:t>
            </a:r>
          </a:p>
          <a:p>
            <a:r>
              <a:rPr lang="en-US" sz="1550"/>
              <a:t>- **Shares outstanding**: 162,818,823</a:t>
            </a:r>
          </a:p>
          <a:p>
            <a:r>
              <a:rPr lang="en-US" sz="1550"/>
              <a:t>- **Equity purchase price**: $7,909.0M</a:t>
            </a:r>
          </a:p>
          <a:p>
            <a:r>
              <a:rPr lang="en-US" sz="1550"/>
              <a:t>- **Net debt**: $674.1M</a:t>
            </a:r>
          </a:p>
          <a:p>
            <a:r>
              <a:rPr lang="en-US" sz="1550"/>
              <a:t>- **Transaction enterprise value**: $8,583.1M</a:t>
            </a:r>
          </a:p>
          <a:p>
            <a:r>
              <a:rPr lang="en-US" sz="1550"/>
              <a:t>- **Purchase EV/EBITDA**: ~16.4x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Financing Structure (Unitranche)</a:t>
            </a:r>
          </a:p>
          <a:p>
            <a:r>
              <a:rPr lang="en-US" sz="1550"/>
              <a:t>- Total unitranche debt: $4,300M (50.1% of EV)</a:t>
            </a:r>
          </a:p>
          <a:p>
            <a:r>
              <a:rPr lang="en-US" sz="1550"/>
              <a:t>- Equity contribution: $4,283M (49.9% of EV)</a:t>
            </a:r>
          </a:p>
          <a:p>
            <a:r>
              <a:rPr lang="en-US" sz="1550"/>
              <a:t>- Blended interest rate: 7.5%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Projections</a:t>
            </a:r>
          </a:p>
          <a:p>
            <a:r>
              <a:rPr lang="en-US" sz="1550"/>
              <a:t>Revenue and EPS consensus estimates from uploaded analyst estimates (FY2024–FY2026). Outer years (FY2027–FY2028) extrapolated based on continuation of financial trends. EBITDA derived from consensus EPS and historical EBITDA margin trends.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Year | Revenue ($M) | EBITDA ($M) | EBITDA Margin |</a:t>
            </a:r>
          </a:p>
          <a:p>
            <a:r>
              <a:rPr lang="en-US" sz="1550"/>
              <a:t>|------|-------------|-------------|---------------|</a:t>
            </a:r>
          </a:p>
          <a:p>
            <a:r>
              <a:rPr lang="en-US" sz="1550"/>
              <a:t>| 2024E | 3,061 | 455 | 14.9% |</a:t>
            </a:r>
          </a:p>
          <a:p>
            <a:r>
              <a:rPr lang="en-US" sz="1550"/>
              <a:t>| 2025E | 3,185 | 475 | 14.9% |</a:t>
            </a:r>
          </a:p>
          <a:p>
            <a:r>
              <a:rPr lang="en-US" sz="1550"/>
              <a:t>| 2026E | 3,312 | 497 | 15.0% |</a:t>
            </a:r>
          </a:p>
          <a:p>
            <a:r>
              <a:rPr lang="en-US" sz="1550"/>
              <a:t>| 2027E | 3,445 | 517 | 15.0% |</a:t>
            </a:r>
          </a:p>
          <a:p>
            <a:r>
              <a:rPr lang="en-US" sz="1550"/>
              <a:t>| 2028E | 3,583 | 538 | 15.0%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Debt Paydown &amp; Returns</a:t>
            </a:r>
          </a:p>
          <a:p>
            <a:r>
              <a:rPr lang="en-US" sz="1550"/>
              <a:t>- Cumulative FCF available for debt paydown over 5 years: ~$1,150M</a:t>
            </a:r>
          </a:p>
          <a:p>
            <a:r>
              <a:rPr lang="en-US" sz="1550"/>
              <a:t>- Exit EBITDA: $538M</a:t>
            </a:r>
          </a:p>
          <a:p>
            <a:r>
              <a:rPr lang="en-US" sz="1550"/>
              <a:t>- Exit EV (at 13.0x EV/EBITDA multiple): $6,994M</a:t>
            </a:r>
          </a:p>
          <a:p>
            <a:r>
              <a:rPr lang="en-US" sz="1550"/>
              <a:t>- Plus excess cash: $613M</a:t>
            </a:r>
          </a:p>
          <a:p>
            <a:r>
              <a:rPr lang="en-US" sz="1550"/>
              <a:t>- Net debt at exit: $3,150M</a:t>
            </a:r>
          </a:p>
          <a:p>
            <a:r>
              <a:rPr lang="en-US" sz="1550"/>
              <a:t>- Exit equity value: $4,457M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Returns</a:t>
            </a:r>
          </a:p>
          <a:p>
            <a:r>
              <a:rPr lang="en-US" sz="1550"/>
              <a:t>- **Equity IRR**: ~0.8%</a:t>
            </a:r>
          </a:p>
          <a:p>
            <a:r>
              <a:rPr lang="en-US" sz="1550"/>
              <a:t>- **Money multiple**: ~1.04x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Conclusion</a:t>
            </a:r>
          </a:p>
          <a:p>
            <a:r>
              <a:rPr lang="en-US" sz="1550"/>
              <a:t>At the proposed purchase price, the LBO returns do not meet typical sponsor return thresholds (20%+ IRR). The primary issue is the high entry valuation (~16.4x EV/EBITDA) combined with modest revenue growth and EBITDA expansion. A financial sponsor would likely require either a lower purchase price, higher leverage capacity, or significant operational improvements to justify the transaction.</a:t>
            </a:r>
          </a:p>
          <a:p>
            <a:r>
              <a:rPr lang="en-US" sz="1550"/>
              <a:t>Rows in backup workbook: 28</a:t>
            </a:r>
          </a:p>
          <a:p>
            <a:r>
              <a:rPr lang="en-US" sz="1550"/>
              <a:t>Share Price (Latest Close) — Value: 48.6 · Unit: USD · Source: NYT-US Price History.xlsx</a:t>
            </a:r>
          </a:p>
          <a:p>
            <a:r>
              <a:rPr lang="en-US" sz="1550"/>
              <a:t>Shares Outstanding — Value: 162818823 · Unit: shares · Source: NYT-US Shares Outstanding.xlsx</a:t>
            </a:r>
          </a:p>
          <a:p>
            <a:r>
              <a:rPr lang="en-US" sz="1550"/>
              <a:t>Equity Purchase Price — Value: 7909 · Unit: USD millions · Calculation: 48.60 × 162,818,823 / 1,000,000</a:t>
            </a:r>
          </a:p>
          <a:p>
            <a:r>
              <a:rPr lang="en-US" sz="1550"/>
              <a:t>Net Debt — Value: 674.1 · Unit: USD millions · Source: NYT-US Balance Sheet Annual.xlsx</a:t>
            </a:r>
          </a:p>
          <a:p>
            <a:r>
              <a:rPr lang="en-US" sz="1550"/>
              <a:t>Transaction Enterprise Value — Value: 8583.1 · Unit: USD millions · Calculation: Equity Purchase Price + Net Debt</a:t>
            </a:r>
          </a:p>
          <a:p>
            <a:r>
              <a:rPr lang="en-US" sz="1550"/>
              <a:t>Purchase EV/EBITDA — Value: 16.4 · Unit: x · Calculation: EV / LTM EBITDA</a:t>
            </a:r>
          </a:p>
          <a:p>
            <a:r>
              <a:rPr lang="en-US" sz="1550"/>
              <a:t>Unitranche Debt Amount — Value: 4300 · Unit: USD millions · Note: 50.1% of EV</a:t>
            </a:r>
          </a:p>
          <a:p>
            <a:r>
              <a:rPr lang="en-US" sz="1550"/>
              <a:t>Equity Contribution — Value: 4283 · Unit: USD millions · Note: 49.9% of 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LBO Analysis — The New York Times Company (NYT)</dc:title>
  <dc:creator>NodeAgent</dc:creator>
</cp:coreProperties>
</file>