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Capricor Therapeutics (CAPR) — Deramiocel DMD Epidemiology Revenue Build (CDC &amp; DMD Coverage)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EPIDEMIOLOGY REVENUE MODEL — CAPRICOR THERAPEUTICS (CAPR)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Asset: Deramiocel (CAP-1002) — allogeneic cardiosphere-derived cell (CDC) therapy for Duchenne Muscular Dystrophy (DMD). This package covers both the CDC (cell therapy platform) and DMD (indication) dimensions of the asset.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DMD EPIDEMIOLOGY BUILD (US) ==</a:t>
            </a:r>
          </a:p>
          <a:p>
            <a:r>
              <a:rPr lang="en-US" sz="1550"/>
              <a:t>DMD is an X-linked recessive disorder with a birth incidence of ~1 in 3,500–5,000 male live births (source: Global epidemiology of DMD systematic review, PMC). US male live births ≈ 1.8M/year (CDC NVSS). Applying the midpoint incidence of 1/4,250 yields ~424 new DMD diagnoses per year in the US. With improved survival from corticosteroid use and cardiac/respiratory management, mean life expectancy has extended to ~30 years, implying a US prevalent DMD population of ~424 × 30 ≈ 12,700 patients. Consistent with DMD care considerations and the PMC meta-analysis, we use a US prevalent population of ~12,500–15,000 patients, triangulating to 12,700.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Addressable patients for Deramiocel: Deramiocel targets DMD patients with cardiomyopathy — a near-universal complication in DMD boys by their late teens. The HOPE-2 Phase 3 trial enrolled ambulatory and non-ambulatory boys aged 10+ with evidence of cardiac dysfunction. We estimate ~60% of prevalent DMD patients fall in the 10+ age cohort with detectable cardiomyopathy, yielding ~7,620 addressable patients.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Peak penetration: As a first-in-class cardiac cell therapy for DMD with no direct competitor for DMD cardiomyopathy, we assume a peak market penetration of 25% of addressable patients (ramp: Year 1: 5%, Year 2: 10%, Year 3: 15%, Year 4: 20%, Year 5: 25%). Peak treated patients ≈ 1,905.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Pricing: Referenced to precedent rare-disease neuromuscular and allogeneic cell therapy pricing. Sarepta's Elevidys (DMD gene therapy) lists at ~$3.2M one-time; Blueprint's Ayvakit (~$496K/yr for systemic mastocytosis); Allogeneic cell therapies (e.g., Casgevy at ~$2.2M one-time). Deramiocel is a recurring (not one-time) allogeneic CDC infusion administered quarterly. We benchmark to chronic rare disease orphan drug pricing at ~$350,000/year per patient (annualized, net of discounts). This reflects a premium to standard orphan drugs but a discount to one-time gene therapies, appropriate for a recurring allogeneic cell therapy in a pediatric rare disease with no cardiac-specific competitor.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US REVENUE BUILD ==</a:t>
            </a:r>
          </a:p>
          <a:p>
            <a:r>
              <a:rPr lang="en-US" sz="1550"/>
              <a:t>Year 1: 381 patients × $350,000 = $133.4M</a:t>
            </a:r>
          </a:p>
          <a:p>
            <a:r>
              <a:rPr lang="en-US" sz="1550"/>
              <a:t>Year 2: 762 patients × $350,000 = $266.7M</a:t>
            </a:r>
          </a:p>
          <a:p>
            <a:r>
              <a:rPr lang="en-US" sz="1550"/>
              <a:t>Year 3: 1,143 patients × $350,000 = $400.1M</a:t>
            </a:r>
          </a:p>
          <a:p>
            <a:r>
              <a:rPr lang="en-US" sz="1550"/>
              <a:t>Year 4: 1,524 patients × $350,000 = $533.4M</a:t>
            </a:r>
          </a:p>
          <a:p>
            <a:r>
              <a:rPr lang="en-US" sz="1550"/>
              <a:t>Year 5 (peak): 1,905 patients × $350,000 = $666.8M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EX-US REVENUE ==</a:t>
            </a:r>
          </a:p>
          <a:p>
            <a:r>
              <a:rPr lang="en-US" sz="1550"/>
              <a:t>Per task instruction, ex-US revenue = 80% of US revenue:</a:t>
            </a:r>
          </a:p>
          <a:p>
            <a:r>
              <a:rPr lang="en-US" sz="1550"/>
              <a:t>Year 1: $106.7M | Year 2: $213.4M | Year 3: $320.1M | Year 4: $426.7M | Year 5: $533.4M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== TOTAL GLOBAL REVENUE (US + Ex-US) ==</a:t>
            </a:r>
          </a:p>
          <a:p>
            <a:r>
              <a:rPr lang="en-US" sz="1550"/>
              <a:t>Year 1: $240.1M | Year 2: $480.1M | Year 3: $720.1M | Year 4: $960.1M | Year 5: $1,200.1M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Sources: (1) Global epidemiology of DMD systematic review (PMC); (2) Deramiocel Phase 3 HOPE-2 clinical data (CSV); (3) Capricor 2025 10-K; (4) DMD Competitive Landscape Overview; (5) Biotech Secures FDA Alignment on Late-Stage Duchenne Therapy; (6) CAPR Q3 2024 Earnings Call Transcript; (7) Betas by industry category (WACC input); (8) Equity Risk Premium (WACC input).</a:t>
            </a:r>
          </a:p>
          <a:p>
            <a:r>
              <a:rPr lang="en-US" sz="1550"/>
              <a:t>Rows in backup workbook: 10</a:t>
            </a:r>
          </a:p>
          <a:p>
            <a:r>
              <a:rPr lang="en-US" sz="1550"/>
              <a:t>DMD Epidemiology — US Birth Incidence — Source: Global epidemiology of DMD (PMC) systematic review &amp; meta-analysis · Incidence Rate: 1 in 4,250 male live births (midpoint of 1/3,500–1/5,000) · Us Male Births Yr: 1800000 · New Dmd Diagnoses Yr: 424 · Avg Life Expectancy Yrs: 30 · Us Prevalent Population: 12700</a:t>
            </a:r>
          </a:p>
          <a:p>
            <a:r>
              <a:rPr lang="en-US" sz="1550"/>
              <a:t>DMD Addressable Population for Deramiocel (CDC) — Prevalent Us Dmd: 12700 · Pct Age 10 Plus With Cardiomyopathy: 60% · Addressable Patients: 7620 · Rationale: Deramiocel targets DMD cardiomyopathy; HOPE-2 enrolled boys 10+ with cardiac dysfunction; cardiomyopathy is near-universal by late teens · Source: Deramiocel Phase 3 HOPE-2 clinical data; DMD epidemiology review</a:t>
            </a:r>
          </a:p>
          <a:p>
            <a:r>
              <a:rPr lang="en-US" sz="1550"/>
              <a:t>Peak Penetration &amp; Treated Patients — Addressable Patients: 7620 · Peak Market Share: 25% · Peak Treated Patients: 1905 · Rationale: First-in-class cardiac cell therapy for DMD; no direct competitor for DMD cardiomyopathy; 25% peak share reflects adoption curve for rare disease specialty therapy · Source: Analyst judgment; DMD competitive landscape</a:t>
            </a:r>
          </a:p>
          <a:p>
            <a:r>
              <a:rPr lang="en-US" sz="1550"/>
              <a:t>Pricing Benchmark — Deramiocel (CDC therapy, recurring) — Annual Price Per Patient: 350000 · Dosing: Quarterly allogeneic CDC infusions · Benchmark Comparator 1: Elevidys (Sarepta, DMD gene therapy) — $3.2M one-time · Benchmark Comparator 2: Casgevy (allogeneic cell therapy) — $2.2M one-time · Benchmark Comparator 3: Ayvakit (Blueprint, rare disease) — ~$496K/yr · Pricing Rationale: Recurring (not one-time) therapy; premium to standard orphan drugs, discount to gene therapies; no cardiac-specific DMD competitor</a:t>
            </a:r>
          </a:p>
          <a:p>
            <a:r>
              <a:rPr lang="en-US" sz="1550"/>
              <a:t>US Revenue Ramp (Year 1–5) — Year 1 Penetration: 5% · Year 1 Patients: 381 · Year 1 Us Revenue: 133400000 · Year 2 Penetration: 10% · Year 2 Patients: 762 · Year 2 Us Revenue: 266700000</a:t>
            </a:r>
          </a:p>
          <a:p>
            <a:r>
              <a:rPr lang="en-US" sz="1550"/>
              <a:t>Ex-US Revenue (80% of US Revenue) — Ex Us Scaler: 80% · Year 1 Ex Us Revenue: 106700000 · Year 2 Ex Us Revenue: 213400000 · Year 3 Ex Us Revenue: 320100000 · Year 4 Ex Us Revenue: 426700000 · Year 5 Ex Us Revenue: 533400000</a:t>
            </a:r>
          </a:p>
          <a:p>
            <a:r>
              <a:rPr lang="en-US" sz="1550"/>
              <a:t>Total Global Revenue (US + Ex-US) — Year 1 Total Revenue: 240100000 · Year 2 Total Revenue: 480100000 · Year 3 Total Revenue: 720100000 · Year 4 Total Revenue: 960100000 · Year 5 Total Revenue: 1200100000</a:t>
            </a:r>
          </a:p>
          <a:p>
            <a:r>
              <a:rPr lang="en-US" sz="1550"/>
              <a:t>CDC Platform Context — Deramiocel (CAP-1002) — Asset: Deramiocel (CAP-1002) · Therapy Type: Allogeneic cardiosphere-derived cell (CDC) therapy · Indication: Duchenne Muscular Dystrophy (DMD) · Mechanism: CDCs secrete exosomes with anti-inflammatory, anti-fibrotic, and regenerative properties targeting cardiac and skeletal muscle · Clinical Stage: Phase 3 (HOPE-2) completed; BLA filing planned · Source: Capricor 2025 10-K; Deramiocel Phase 3 clinical data; Capricor Pipeline</a:t>
            </a:r>
          </a:p>
          <a:p>
            <a:r>
              <a:rPr lang="en-US" sz="1550"/>
              <a:t>Sources: https://www.capricor.com, https://www.cdc.gov/nchs/nvss/births.htm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Capricor Therapeutics (CAPR) — Deramiocel DMD Epidemiology Revenue Build (CDC &amp; DMD Coverage)</dc:title>
  <dc:creator>NodeAgent</dc:creator>
</cp:coreProperties>
</file>