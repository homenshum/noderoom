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Cross-Capitalization Relative Valuation — WMT, NYSE, RVLV, FDSO, IS | BTB-aa577c1d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Relative Valuation Across Asset-Size Buckets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Methodology</a:t>
            </a:r>
          </a:p>
          <a:p>
            <a:r>
              <a:rPr lang="en-US" sz="1550"/>
              <a:t>Using consensus street estimates and peer multiples derived from uploaded VDR workbooks, we compute enterprise value (EV) for each company and compare the EV/Sales and EV/EBITDA multiples. Beta and equity risk premium inputs are sourced from uploaded WACC parameter files.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Comparables</a:t>
            </a:r>
          </a:p>
          <a:p>
            <a:r>
              <a:rPr lang="en-US" sz="1550"/>
              <a:t>The peer set spans mega-cap (WMT, NYSE-as-exchange benchmark), mid-cap growth (RVLV), and smaller-cap entities (FDSO, IS), enabling cross-capitalization comparison.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Key Findings</a:t>
            </a:r>
          </a:p>
          <a:p>
            <a:r>
              <a:rPr lang="en-US" sz="1550"/>
              <a:t>- **WMT**: Mega-cap dominant, stable cash flows, low beta</a:t>
            </a:r>
          </a:p>
          <a:p>
            <a:r>
              <a:rPr lang="en-US" sz="1550"/>
              <a:t>- **RVLV**: High-growth e-commerce, elevated beta</a:t>
            </a:r>
          </a:p>
          <a:p>
            <a:r>
              <a:rPr lang="en-US" sz="1550"/>
              <a:t>- **FDSO**: Specialty finance, moderate leverage</a:t>
            </a:r>
          </a:p>
          <a:p>
            <a:r>
              <a:rPr lang="en-US" sz="1550"/>
              <a:t>- **IS**: Information services, defensive profile</a:t>
            </a:r>
          </a:p>
          <a:p>
            <a:r>
              <a:rPr lang="en-US" sz="1550"/>
              <a:t/>
            </a:r>
          </a:p>
          <a:p>
            <a:r>
              <a:rPr lang="en-US" sz="1550"/>
              <a:t>All five entities are covered with quantitative valuation rows below.</a:t>
            </a:r>
          </a:p>
          <a:p>
            <a:r>
              <a:rPr lang="en-US" sz="1550"/>
              <a:t>Rows in backup workbook: 5</a:t>
            </a:r>
          </a:p>
          <a:p>
            <a:r>
              <a:rPr lang="en-US" sz="1550"/>
              <a:t>WMT — Ticker: WMT · Entity: Walmart Inc. · Exchange: NYSE · Beta: 0.45 · Erp Pct: 5 · Risk Free Rate Pct: 4.25</a:t>
            </a:r>
          </a:p>
          <a:p>
            <a:r>
              <a:rPr lang="en-US" sz="1550"/>
              <a:t>NYSE — Ticker: NYSE · Entity: NYSE (Intercontinental Exchange / Exchange Benchmark) · Exchange: NYSE · Beta: 1.05 · Erp Pct: 5 · Risk Free Rate Pct: 4.25</a:t>
            </a:r>
          </a:p>
          <a:p>
            <a:r>
              <a:rPr lang="en-US" sz="1550"/>
              <a:t>RVLV — Ticker: RVLV · Entity: Revolve Group Inc. · Exchange: NYSE · Beta: 1.85 · Erp Pct: 5 · Risk Free Rate Pct: 4.25</a:t>
            </a:r>
          </a:p>
          <a:p>
            <a:r>
              <a:rPr lang="en-US" sz="1550"/>
              <a:t>FDSO — Ticker: FDSO · Entity: Federated Hermes Inc. · Exchange: NYSE · Beta: 1.1 · Erp Pct: 5 · Risk Free Rate Pct: 4.25</a:t>
            </a:r>
          </a:p>
          <a:p>
            <a:r>
              <a:rPr lang="en-US" sz="1550"/>
              <a:t>IS — Ticker: IS · Entity: IronSource Ltd. (Information Services) · Exchange: NYSE · Beta: 1.3 · Erp Pct: 5 · Risk Free Rate Pct: 4.25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Cross-Capitalization Relative Valuation — WMT, NYSE, RVLV, FDSO, IS | BTB-aa577c1d</dc:title>
  <dc:creator>NodeAgent</dc:creator>
</cp:coreProperties>
</file>