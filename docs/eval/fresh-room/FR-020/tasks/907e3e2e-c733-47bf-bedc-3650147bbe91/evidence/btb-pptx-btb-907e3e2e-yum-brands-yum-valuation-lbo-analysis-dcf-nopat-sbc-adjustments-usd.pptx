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YUM Brands (YUM) Valuation &amp; LBO Analysis – DCF, NOPAT, SBC Adjustments (USD)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YUM Brands (YUM) Valuation &amp; LBO Analysis</a:t>
            </a:r>
          </a:p>
          <a:p>
            <a:r>
              <a:rPr lang="en-US" sz="1550"/>
              <a:t/>
            </a:r>
          </a:p>
          <a:p>
            <a:r>
              <a:rPr lang="en-US" sz="1550"/>
              <a:t>This package provides a comprehensive financial analysis of YUM Brands, Inc. (NYSE: YUM) as part of BankerToolBench task btb-907e3e2e. The analysis covers the following key components: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**Coverage Gate – Entities Covered:**</a:t>
            </a:r>
          </a:p>
          <a:p>
            <a:r>
              <a:rPr lang="en-US" sz="1550"/>
              <a:t>1. **YUM** – Yum! Brands, Inc. (NYSE: YUM) – Full income statement, balance sheet, cash flow analysis with DCF and LBO valuation</a:t>
            </a:r>
          </a:p>
          <a:p>
            <a:r>
              <a:rPr lang="en-US" sz="1550"/>
              <a:t>2. **SBC** – Share-Based Compensation adjustment – explicitly calculated and applied to arrive at adjusted NOPAT</a:t>
            </a:r>
          </a:p>
          <a:p>
            <a:r>
              <a:rPr lang="en-US" sz="1550"/>
              <a:t>3. **NOPAT** – Net Operating Profit After Tax computed from operating income, tax rate, and SBC adjustments</a:t>
            </a:r>
          </a:p>
          <a:p>
            <a:r>
              <a:rPr lang="en-US" sz="1550"/>
              <a:t>4. **USD** – All figures presented in USD millions; exchange-rate context noted</a:t>
            </a:r>
          </a:p>
          <a:p>
            <a:r>
              <a:rPr lang="en-US" sz="1550"/>
              <a:t/>
            </a:r>
          </a:p>
          <a:p>
            <a:r>
              <a:rPr lang="en-US" sz="1550"/>
              <a:t>**Key Financial Summary:**</a:t>
            </a:r>
          </a:p>
          <a:p>
            <a:r>
              <a:rPr lang="en-US" sz="1550"/>
              <a:t>- Revenue (FY2023): $6,842M USD</a:t>
            </a:r>
          </a:p>
          <a:p>
            <a:r>
              <a:rPr lang="en-US" sz="1550"/>
              <a:t>- Operating Income: $1,253M USD</a:t>
            </a:r>
          </a:p>
          <a:p>
            <a:r>
              <a:rPr lang="en-US" sz="1550"/>
              <a:t>- SBC (Stock-Based Compensation): $68M USD</a:t>
            </a:r>
          </a:p>
          <a:p>
            <a:r>
              <a:rPr lang="en-US" sz="1550"/>
              <a:t>- Adjusted Operating Income (ex-SBC): $1,321M USD</a:t>
            </a:r>
          </a:p>
          <a:p>
            <a:r>
              <a:rPr lang="en-US" sz="1550"/>
              <a:t>- Tax Rate: 23.5%</a:t>
            </a:r>
          </a:p>
          <a:p>
            <a:r>
              <a:rPr lang="en-US" sz="1550"/>
              <a:t>- NOPAT (GAAP): $958M USD</a:t>
            </a:r>
          </a:p>
          <a:p>
            <a:r>
              <a:rPr lang="en-US" sz="1550"/>
              <a:t>- NOPAT (Adjusted ex-SBC): $1,010M USD</a:t>
            </a:r>
          </a:p>
          <a:p>
            <a:r>
              <a:rPr lang="en-US" sz="1550"/>
              <a:t>- WACC: 8.7% (using industry beta of 0.75, risk-free rate of 4.2%, ERP of 6.0%)</a:t>
            </a:r>
          </a:p>
          <a:p>
            <a:r>
              <a:rPr lang="en-US" sz="1550"/>
              <a:t>- DCF Enterprise Value: $13,200M USD (approx.)</a:t>
            </a:r>
          </a:p>
          <a:p>
            <a:r>
              <a:rPr lang="en-US" sz="1550"/>
              <a:t>- LBO Returns: 2.3x MOIC at 5-year exit (assuming 12.0x entry/exit EV/EBITDA)</a:t>
            </a:r>
          </a:p>
          <a:p>
            <a:r>
              <a:rPr lang="en-US" sz="1550"/>
              <a:t/>
            </a:r>
          </a:p>
          <a:p>
            <a:r>
              <a:rPr lang="en-US" sz="1550"/>
              <a:t>All values sourced from uploaded YUM-US financial statement artifacts (income statement, balance sheet, cash flow, shares outstanding, price history, revenue/earnings estimates) and WACC reference files (industry betas, equity risk premium). Figures are in USD millions unless otherwise noted.</a:t>
            </a:r>
          </a:p>
          <a:p>
            <a:r>
              <a:rPr lang="en-US" sz="1550"/>
              <a:t>Rows in backup workbook: 11</a:t>
            </a:r>
          </a:p>
          <a:p>
            <a:r>
              <a:rPr lang="en-US" sz="1550"/>
              <a:t>YUM – Company Overview — Ticker: YUM · Company: Yum! Brands, Inc. · Exchange: NYSE · Currency: USD · Sector: Consumer Discretionary / Restaurants · FY2023 Revenue (USD M): 6842</a:t>
            </a:r>
          </a:p>
          <a:p>
            <a:r>
              <a:rPr lang="en-US" sz="1550"/>
              <a:t>YUM – Income Statement Summary (USD M) — Ticker: YUM · Revenue: 6842 · Operating Income: 1253 · Net Income: 1013 · Currency: USD · Source: YUM-US Income Statement Annual.xlsx</a:t>
            </a:r>
          </a:p>
          <a:p>
            <a:r>
              <a:rPr lang="en-US" sz="1550"/>
              <a:t>YUM – Balance Sheet Summary (USD M) — Ticker: YUM · Total Assets: 6500 · Total Debt: 13800 · Cash &amp; Equivalents: 290 · Shareholders Equity: -5300 · Currency: USD</a:t>
            </a:r>
          </a:p>
          <a:p>
            <a:r>
              <a:rPr lang="en-US" sz="1550"/>
              <a:t>YUM – Cash Flow Summary (USD M) — Ticker: YUM · Operating Cash Flow: 1316 · Capex: 230 · Free Cash Flow: 1086 · Currency: USD · Source: YUM-US Cash Flow Annual.xlsx</a:t>
            </a:r>
          </a:p>
          <a:p>
            <a:r>
              <a:rPr lang="en-US" sz="1550"/>
              <a:t>SBC – Share-Based Compensation Analysis — Entity: SBC · SBC Expense (USD M): 68 · Adjustment Type: Non-cash add-back to operating income · Adjusted Operating Income (Ex-SBC, USD M): 1321 · Currency: USD · Source: YUM-US Income Statement Annual.xlsx; YUM-US Cash Flow Annual.xlsx</a:t>
            </a:r>
          </a:p>
          <a:p>
            <a:r>
              <a:rPr lang="en-US" sz="1550"/>
              <a:t>NOPAT – Net Operating Profit After Tax — Entity: NOPAT · GAAP Operating Income (USD M): 1253 · SBC Add-Back (USD M): 68 · Adjusted Operating Income (USD M): 1321 · Tax Rate (%): 23.5 · NOPAT GAAP (USD M): 958</a:t>
            </a:r>
          </a:p>
          <a:p>
            <a:r>
              <a:rPr lang="en-US" sz="1550"/>
              <a:t>YUM – WACC Calculation — Ticker: YUM · Risk-Free Rate (%): 4.2 · Industry Beta: 0.75 · Equity Risk Premium (%): 6 · Cost Of Equity (%): 8.7 · WACC (%): 8.7</a:t>
            </a:r>
          </a:p>
          <a:p>
            <a:r>
              <a:rPr lang="en-US" sz="1550"/>
              <a:t>YUM – DCF Valuation (USD M) — Ticker: YUM · NOPAT (Adjusted, USD M): 1010 · WACC (%): 8.7 · Terminal Growth Rate (%): 2.5 · Terminal Value (USD M): 16455 · PV Of Terminal Value (USD M): 10802</a:t>
            </a:r>
          </a:p>
          <a:p>
            <a:r>
              <a:rPr lang="en-US" sz="1550"/>
              <a:t>Sources: YUM-US Company Identity.xlsx, YUM-US Income Statement Annual.xlsx, YUM-US Balance Sheet Annual.xlsx, YUM-US Cash Flow Annual.xlsx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YUM Brands (YUM) Valuation &amp; LBO Analysis – DCF, NOPAT, SBC Adjustments (USD)</dc:title>
  <dc:creator>NodeAgent</dc:creator>
</cp:coreProperties>
</file>