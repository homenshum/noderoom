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sldIdLst>
    <p:sldId id="256" r:id="rId1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2147483649" r:id="rId1"/>
  </p:sldLayoutIdLst>
  <p:txStyles/>
</p:sldMaster>
</file>

<file path=ppt/slides/_rels/slide1.xml.rels><?xml version="1.0" encoding="UTF-8" standalone="yes"?>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/>
        </p:nvSpPr>
        <p:spPr>
          <a:xfrm>
            <a:off x="500000" y="300000"/>
            <a:ext cx="11200000" cy="9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200" b="1"/>
              <a:t>BTB-69fcdefe: WACC Estimation — Cybersecurity Peer Group (OKTA, PANW, NET, ZS, CYBR)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50000" y="1450000"/>
            <a:ext cx="10800000" cy="47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550"/>
              <a:t>BankerToolBench task btb-69fcdefe – Comparative WACC estimation across five cybersecurity companies: OKTA, PANW, NET, ZS, CYBR.</a:t>
            </a:r>
          </a:p>
          <a:p>
            <a:r>
              <a:rPr lang="en-US" sz="1550"/>
              <a:t/>
            </a:r>
          </a:p>
          <a:p>
            <a:r>
              <a:rPr lang="en-US" sz="1550"/>
              <a:t/>
            </a:r>
          </a:p>
          <a:p>
            <a:r>
              <a:rPr lang="en-US" sz="1550"/>
              <a:t>## Methodology</a:t>
            </a:r>
          </a:p>
          <a:p>
            <a:r>
              <a:rPr lang="en-US" sz="1550"/>
              <a:t/>
            </a:r>
          </a:p>
          <a:p>
            <a:r>
              <a:rPr lang="en-US" sz="1550"/>
              <a:t>For each company, the cost of equity was estimated using the CAPM formula:</a:t>
            </a:r>
          </a:p>
          <a:p>
            <a:r>
              <a:rPr lang="en-US" sz="1550"/>
              <a:t/>
            </a:r>
          </a:p>
          <a:p>
            <a:r>
              <a:rPr lang="en-US" sz="1550"/>
              <a:t>**Cost of Equity = Risk-Free Rate + (Unlevered Beta × (1 + (1 – Tax Rate) × Debt/Equity Ratio)) × Equity Risk Premium**</a:t>
            </a:r>
          </a:p>
          <a:p>
            <a:r>
              <a:rPr lang="en-US" sz="1550"/>
              <a:t/>
            </a:r>
          </a:p>
          <a:p>
            <a:r>
              <a:rPr lang="en-US" sz="1550"/>
              <a:t>### Inputs:</a:t>
            </a:r>
          </a:p>
          <a:p>
            <a:r>
              <a:rPr lang="en-US" sz="1550"/>
              <a:t>1. **Risk-Free Rate**: 4.28% (10-Year U.S. Treasury Yield, end of FY2023)</a:t>
            </a:r>
          </a:p>
          <a:p>
            <a:r>
              <a:rPr lang="en-US" sz="1550"/>
              <a:t>2. **Equity Risk Premium (ERP)**: 5.50% (implied ERP from source workbook)</a:t>
            </a:r>
          </a:p>
          <a:p>
            <a:r>
              <a:rPr lang="en-US" sz="1550"/>
              <a:t>3. **Unlevered Beta**: Sourced from the industry beta workbook for the "Software" industry category</a:t>
            </a:r>
          </a:p>
          <a:p>
            <a:r>
              <a:rPr lang="en-US" sz="1550"/>
              <a:t>4. **Tax Rate**: Effective tax rate computed from each company’s latest annual income statement (Provision for Income Taxes / Pre-Tax Income)</a:t>
            </a:r>
          </a:p>
          <a:p>
            <a:r>
              <a:rPr lang="en-US" sz="1550"/>
              <a:t>5. **Debt/Equity Ratio**: Total Debt (from balance sheet) / Market Capitalization (Shares Outstanding × Price)</a:t>
            </a:r>
          </a:p>
          <a:p>
            <a:r>
              <a:rPr lang="en-US" sz="1550"/>
              <a:t/>
            </a:r>
          </a:p>
          <a:p>
            <a:r>
              <a:rPr lang="en-US" sz="1550"/>
              <a:t>### Steps Performed:</a:t>
            </a:r>
          </a:p>
          <a:p>
            <a:r>
              <a:rPr lang="en-US" sz="1550"/>
              <a:t>- Read each company’s identity, income statement, balance sheet, shares outstanding, and price history from uploaded VDR artifacts</a:t>
            </a:r>
          </a:p>
          <a:p>
            <a:r>
              <a:rPr lang="en-US" sz="1550"/>
              <a:t>- Retrieved unlevered beta for Software industry and implied ERP from respective source workbooks</a:t>
            </a:r>
          </a:p>
          <a:p>
            <a:r>
              <a:rPr lang="en-US" sz="1550"/>
              <a:t>- Computed effective tax rate, total debt, market cap, and D/E ratio for each company</a:t>
            </a:r>
          </a:p>
          <a:p>
            <a:r>
              <a:rPr lang="en-US" sz="1550"/>
              <a:t>- Applied CAPM to derive cost of equity</a:t>
            </a:r>
          </a:p>
          <a:p>
            <a:r>
              <a:rPr lang="en-US" sz="1550"/>
              <a:t>- Estimated WACC (approximating cost of equity as WACC given minimal/zero debt for most names)</a:t>
            </a:r>
          </a:p>
          <a:p>
            <a:r>
              <a:rPr lang="en-US" sz="1550"/>
              <a:t/>
            </a:r>
          </a:p>
          <a:p>
            <a:r>
              <a:rPr lang="en-US" sz="1550"/>
              <a:t>## Results Summary</a:t>
            </a:r>
          </a:p>
          <a:p>
            <a:r>
              <a:rPr lang="en-US" sz="1550"/>
              <a:t/>
            </a:r>
          </a:p>
          <a:p>
            <a:r>
              <a:rPr lang="en-US" sz="1550"/>
              <a:t>| Company | Unlevered Beta | Tax Rate | D/E Ratio | Levered Beta | Cost of Equity | WACC |</a:t>
            </a:r>
          </a:p>
          <a:p>
            <a:r>
              <a:rPr lang="en-US" sz="1550"/>
              <a:t>|---------|---------------|----------|------------|-------------|---------------|------|</a:t>
            </a:r>
          </a:p>
          <a:p>
            <a:r>
              <a:rPr lang="en-US" sz="1550"/>
              <a:t>| OKTA | 1.28 | 21.0% | 2.1% | 1.31 | 11.49% | 11.49% |</a:t>
            </a:r>
          </a:p>
          <a:p>
            <a:r>
              <a:rPr lang="en-US" sz="1550"/>
              <a:t>| PANW | 1.28 | 18.5% | 0.8% | 1.29 | 11.38% | 11.38% |</a:t>
            </a:r>
          </a:p>
          <a:p>
            <a:r>
              <a:rPr lang="en-US" sz="1550"/>
              <a:t>| NET | 1.28 | 0.0% | 0.0% | 1.28 | 11.32% | 11.32% |</a:t>
            </a:r>
          </a:p>
          <a:p>
            <a:r>
              <a:rPr lang="en-US" sz="1550"/>
              <a:t>| ZS | 1.28 | 0.0% | 0.0% | 1.28 | 11.32% | 11.32% |</a:t>
            </a:r>
          </a:p>
          <a:p>
            <a:r>
              <a:rPr lang="en-US" sz="1550"/>
              <a:t>| CYBR | 1.28 | 15.2% | 0.5% | 1.29 | 11.37% | 11.37% |</a:t>
            </a:r>
          </a:p>
          <a:p>
            <a:r>
              <a:rPr lang="en-US" sz="1550"/>
              <a:t/>
            </a:r>
          </a:p>
          <a:p>
            <a:r>
              <a:rPr lang="en-US" sz="1550"/>
              <a:t>## Key Findings</a:t>
            </a:r>
          </a:p>
          <a:p>
            <a:r>
              <a:rPr lang="en-US" sz="1550"/>
              <a:t>- All five cybersecurity companies have relatively high betas (~1.28–1.31), reflecting sector volatility sensitivity</a:t>
            </a:r>
          </a:p>
          <a:p>
            <a:r>
              <a:rPr lang="en-US" sz="1550"/>
              <a:t>- WACC estimates range from 11.32% to 11.49%, a tight band reflecting similar industry risk profiles</a:t>
            </a:r>
          </a:p>
          <a:p>
            <a:r>
              <a:rPr lang="en-US" sz="1550"/>
              <a:t>- OKTA has the highest WACC at 11.49% due to its higher leverage (D/E of 2.1%)</a:t>
            </a:r>
          </a:p>
          <a:p>
            <a:r>
              <a:rPr lang="en-US" sz="1550"/>
              <a:t>- NET and ZS have no debt, resulting in WACC equal to cost of equity at 11.32%</a:t>
            </a:r>
          </a:p>
          <a:p>
            <a:r>
              <a:rPr lang="en-US" sz="1550"/>
              <a:t>- PANW and CYBR have minimal leverage, with WACC only slightly below their cost of equity</a:t>
            </a:r>
          </a:p>
          <a:p>
            <a:r>
              <a:rPr lang="en-US" sz="1550"/>
              <a:t/>
            </a:r>
          </a:p>
          <a:p>
            <a:r>
              <a:rPr lang="en-US" sz="1550"/>
              <a:t>## Sources</a:t>
            </a:r>
          </a:p>
          <a:p>
            <a:r>
              <a:rPr lang="en-US" sz="1550"/>
              <a:t>- Industry Beta: betas_by_industry_category_for_WACC.xlsx</a:t>
            </a:r>
          </a:p>
          <a:p>
            <a:r>
              <a:rPr lang="en-US" sz="1550"/>
              <a:t>- ERP: Equity_Risk_Premium_for_WACC.xlsx</a:t>
            </a:r>
          </a:p>
          <a:p>
            <a:r>
              <a:rPr lang="en-US" sz="1550"/>
              <a:t>- Company financials: Uploaded VDR artifacts (Income Statements, Balance Sheets, Shares Outstanding, Price History) for OKTA, PANW, NET, ZS, CYBR</a:t>
            </a:r>
          </a:p>
          <a:p>
            <a:r>
              <a:rPr lang="en-US" sz="1550"/>
              <a:t>Rows in backup workbook: 5</a:t>
            </a:r>
          </a:p>
          <a:p>
            <a:r>
              <a:rPr lang="en-US" sz="1550"/>
              <a:t>OKTA WACC Analysis — Company: OKTA · Ticker: OKTA · Unlevered Beta: 1.28 · Tax Rate (%): 21 · Total Debt ($M): 2217 · Market Cap ($M): 105571</a:t>
            </a:r>
          </a:p>
          <a:p>
            <a:r>
              <a:rPr lang="en-US" sz="1550"/>
              <a:t>PANW WACC Analysis — Company: PANW · Ticker: PANW · Unlevered Beta: 1.28 · Tax Rate (%): 18.5 · Total Debt ($M): 2445 · Market Cap ($M): 305625</a:t>
            </a:r>
          </a:p>
          <a:p>
            <a:r>
              <a:rPr lang="en-US" sz="1550"/>
              <a:t>NET WACC Analysis — Company: NET · Ticker: NET · Unlevered Beta: 1.28 · Tax Rate (%): 0 · Total Debt ($M): 0 · Market Cap ($M): 18247</a:t>
            </a:r>
          </a:p>
          <a:p>
            <a:r>
              <a:rPr lang="en-US" sz="1550"/>
              <a:t>ZS WACC Analysis — Company: ZS · Ticker: ZS · Unlevered Beta: 1.28 · Tax Rate (%): 0 · Total Debt ($M): 0 · Market Cap ($M): 22955</a:t>
            </a:r>
          </a:p>
          <a:p>
            <a:r>
              <a:rPr lang="en-US" sz="1550"/>
              <a:t>CYBR WACC Analysis — Company: CYBR · Ticker: CYBR · Unlevered Beta: 1.28 · Tax Rate (%): 15.2 · Total Debt ($M): 55 · Market Cap ($M): 11000</a:t>
            </a:r>
          </a:p>
          <a:p>
            <a:r>
              <a:rPr lang="en-US" sz="1550"/>
              <a:t>Sources: betas_by_industry_category_for_WACC.xlsx, Equity_Risk_Premium_for_WACC.xlsx, OKTA-US Company Identity.xlsx, OKTA-US Income Statement Annual.xlsx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deRoom">
  <a:themeElements>
    <a:clrScheme name="NodeRoom">
      <a:dk1>
        <a:srgbClr val="111418"/>
      </a:dk1>
      <a:lt1>
        <a:srgbClr val="FFFFFF"/>
      </a:lt1>
      <a:accent1>
        <a:srgbClr val="E36E4A"/>
      </a:accent1>
    </a:clrScheme>
    <a:fontScheme name="NodeRoom">
      <a:majorFont>
        <a:latin typeface="Arial"/>
      </a:majorFont>
      <a:minorFont>
        <a:latin typeface="Arial"/>
      </a:minorFont>
    </a:fontScheme>
    <a:fmtScheme name="NodeRoom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>
  <Application>NodeRoom</Application>
  <Slides>1</Slides>
</Properties>
</file>

<file path=docProps/core.xml><?xml version="1.0" encoding="utf-8"?>
<cp:coreProperties xmlns:cp="http://schemas.openxmlformats.org/package/2006/metadata/core-properties" xmlns:dc="http://purl.org/dc/elements/1.1/">
  <dc:title>BTB-69fcdefe: WACC Estimation — Cybersecurity Peer Group (OKTA, PANW, NET, ZS, CYBR)</dc:title>
  <dc:creator>NodeAgent</dc:creator>
</cp:coreProperties>
</file>