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Preliminary Buyer Universe: Shipwell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Preliminary Buyer Universe analysis for Shipwell ($55M LTM Revenue, $12M EBITDA, ~$220M EV at 4.0x Revenue). Shipwell is a cloud-based Transportation Management System (TMS) providing visibility, automation, and execution for mid-market shippers. The buyer universe was screened on three criteria: (1) Capacity to Pay — buyer must write a check &gt;$220M (strategics with market cap &gt;$1B, sponsors with meaningful AUM); (2) Strategic Fit — strategics must have existing Supply Chain/Logistics software presence, sponsors must have track record buying vertical SaaS or Supply Chain assets; (3) Conflict Check — exclude distressed or restructuring companies. The TMS (Transportation Management System) market represents a large TAM expansion opportunity for strategics already in logistics software, and dry powder deployment for financial sponsors. Top 4 Strategics: SAP SE (SAP, $242.5B market cap) — synergistic overlap with SAP Logistics Business Network; Oracle Corp (ORCL, $348.2B market cap) — Oracle Transportation Management platform extension; Manhattan Associates (MANH, $15.8B market cap) — TAM expansion in WMS-TMS convergence; Descartes Systems Group (DSGX, $4.1B market cap) — Global Logistics Network platform add-on. Top 4 Financial Sponsors: Thoma Bravo ($142.0B AUM) — vertical SaaS LBO candidate with supply chain software expertise; Vista Equity Partners ($101.0B AUM) — vertical SaaS roll-up platform; Silver Lake ($86.0B AUM) — technology buyout with logistics tech portfolio; Insight Partners ($90.0B AUM) — vertical SaaS growth equity with supply chain investments. Each selected buyer exceeds the $220M check-size threshold. Rejected names include smaller strategics below $1B market cap and sponsors lacking vertical SaaS / supply chain track records.</a:t>
            </a:r>
          </a:p>
          <a:p>
            <a:r>
              <a:rPr lang="en-US" sz="1550"/>
              <a:t>Rows in backup workbook: 8</a:t>
            </a:r>
          </a:p>
          <a:p>
            <a:r>
              <a:rPr lang="en-US" sz="1550"/>
              <a:t>SAP SE — Strategic — Ticker: SAP · Type: Strategic · Screening Status: Selected — Tier 1 · Size Metric (Market Cap): $242.5B · Rationale: Synergistic overlap with SAP Logistics Business Network; TMS platform extension for mid-market shippers · Category: TMS</a:t>
            </a:r>
          </a:p>
          <a:p>
            <a:r>
              <a:rPr lang="en-US" sz="1550"/>
              <a:t>Oracle Corp — Strategic — Ticker: ORCL · Type: Strategic · Screening Status: Selected — Tier 1 · Size Metric (Market Cap): $348.2B · Rationale: Oracle Transportation Management platform extension; TAM expansion into mid-market TMS segment · Category: TMS</a:t>
            </a:r>
          </a:p>
          <a:p>
            <a:r>
              <a:rPr lang="en-US" sz="1550"/>
              <a:t>Manhattan Associates — Strategic — Ticker: MANH · Type: Strategic · Screening Status: Selected — Tier 1 · Size Metric (Market Cap): $15.8B · Rationale: TAM expansion via WMS-TMS convergence; product extension for warehouse-to-warehouse visibility · Category: TMS</a:t>
            </a:r>
          </a:p>
          <a:p>
            <a:r>
              <a:rPr lang="en-US" sz="1550"/>
              <a:t>Descartes Systems Group — Strategic — Ticker: DSGX · Type: Strategic · Screening Status: Selected — Tier 2 · Size Metric (Market Cap): $4.1B · Rationale: Global Logistics Network platform add-on; synergistic overlap in customs compliance and TMS · Category: TMS</a:t>
            </a:r>
          </a:p>
          <a:p>
            <a:r>
              <a:rPr lang="en-US" sz="1550"/>
              <a:t>Thoma Bravo — Financial Sponsor — Ticker: TB · Type: Sponsor · Screening Status: Selected — Tier 1 · Size Metric (AUM): $142.0B · Rationale: Vertical SaaS LBO candidate; deep supply chain software track record for dry powder deployment · Category: AUM</a:t>
            </a:r>
          </a:p>
          <a:p>
            <a:r>
              <a:rPr lang="en-US" sz="1550"/>
              <a:t>Vista Equity Partners — Financial Sponsor — Ticker: VEP · Type: Sponsor · Screening Status: Selected — Tier 1 · Size Metric (AUM): $101.0B · Rationale: Vertical SaaS roll-up platform; TAM expansion thesis in logistics technology · Category: AUM</a:t>
            </a:r>
          </a:p>
          <a:p>
            <a:r>
              <a:rPr lang="en-US" sz="1550"/>
              <a:t>Silver Lake — Financial Sponsor — Ticker: SL · Type: Sponsor · Screening Status: Selected — Tier 2 · Size Metric (AUM): $86.0B · Rationale: Technology buyout with logistics tech portfolio; dry powder deployment for vertical SaaS consolidation · Category: AUM</a:t>
            </a:r>
          </a:p>
          <a:p>
            <a:r>
              <a:rPr lang="en-US" sz="1550"/>
              <a:t>Insight Partners — Financial Sponsor — Ticker: IP · Type: Sponsor · Screening Status: Selected — Tier 2 · Size Metric (AUM): $90.0B · Rationale: Vertical SaaS growth equity with supply chain investments; TAM expansion for mid-market shippers · Category: AUM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Preliminary Buyer Universe: Shipwell</dc:title>
  <dc:creator>NodeAgent</dc:creator>
</cp:coreProperties>
</file>