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TJX Companies (NYSE: TJX) Sources &amp; Uses Analysis with Balance Sheet (BS) and Analyst Basic Consensus (ABC) Estimates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TJX Companies (NYSE: TJX) Sources and Uses Analysis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This package covers all four requested entities:</a:t>
            </a:r>
          </a:p>
          <a:p>
            <a:r>
              <a:rPr lang="en-US" sz="1550"/>
              <a:t>1. TJX - The TJX Companies, a publicly traded company</a:t>
            </a:r>
          </a:p>
          <a:p>
            <a:r>
              <a:rPr lang="en-US" sz="1550"/>
              <a:t>2. NYSE - The New York Stock Exchange, where TJX is listed</a:t>
            </a:r>
          </a:p>
          <a:p>
            <a:r>
              <a:rPr lang="en-US" sz="1550"/>
              <a:t>3. BS - Balance Sheet analysis of TJX</a:t>
            </a:r>
          </a:p>
          <a:p>
            <a:r>
              <a:rPr lang="en-US" sz="1550"/>
              <a:t>4. ABC - Analyst Basic Consensus estimates for TJX revenue and earnings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Sources include TJX-US Company Identity, Balance Sheet Annual, Income Statement Annual, Cash Flow Annual, Shares Outstanding, Price History, Revenue Estimate, Earnings Estimate, Betas by Industry Category, and Equity Risk Premium workbooks.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Key computed metrics:</a:t>
            </a:r>
          </a:p>
          <a:p>
            <a:r>
              <a:rPr lang="en-US" sz="1550"/>
              <a:t>- TJX shares outstanding: 1,151,000,000</a:t>
            </a:r>
          </a:p>
          <a:p>
            <a:r>
              <a:rPr lang="en-US" sz="1550"/>
              <a:t>- TJX stock price (latest): 118.83</a:t>
            </a:r>
          </a:p>
          <a:p>
            <a:r>
              <a:rPr lang="en-US" sz="1550"/>
              <a:t>- TJX market capitalization: approximately 136.7 billion</a:t>
            </a:r>
          </a:p>
          <a:p>
            <a:r>
              <a:rPr lang="en-US" sz="1550"/>
              <a:t>- TJX total debt (from BS): 2,022,000,000</a:t>
            </a:r>
          </a:p>
          <a:p>
            <a:r>
              <a:rPr lang="en-US" sz="1550"/>
              <a:t>- TJX cash and equivalents (from BS): 3,564,000,000</a:t>
            </a:r>
          </a:p>
          <a:p>
            <a:r>
              <a:rPr lang="en-US" sz="1550"/>
              <a:t>- TJX net cash position: 1,542,000,000</a:t>
            </a:r>
          </a:p>
          <a:p>
            <a:r>
              <a:rPr lang="en-US" sz="1550"/>
              <a:t>- TJX enterprise value: approximately 135.2 billion</a:t>
            </a:r>
          </a:p>
          <a:p>
            <a:r>
              <a:rPr lang="en-US" sz="1550"/>
              <a:t>- ABC revenue estimate (next fiscal year): 56,400,000,000</a:t>
            </a:r>
          </a:p>
          <a:p>
            <a:r>
              <a:rPr lang="en-US" sz="1550"/>
              <a:t>- ABC EPS estimate (next fiscal year): 4.19</a:t>
            </a:r>
          </a:p>
          <a:p>
            <a:r>
              <a:rPr lang="en-US" sz="1550"/>
              <a:t>- TJX revenue (latest fiscal year): 54,219,000,000</a:t>
            </a:r>
          </a:p>
          <a:p>
            <a:r>
              <a:rPr lang="en-US" sz="1550"/>
              <a:t>- TJX net income (latest fiscal year): 4,473,000,000</a:t>
            </a:r>
          </a:p>
          <a:p>
            <a:r>
              <a:rPr lang="en-US" sz="1550"/>
              <a:t>- TJX operating income (latest fiscal year): 5,728,000,000</a:t>
            </a:r>
          </a:p>
          <a:p>
            <a:r>
              <a:rPr lang="en-US" sz="1550"/>
              <a:t>- TJX total assets (from BS): 14,348,000,000</a:t>
            </a:r>
          </a:p>
          <a:p>
            <a:r>
              <a:rPr lang="en-US" sz="1550"/>
              <a:t>- TJX total liabilities (from BS): 7,856,000,000</a:t>
            </a:r>
          </a:p>
          <a:p>
            <a:r>
              <a:rPr lang="en-US" sz="1550"/>
              <a:t>- TJX total equity (from BS): 6,492,000,000</a:t>
            </a:r>
          </a:p>
          <a:p>
            <a:r>
              <a:rPr lang="en-US" sz="1550"/>
              <a:t>- Industry beta used for WACC: 0.87</a:t>
            </a:r>
          </a:p>
          <a:p>
            <a:r>
              <a:rPr lang="en-US" sz="1550"/>
              <a:t>- Equity risk premium used for WACC: 5.50%</a:t>
            </a:r>
          </a:p>
          <a:p>
            <a:r>
              <a:rPr lang="en-US" sz="1550"/>
              <a:t>- Cost of equity (CAPM): 6.63%</a:t>
            </a:r>
          </a:p>
          <a:p>
            <a:r>
              <a:rPr lang="en-US" sz="1550"/>
              <a:t>- After-tax cost of debt: 3.92%</a:t>
            </a:r>
          </a:p>
          <a:p>
            <a:r>
              <a:rPr lang="en-US" sz="1550"/>
              <a:t>- WACC: 6.44%</a:t>
            </a:r>
          </a:p>
          <a:p>
            <a:r>
              <a:rPr lang="en-US" sz="1550"/>
              <a:t/>
            </a:r>
          </a:p>
          <a:p>
            <a:r>
              <a:rPr lang="en-US" sz="1550"/>
              <a:t>Sources of Funds: Cash from operations, debt issuance, equity issuance</a:t>
            </a:r>
          </a:p>
          <a:p>
            <a:r>
              <a:rPr lang="en-US" sz="1550"/>
              <a:t>Uses of Funds: Capital expenditures, dividends, share repurchases, debt repayment, working capital investment</a:t>
            </a:r>
          </a:p>
          <a:p>
            <a:r>
              <a:rPr lang="en-US" sz="1550"/>
              <a:t>Rows in backup workbook: 8</a:t>
            </a:r>
          </a:p>
          <a:p>
            <a:r>
              <a:rPr lang="en-US" sz="1550"/>
              <a:t>TJX - Market Capitalization — Ticker: TJX · Exchange: NYSE · Shares Outstanding: 1151000000 · Stock Price: 118.83 · Market Cap: 136729330000 · Source: TJX-US Price History.xlsx, TJX-US Shares Outstanding.xlsx</a:t>
            </a:r>
          </a:p>
          <a:p>
            <a:r>
              <a:rPr lang="en-US" sz="1550"/>
              <a:t>TJX - Balance Sheet (BS) Summary — Ticker: TJX · Total Assets: 14348000000 · Total Liabilities: 7856000000 · Total Equity: 6492000000 · Total Debt: 2022000000 · Cash And Equivalents: 3564000000</a:t>
            </a:r>
          </a:p>
          <a:p>
            <a:r>
              <a:rPr lang="en-US" sz="1550"/>
              <a:t>TJX - Income Statement Summary — Ticker: TJX · Revenue: 54219000000 · Operating Income: 5728000000 · Net Income: 4473000000 · Source: TJX-US Income Statement Annual.xlsx</a:t>
            </a:r>
          </a:p>
          <a:p>
            <a:r>
              <a:rPr lang="en-US" sz="1550"/>
              <a:t>ABC - Analyst Basic Consensus Estimates — Ticker: TJX · Revenue Estimate Next Fy: 56400000000 · Eps Estimate Next Fy: 4.19 · Revenue Growth Pct: 4 · Source: TJX-US Revenue Estimate.xlsx, TJX-US Earnings Estimate.xlsx</a:t>
            </a:r>
          </a:p>
          <a:p>
            <a:r>
              <a:rPr lang="en-US" sz="1550"/>
              <a:t>NYSE - Exchange Listing — Ticker: TJX · Exchange: NYSE · Entity: New York Stock Exchange · Source: TJX-US Company Identity.xlsx</a:t>
            </a:r>
          </a:p>
          <a:p>
            <a:r>
              <a:rPr lang="en-US" sz="1550"/>
              <a:t>TJX - WACC Calculation — Ticker: TJX · Industry Beta: 0.87 · Equity Risk Premium Pct: 5.5 · Cost Of Equity Pct: 6.63 · After Tax Cost Of Debt Pct: 3.92 · Wacc Pct: 6.44</a:t>
            </a:r>
          </a:p>
          <a:p>
            <a:r>
              <a:rPr lang="en-US" sz="1550"/>
              <a:t>TJX - Enterprise Value — Ticker: TJX · Market Cap: 136729330000 · Total Debt: 2022000000 · Cash: 3564000000 · Enterprise Value: 135187330000 · Source: Computed from BS and Price History</a:t>
            </a:r>
          </a:p>
          <a:p>
            <a:r>
              <a:rPr lang="en-US" sz="1550"/>
              <a:t>TJX - Cash Flow Summary — Ticker: TJX · Operating Cash Flow: 5167000000 · Capital Expenditures: 1700000000 · Free Cash Flow: 3467000000 · Source: TJX-US Cash Flow Annual.xlsx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TJX Companies (NYSE: TJX) Sources &amp; Uses Analysis with Balance Sheet (BS) and Analyst Basic Consensus (ABC) Estimates</dc:title>
  <dc:creator>NodeAgent</dc:creator>
</cp:coreProperties>
</file>