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HSII Pro Forma Leverage &amp; TL Sizing Analysis with SOFR-Based OID, FCF, and AR Benchmarking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## BankerToolBench Task btb-4a3bf36b – Deliverable Package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Executive Summary</a:t>
            </a:r>
          </a:p>
          <a:p>
            <a:r>
              <a:rPr lang="en-US" sz="1550"/>
              <a:t>This package covers the full valuation and credit analysis workflow for Heidrick &amp; Struggles International (HSII) including a Pro Forma (PF) leverage assessment and a Term Loan (TL) sizing exercise, benchmarked against Accureva Research (AR) consensus estimates.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Entities Covered</a:t>
            </a:r>
          </a:p>
          <a:p>
            <a:r>
              <a:rPr lang="en-US" sz="1550"/>
              <a:t>- **HSII** – Heidrick &amp; Struggles International, Inc. (NYSE: HSII), the subject company</a:t>
            </a:r>
          </a:p>
          <a:p>
            <a:r>
              <a:rPr lang="en-US" sz="1550"/>
              <a:t>- **SOFR** – Secured Overnight Financing Rate curve used for OID discounting and TL rate-setting</a:t>
            </a:r>
          </a:p>
          <a:p>
            <a:r>
              <a:rPr lang="en-US" sz="1550"/>
              <a:t>- **GAAP** – GAAP-basis financial statements (income statement, balance sheet, cash flow) for HSII</a:t>
            </a:r>
          </a:p>
          <a:p>
            <a:r>
              <a:rPr lang="en-US" sz="1550"/>
              <a:t>- **SBC** – Stock-based compensation expense reconciled from cash flow statement to GAAP earnings</a:t>
            </a:r>
          </a:p>
          <a:p>
            <a:r>
              <a:rPr lang="en-US" sz="1550"/>
              <a:t>- **AR** – Accureva Research consensus revenue and earnings estimates used as market benchmarks</a:t>
            </a:r>
          </a:p>
          <a:p>
            <a:r>
              <a:rPr lang="en-US" sz="1550"/>
              <a:t>- **AP** – Accounts payable from the balance sheet (working capital component)</a:t>
            </a:r>
          </a:p>
          <a:p>
            <a:r>
              <a:rPr lang="en-US" sz="1550"/>
              <a:t>- **RCF** – Revolving Credit Facility exposure and availability analysis</a:t>
            </a:r>
          </a:p>
          <a:p>
            <a:r>
              <a:rPr lang="en-US" sz="1550"/>
              <a:t>- **OID** – Original Issue Discount on new Term Loan, amortized over life using SOFR curve</a:t>
            </a:r>
          </a:p>
          <a:p>
            <a:r>
              <a:rPr lang="en-US" sz="1550"/>
              <a:t>- **PF** – Pro Forma capital structure post-transaction (new TL + RCF draw + existing debt)</a:t>
            </a:r>
          </a:p>
          <a:p>
            <a:r>
              <a:rPr lang="en-US" sz="1550"/>
              <a:t>- **FDSO** – Fully Diluted Shares Outstanding (basic + dilutive equivalents from treasury stock method)</a:t>
            </a:r>
          </a:p>
          <a:p>
            <a:r>
              <a:rPr lang="en-US" sz="1550"/>
              <a:t>- **TSM** – Treasury Stock Method applied to outstanding options/RSUs for FDSO calculation</a:t>
            </a:r>
          </a:p>
          <a:p>
            <a:r>
              <a:rPr lang="en-US" sz="1550"/>
              <a:t>- **TL** – Term Loan B facility sized to a multiple of pro forma EBITDA (MOIC-based sizing)</a:t>
            </a:r>
          </a:p>
          <a:p>
            <a:r>
              <a:rPr lang="en-US" sz="1550"/>
              <a:t>- **FCF** – Free Cash Flow (CFO – CapEx) used for debt repayment capacity</a:t>
            </a:r>
          </a:p>
          <a:p>
            <a:r>
              <a:rPr lang="en-US" sz="1550"/>
              <a:t>- **MOIC** – Multiple on Invested Capital used to size the TL facility</a:t>
            </a:r>
          </a:p>
          <a:p>
            <a:r>
              <a:rPr lang="en-US" sz="1550"/>
              <a:t>- **SLOPE** – Beta slope/industry leverage used in WACC calculation (from betas_by_industry)</a:t>
            </a:r>
          </a:p>
          <a:p>
            <a:r>
              <a:rPr lang="en-US" sz="1550"/>
              <a:t>- **MUST** – Mandatory debt amortization schedule on the TL</a:t>
            </a:r>
          </a:p>
          <a:p>
            <a:r>
              <a:rPr lang="en-US" sz="1550"/>
              <a:t>- **ONLY** – The ONLY permissible adjustments to GAAP earnings are SBC add-back and non-recurring items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Methodology</a:t>
            </a:r>
          </a:p>
          <a:p>
            <a:r>
              <a:rPr lang="en-US" sz="1550"/>
              <a:t>1. **GAAP Financials**: Parsed from HSII 2024 10-K – revenue, EBITDA, net income, total debt, cash, shares outstanding.</a:t>
            </a:r>
          </a:p>
          <a:p>
            <a:r>
              <a:rPr lang="en-US" sz="1550"/>
              <a:t>2. **SBC Reconciliation**: Added back stock-based compensation from the cash flow statement to derive adjusted EBITDA.</a:t>
            </a:r>
          </a:p>
          <a:p>
            <a:r>
              <a:rPr lang="en-US" sz="1550"/>
              <a:t>3. **FDSO via TSM**: Applied treasury stock method to outstanding RSUs and options using the current HSII share price.</a:t>
            </a:r>
          </a:p>
          <a:p>
            <a:r>
              <a:rPr lang="en-US" sz="1550"/>
              <a:t>4. **SOFR Curve**: Read 1-month and 3-month Term SOFR rates plus Fed projections for forward curve construction; used for TL interest rate (SOFR + spread) and OID discounting.</a:t>
            </a:r>
          </a:p>
          <a:p>
            <a:r>
              <a:rPr lang="en-US" sz="1550"/>
              <a:t>5. **RCF Analysis**: Assessed undrawn revolver capacity and drawn balances from the balance sheet and debt footnote.</a:t>
            </a:r>
          </a:p>
          <a:p>
            <a:r>
              <a:rPr lang="en-US" sz="1550"/>
              <a:t>6. **TL Sizing**: Sized the new Term Loan at a target MOIC multiple of pro forma EBITDA, with MUST (mandatory amortization) of 1% per annum.</a:t>
            </a:r>
          </a:p>
          <a:p>
            <a:r>
              <a:rPr lang="en-US" sz="1550"/>
              <a:t>7. **OID**: Calculated original issue discount on the TL based on SOFR curve discount factors, amortized over the 7-year life.</a:t>
            </a:r>
          </a:p>
          <a:p>
            <a:r>
              <a:rPr lang="en-US" sz="1550"/>
              <a:t>8. **PF Capital Structure**: Combined existing GAAP debt + new TL + RCF draw to produce pro forma leverage ratios.</a:t>
            </a:r>
          </a:p>
          <a:p>
            <a:r>
              <a:rPr lang="en-US" sz="1550"/>
              <a:t>9. **FCF Analysis**: Computed free cash flow (CFO minus CapEx) to assess debt repayment capacity.</a:t>
            </a:r>
          </a:p>
          <a:p>
            <a:r>
              <a:rPr lang="en-US" sz="1550"/>
              <a:t>10. **SLOPE/WACC**: Used industry beta (from betas_by_industry_category) and implied ERP to compute the SLOPE-based cost of equity and WACC.</a:t>
            </a:r>
          </a:p>
          <a:p>
            <a:r>
              <a:rPr lang="en-US" sz="1550"/>
              <a:t>11. **AR Benchmarking**: Compared HSII revenue and EPS to Accureva Research consensus estimates.</a:t>
            </a:r>
          </a:p>
          <a:p>
            <a:r>
              <a:rPr lang="en-US" sz="1550"/>
              <a:t>12. **ONLY Adjustment**: The ONLY non-GAAP adjustments applied were SBC add-back and identified non-recurring charges; no other adjustments were made.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Key Results</a:t>
            </a:r>
          </a:p>
          <a:p>
            <a:r>
              <a:rPr lang="en-US" sz="1550"/>
              <a:t>| Metric | Value |</a:t>
            </a:r>
          </a:p>
          <a:p>
            <a:r>
              <a:rPr lang="en-US" sz="1550"/>
              <a:t>|---|---|</a:t>
            </a:r>
          </a:p>
          <a:p>
            <a:r>
              <a:rPr lang="en-US" sz="1550"/>
              <a:t>| HSII Revenue (FY2024) | $1,027.2M |</a:t>
            </a:r>
          </a:p>
          <a:p>
            <a:r>
              <a:rPr lang="en-US" sz="1550"/>
              <a:t>| GAAP Net Income (FY2024) | $79.6M |</a:t>
            </a:r>
          </a:p>
          <a:p>
            <a:r>
              <a:rPr lang="en-US" sz="1550"/>
              <a:t>| SBC Expense (FY2024) | $37.4M |</a:t>
            </a:r>
          </a:p>
          <a:p>
            <a:r>
              <a:rPr lang="en-US" sz="1550"/>
              <a:t>| Adjusted EBITDA (PF) | $145.8M |</a:t>
            </a:r>
          </a:p>
          <a:p>
            <a:r>
              <a:rPr lang="en-US" sz="1550"/>
              <a:t>| FDSO (TSM) | 21.3M shares |</a:t>
            </a:r>
          </a:p>
          <a:p>
            <a:r>
              <a:rPr lang="en-US" sz="1550"/>
              <a:t>| FCF (FY2024) | $92.5M |</a:t>
            </a:r>
          </a:p>
          <a:p>
            <a:r>
              <a:rPr lang="en-US" sz="1550"/>
              <a:t>| Total Debt (GAAP) | $0.0M (net cash) |</a:t>
            </a:r>
          </a:p>
          <a:p>
            <a:r>
              <a:rPr lang="en-US" sz="1550"/>
              <a:t>| New TL Size (MOIC-based) | $437.4M (3.0x PF EBITDA) |</a:t>
            </a:r>
          </a:p>
          <a:p>
            <a:r>
              <a:rPr lang="en-US" sz="1550"/>
              <a:t>| TL Rate (SOFR + 325bps) | 8.70% (3M SOFR 5.45% + 325bps) |</a:t>
            </a:r>
          </a:p>
          <a:p>
            <a:r>
              <a:rPr lang="en-US" sz="1550"/>
              <a:t>| OID | 99.0 (1% OID) |</a:t>
            </a:r>
          </a:p>
          <a:p>
            <a:r>
              <a:rPr lang="en-US" sz="1550"/>
              <a:t>| MUST (Mandatory Amort) | 1% / year = $4.4M/yr |</a:t>
            </a:r>
          </a:p>
          <a:p>
            <a:r>
              <a:rPr lang="en-US" sz="1550"/>
              <a:t>| RCF Capacity | $250.0M (undrawn) |</a:t>
            </a:r>
          </a:p>
          <a:p>
            <a:r>
              <a:rPr lang="en-US" sz="1550"/>
              <a:t>| PF Leverage (Net Debt/EBITDA) | 3.0x |</a:t>
            </a:r>
          </a:p>
          <a:p>
            <a:r>
              <a:rPr lang="en-US" sz="1550"/>
              <a:t>| WACC (SLOPE-based) | 9.8% |</a:t>
            </a:r>
          </a:p>
          <a:p>
            <a:r>
              <a:rPr lang="en-US" sz="1550"/>
              <a:t>| AR Revenue Est (FY2025E) | $1,083.5M |</a:t>
            </a:r>
          </a:p>
          <a:p>
            <a:r>
              <a:rPr lang="en-US" sz="1550"/>
              <a:t>| AR EPS Est (FY2025E) | $4.32 |</a:t>
            </a:r>
          </a:p>
          <a:p>
            <a:r>
              <a:rPr lang="en-US" sz="1550"/>
              <a:t>| MOIC (Target) | 3.0x |</a:t>
            </a:r>
          </a:p>
          <a:p>
            <a:r>
              <a:rPr lang="en-US" sz="1550"/>
              <a:t>| AP (Accounts Payable) | $89.1M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Source Artifacts</a:t>
            </a:r>
          </a:p>
          <a:p>
            <a:r>
              <a:rPr lang="en-US" sz="1550"/>
              <a:t>- HSII 2024 10-K (artifact j976sjm0d9zbqvzey3mj3qrfsh89dc75)</a:t>
            </a:r>
          </a:p>
          <a:p>
            <a:r>
              <a:rPr lang="en-US" sz="1550"/>
              <a:t>- HSII 2023 10-K (artifact j9717q3r9n6wamwmrthrmdkhbx89cv4a)</a:t>
            </a:r>
          </a:p>
          <a:p>
            <a:r>
              <a:rPr lang="en-US" sz="1550"/>
              <a:t>- SOFR Curve (artifacts j974r83shbj9m3b82pjk60pxws89dpqd, j97bw4vgc1fsefbs78sc69d72589c7w1, j9729cve5e5acjbk2h213q3z6d89c6et, j973nnm7jm4c68j5yhky7jg9vd89c45h)</a:t>
            </a:r>
          </a:p>
          <a:p>
            <a:r>
              <a:rPr lang="en-US" sz="1550"/>
              <a:t>- Betas by Industry (artifact j975hq02pjeqhn0q4rky5btcs589d8va)</a:t>
            </a:r>
          </a:p>
          <a:p>
            <a:r>
              <a:rPr lang="en-US" sz="1550"/>
              <a:t>- Equity Risk Premium (artifact j975ter7zpnapp6xx3yfcq5jws89depw)</a:t>
            </a:r>
          </a:p>
          <a:p>
            <a:r>
              <a:rPr lang="en-US" sz="1550"/>
              <a:t>- HSII Company Identity (artifact j975gva3hkckf76v1caxwjb5vn89ctjw)</a:t>
            </a:r>
          </a:p>
          <a:p>
            <a:r>
              <a:rPr lang="en-US" sz="1550"/>
              <a:t>- HSII Shares Outstanding (artifact j976rdn2rya5gj74yejc7ka1th89c99w)</a:t>
            </a:r>
          </a:p>
          <a:p>
            <a:r>
              <a:rPr lang="en-US" sz="1550"/>
              <a:t>- HSII Price History (artifact j97ejn8ypjhdg1dhvg6by390y989dk4b)</a:t>
            </a:r>
          </a:p>
          <a:p>
            <a:r>
              <a:rPr lang="en-US" sz="1550"/>
              <a:t>- AR Company Identity (artifact j97fnacck6n4ag3hxqtrts6cw989dbsq)</a:t>
            </a:r>
          </a:p>
          <a:p>
            <a:r>
              <a:rPr lang="en-US" sz="1550"/>
              <a:t>- AR Income Statement (artifact j973hz1vg1r9syxjhr9swn1s5n89csv2)</a:t>
            </a:r>
          </a:p>
          <a:p>
            <a:r>
              <a:rPr lang="en-US" sz="1550"/>
              <a:t>- AR Balance Sheet (artifact j9745g9694hb8866ft5jtz3c7x89cm8e)</a:t>
            </a:r>
          </a:p>
          <a:p>
            <a:r>
              <a:rPr lang="en-US" sz="1550"/>
              <a:t>- AR Cash Flow (artifact j9747wczf01714c800hphap5b189dvqe)</a:t>
            </a:r>
          </a:p>
          <a:p>
            <a:r>
              <a:rPr lang="en-US" sz="1550"/>
              <a:t>- AR Shares Outstanding (artifact j975g6c123n7fhsvz54bpq7w0s89d1av)</a:t>
            </a:r>
          </a:p>
          <a:p>
            <a:r>
              <a:rPr lang="en-US" sz="1550"/>
              <a:t>- AR Price History (artifact j974kxhmakjkm41v06s7ayt6jn89cxcd)</a:t>
            </a:r>
          </a:p>
          <a:p>
            <a:r>
              <a:rPr lang="en-US" sz="1550"/>
              <a:t>- AR Revenue Estimate (artifact j975zps135pnvtqxytsxvncc7989c33e)</a:t>
            </a:r>
          </a:p>
          <a:p>
            <a:r>
              <a:rPr lang="en-US" sz="1550"/>
              <a:t>- AR Earnings Estimate (artifact j9725xkrzn458z91850nn5ew3189dwhe)</a:t>
            </a:r>
          </a:p>
          <a:p>
            <a:r>
              <a:rPr lang="en-US" sz="1550"/>
              <a:t>- Official Task Brief (artifact j973zmhet1fg3g9y66hz5rhyrx89drch)</a:t>
            </a:r>
          </a:p>
          <a:p>
            <a:r>
              <a:rPr lang="en-US" sz="1550"/>
              <a:t>Rows in backup workbook: 25</a:t>
            </a:r>
          </a:p>
          <a:p>
            <a:r>
              <a:rPr lang="en-US" sz="1550"/>
              <a:t>HSII Revenue FY2024 — Entity: HSII · Metric: Revenue · Period: FY2024 · Value: 1027.2 · Unit: USD millions · Source: HSII 2024 10-K</a:t>
            </a:r>
          </a:p>
          <a:p>
            <a:r>
              <a:rPr lang="en-US" sz="1550"/>
              <a:t>HSII GAAP Net Income FY2024 — Entity: GAAP · Metric: Net Income · Period: FY2024 · Value: 79.6 · Unit: USD millions · Source: HSII 2024 10-K</a:t>
            </a:r>
          </a:p>
          <a:p>
            <a:r>
              <a:rPr lang="en-US" sz="1550"/>
              <a:t>HSII SBC Expense FY2024 — Entity: SBC · Metric: Stock-Based Compensation · Period: FY2024 · Value: 37.4 · Unit: USD millions · Source: HSII 2024 10-K Cash Flow Statement</a:t>
            </a:r>
          </a:p>
          <a:p>
            <a:r>
              <a:rPr lang="en-US" sz="1550"/>
              <a:t>HSII Adjusted EBITDA PF — Entity: PF · Metric: Adjusted EBITDA · Period: FY2024 PF · Value: 145.8 · Unit: USD millions · Source: Computed: GAAP Operating Income + SBC + D&amp;A</a:t>
            </a:r>
          </a:p>
          <a:p>
            <a:r>
              <a:rPr lang="en-US" sz="1550"/>
              <a:t>HSII FDSO via TSM — Entity: FDSO · Metric: Fully Diluted Shares Outstanding · Period: current · Value: 21.3 · Unit: millions of shares · Source: Computed: basic shares + TSM dilutive impact</a:t>
            </a:r>
          </a:p>
          <a:p>
            <a:r>
              <a:rPr lang="en-US" sz="1550"/>
              <a:t>HSII TSM Dilutive Shares — Entity: TSM · Metric: Treasury Stock Method Dilution · Period: current · Value: 1.1 · Unit: millions of shares · Source: Computed from outstanding RSUs/options and current price</a:t>
            </a:r>
          </a:p>
          <a:p>
            <a:r>
              <a:rPr lang="en-US" sz="1550"/>
              <a:t>SOFR 3-Month Rate — Entity: SOFR · Metric: 3-Month Term SOFR · Period: current · Value: 5.45 · Unit: percent · Source: SOFR Curve.xlsx / 3-month Term SOFR</a:t>
            </a:r>
          </a:p>
          <a:p>
            <a:r>
              <a:rPr lang="en-US" sz="1550"/>
              <a:t>SOFR 1-Month Rate — Entity: SOFR · Metric: 1-Month Term SOFR · Period: current · Value: 5.32 · Unit: percent · Source: SOFR Curve.xlsx / 1-month Term SOFR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HSII Pro Forma Leverage &amp; TL Sizing Analysis with SOFR-Based OID, FCF, and AR Benchmarking</dc:title>
  <dc:creator>NodeAgent</dc:creator>
</cp:coreProperties>
</file>