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OXY $2.5B 10-Year Senior Unsecured Issuance — Rating Agency Presentation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Investment Banking Analyst (DCM) deliverable for Occidental Petroleum (NYSE: OXY) — $2.5B 10-year senior unsecured bond issuance Rating Agency Presentation. Prepared for Moody's, S&amp;P, and Fitch. As-of date: 1/20/2025; latest fiscal year: FY2024A.\n\nCOVERAGE: DCM (Debt Capital Markets — analyst function preparing this presentation), NYSE (exchange listing for OXY common stock), OXY (Occidental Petroleum, the issuer/client), FCF (Free Cash Flow — key credit metric bridged from CFO − Capex and used in FCF/Debt ratios).\n\nKEY OUTPUTS COMPUTED FROM UPLOADED SOURCE FILES:\n• Key Credit Metrics table FY2021A–FY2024A: Revenue, EBITDA, CFO, Capex, FCF, Total Debt (excl. leases), Cash, Net Debt, Net Debt/EBITDA, EBITDA/Interest.\n• Price history volatility proxy: beginning price, ending price, % change, max intra-period drawdown per year FY2021A–FY2024A.\n• CFO→FCF bridge: CFO − Capex = FCF, then dividends/buybacks FY2021A–FY2024A.\n• Debt maturity schedule from OXY 10-K (year-bucketed amounts, secured vs unsecured).\n• 12-month Sources &amp; Uses table (1/20/2025–1/19/2026): cash, new issuance proceeds, revolver availability, projected CFO, maturities, capex, dividends.\n• Pro forma credit impact: $2.5B unsecured notes added 1/20/2026; earliest maturities refinanced; residual cash to balance sheet; interest held constant at weighted average rate of remaining unsecured debt.\n• Pre vs Post metrics: Net Debt/EBITDA, EBITDA/Interest, FCF/Debt (pre as of 12/31/2024).\n• Base vs Downside: EBITDA decline = largest YoY % decline FY2021A–FY2024A applied.\n• Appendix: definitions of EBITDA, Net Debt, FCF, Interest Expense; Actual/Pre/Post pro forma metric table.\n\nDELIVERABLES: .xlsx (credit metrics workbook), .xlsm (pro forma model), .pptx (8-slide deck), .docx (analyst memo), .pdf (presentation export), manifest.json.</a:t>
            </a:r>
          </a:p>
          <a:p>
            <a:r>
              <a:rPr lang="en-US" sz="1550"/>
              <a:t>Rows in backup workbook: 18</a:t>
            </a:r>
          </a:p>
          <a:p>
            <a:r>
              <a:rPr lang="en-US" sz="1550"/>
              <a:t>Issuer &amp; Listing — Company: Occidental Petroleum · Ticker: OXY · Exchange: NYSE · Role: DCM — Rating Agency Presentation · Use Of Proceeds: $2.5B 10-Year Senior Unsecured — refinance earliest maturities, extend duration · As Of Date: 1/20/2025</a:t>
            </a:r>
          </a:p>
          <a:p>
            <a:r>
              <a:rPr lang="en-US" sz="1550"/>
              <a:t>Key Credit Metrics — FY2021A — Revenue USDmm: 19922 · EBITDA USDmm: 13319 · CFO USDmm: 10635 · Capex USDmm: 5792 · FCF USDmm: 4843 · Total Debt Excl Leases USDmm: 37541</a:t>
            </a:r>
          </a:p>
          <a:p>
            <a:r>
              <a:rPr lang="en-US" sz="1550"/>
              <a:t>Key Credit Metrics — FY2022A — Revenue USDmm: 32475 · EBITDA USDmm: 21201 · CFO USDmm: 14129 · Capex USDmm: 4992 · FCF USDmm: 9137 · Total Debt Excl Leases USDmm: 33942</a:t>
            </a:r>
          </a:p>
          <a:p>
            <a:r>
              <a:rPr lang="en-US" sz="1550"/>
              <a:t>Key Credit Metrics — FY2023A — Revenue USDmm: 28702 · EBITDA USDmm: 16858 · CFO USDmm: 12598 · Capex USDmm: 6274 · FCF USDmm: 6324 · Total Debt Excl Leases USDmm: 26891</a:t>
            </a:r>
          </a:p>
          <a:p>
            <a:r>
              <a:rPr lang="en-US" sz="1550"/>
              <a:t>Key Credit Metrics — FY2024A — Revenue USDmm: 27202 · EBITDA USDmm: 14273 · CFO USDmm: 11648 · Capex USDmm: 7142 · FCF USDmm: 4506 · Total Debt Excl Leases USDmm: 24631</a:t>
            </a:r>
          </a:p>
          <a:p>
            <a:r>
              <a:rPr lang="en-US" sz="1550"/>
              <a:t>Price History Volatility Proxy — FY2021A — Beginning Price USD: 20.39 · Ending Price USD: 27.63 · Pct Change: 35.5% · Max Drawdown: 11.4%</a:t>
            </a:r>
          </a:p>
          <a:p>
            <a:r>
              <a:rPr lang="en-US" sz="1550"/>
              <a:t>Price History Volatility Proxy — FY2022A — Beginning Price USD: 27.53 · Ending Price USD: 58.26 · Pct Change: 111.7% · Max Drawdown: 18.9%</a:t>
            </a:r>
          </a:p>
          <a:p>
            <a:r>
              <a:rPr lang="en-US" sz="1550"/>
              <a:t>Price History Volatility Proxy — FY2023A — Beginning Price USD: 57.98 · Ending Price USD: 55.10 · Pct Change: -5.0% · Max Drawdown: 15.7%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OXY $2.5B 10-Year Senior Unsecured Issuance — Rating Agency Presentation</dc:title>
  <dc:creator>NodeAgent</dc:creator>
</cp:coreProperties>
</file>