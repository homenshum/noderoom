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Insulet (PODD) Acquisition Screening — Cover Slide: Company Overview, Financial Profile, Key Risks &amp; Diligence Questions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Insulet Acquisition Screening — Cover Slide Package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Business Model</a:t>
            </a:r>
          </a:p>
          <a:p>
            <a:r>
              <a:rPr lang="en-US" sz="1550"/>
              <a:t>Insulet Corporation (NASDAQ: PODD) is a medical device company focused on insulin delivery. Its flagship product, the Omnipod platform, is a tubeless, wearable insulin patch pump for people with diabetes. Insulet operates two segments: (1) Omnipod (U.S. and International) — the core insulin delivery pump business; and (2) Drug Delivery — a contract-manufacturing / B2B pod platform serving pharmaceutical partners. The company has been transitioning from a single-product hardware company to a broader diabetes care platform, leveraging the Omnipod 5 (automated insulin delivery system / AID) launched in 2022-2023.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Financial Profile</a:t>
            </a:r>
          </a:p>
          <a:p>
            <a:r>
              <a:rPr lang="en-US" sz="1550"/>
              <a:t>- Revenue growth: Insulet has delivered strong top-line growth, with revenue scaling past $2B annually. Recent quarters show 20-30%+ YoY revenue growth driven by Omnipod 5 adoption.</a:t>
            </a:r>
          </a:p>
          <a:p>
            <a:r>
              <a:rPr lang="en-US" sz="1550"/>
              <a:t>- Gross margin: ~65-70% range, reflecting high-margin medical device manufacturing.</a:t>
            </a:r>
          </a:p>
          <a:p>
            <a:r>
              <a:rPr lang="en-US" sz="1550"/>
              <a:t>- Operating margin: Expanding but still moderate (~10-20%) due to significant R&amp;D and SG&amp;A investment to support product launches and geographic expansion.</a:t>
            </a:r>
          </a:p>
          <a:p>
            <a:r>
              <a:rPr lang="en-US" sz="1550"/>
              <a:t>- Market cap: ~$20B+ range (large-cap medical device).</a:t>
            </a:r>
          </a:p>
          <a:p>
            <a:r>
              <a:rPr lang="en-US" sz="1550"/>
              <a:t>- Capital structure: Minimal debt; largely equity-financed with strong cash generation.</a:t>
            </a:r>
          </a:p>
          <a:p>
            <a:r>
              <a:rPr lang="en-US" sz="1550"/>
              <a:t>- Key revenue driver: Omnipod 5 (next-gen automated insulin delivery system) is the primary growth catalyst, with strong adoption curves in the U.S. and international markets.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Key Risks</a:t>
            </a:r>
          </a:p>
          <a:p>
            <a:r>
              <a:rPr lang="en-US" sz="1550"/>
              <a:t>1. **Single-product concentration risk**: Despite the Drug Delivery segment, Insulet is overwhelmingly dependent on the Omnipod insulin pump franchise. Any product failure, recall, or competitive displacement would be existential.</a:t>
            </a:r>
          </a:p>
          <a:p>
            <a:r>
              <a:rPr lang="en-US" sz="1550"/>
              <a:t>2. **Competitive landscape**: Faces intense competition from traditional tubed pumps (Medtronic, Tandem) and emerging closed-loop/AID systems. Also faces competition from continuous glucose monitor (CGM) integration partners (Dexcom, Abbott).</a:t>
            </a:r>
          </a:p>
          <a:p>
            <a:r>
              <a:rPr lang="en-US" sz="1550"/>
              <a:t>3. **Reimbursement risk**: Insulin pump reimbursement is subject to pressure from payors, Medicare/Medicaid, and international healthcare systems. Pricing pressure could compress margins.</a:t>
            </a:r>
          </a:p>
          <a:p>
            <a:r>
              <a:rPr lang="en-US" sz="1550"/>
              <a:t>4. **Regulatory risk**: FDA and international regulatory approvals are critical for product launches. Any delay or adverse finding could materially impact the business.</a:t>
            </a:r>
          </a:p>
          <a:p>
            <a:r>
              <a:rPr lang="en-US" sz="1550"/>
              <a:t>5. **Manufacturing concentration**: Production is concentrated in limited facilities; supply chain disruption could impact availability.</a:t>
            </a:r>
          </a:p>
          <a:p>
            <a:r>
              <a:rPr lang="en-US" sz="1550"/>
              <a:t>6. **Technology obsolescence**: Rapid evolution in diabetes technology (CGM integration, AI-driven dosing) could render current Omnipod platform less competitive.</a:t>
            </a:r>
          </a:p>
          <a:p>
            <a:r>
              <a:rPr lang="en-US" sz="1550"/>
              <a:t>7. **Cybersecurity risk**: Connected device platforms like Omnipod 5 face cybersecurity threats that could compromise patient safety and data.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Diligence Questions</a:t>
            </a:r>
          </a:p>
          <a:p>
            <a:r>
              <a:rPr lang="en-US" sz="1550"/>
              <a:t>1. **Product roadmap**: What is the post-Omnipod 5 product pipeline? How sustainable is the competitive moat in AID systems?</a:t>
            </a:r>
          </a:p>
          <a:p>
            <a:r>
              <a:rPr lang="en-US" sz="1550"/>
              <a:t>2. **Competitive moat**: How defensible is the tubeless pump form factor against potential entrants and next-gen tubed pump innovations?</a:t>
            </a:r>
          </a:p>
          <a:p>
            <a:r>
              <a:rPr lang="en-US" sz="1550"/>
              <a:t>3. **Market sizing**: What is the addressable market for tubeless insulin delivery, and how much penetration is left in the U.S. vs. international?</a:t>
            </a:r>
          </a:p>
          <a:p>
            <a:r>
              <a:rPr lang="en-US" sz="1550"/>
              <a:t>4. **Drug Delivery segment**: What is the strategic value and growth trajectory of the B2B Drug Delivery segment? Is it accretive or a distraction?</a:t>
            </a:r>
          </a:p>
          <a:p>
            <a:r>
              <a:rPr lang="en-US" sz="1550"/>
              <a:t>5. **Pricing/reimbursement**: What is the current reimbursement landscape and how sensitive is the model to pricing changes?</a:t>
            </a:r>
          </a:p>
          <a:p>
            <a:r>
              <a:rPr lang="en-US" sz="1550"/>
              <a:t>6. **Manufacturing/scalability**: Can Insulet scale manufacturing to meet Omnipod 5 demand, and what are the capex requirements?</a:t>
            </a:r>
          </a:p>
          <a:p>
            <a:r>
              <a:rPr lang="en-US" sz="1550"/>
              <a:t>7. **Key-person and management**: What is the depth of management beyond the current CEO, and what is the retention risk post-acquisition?</a:t>
            </a:r>
          </a:p>
          <a:p>
            <a:r>
              <a:rPr lang="en-US" sz="1550"/>
              <a:t>8. **Legal/regulatory**: Are there any pending FDA actions, product liability claims, or regulatory investigations?</a:t>
            </a:r>
          </a:p>
          <a:p>
            <a:r>
              <a:rPr lang="en-US" sz="1550"/>
              <a:t>9. **Customer concentration**: What is the payer mix and any concentration risk with specific insurers or distributors?</a:t>
            </a:r>
          </a:p>
          <a:p>
            <a:r>
              <a:rPr lang="en-US" sz="1550"/>
              <a:t>10. **Integration fit**: How does Insulet's product portfolio fit within the acquirer's existing medtech portfolio, and what synergies (cost/revenue) are achievable?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WACC Context</a:t>
            </a:r>
          </a:p>
          <a:p>
            <a:r>
              <a:rPr lang="en-US" sz="1550"/>
              <a:t>- Equity Risk Premium (ERP): Sourced from uploaded ERP workbook (forward-looking implied market risk premium).</a:t>
            </a:r>
          </a:p>
          <a:p>
            <a:r>
              <a:rPr lang="en-US" sz="1550"/>
              <a:t>- Beta: Sourced from uploaded betas-by-industry workbook for the medical device / medtech category.</a:t>
            </a:r>
          </a:p>
          <a:p>
            <a:r>
              <a:rPr lang="en-US" sz="1550"/>
              <a:t>- These inputs frame the cost of equity for any DCF-based valuation in the diligence phase.</a:t>
            </a:r>
          </a:p>
          <a:p>
            <a:r>
              <a:rPr lang="en-US" sz="1550"/>
              <a:t>Rows in backup workbook: 5</a:t>
            </a:r>
          </a:p>
          <a:p>
            <a:r>
              <a:rPr lang="en-US" sz="1550"/>
              <a:t>Business Model — Company — Company: Insulet Corporation (NASDAQ: PODD) · Sector: Medical Devices / Diabetes Care · Product: Omnipod — tubeless wearable insulin patch pump · Segments: Omnipod (U.S. + International); Drug Delivery (B2B) · Key Product: Omnipod 5 — Automated Insulin Delivery (AID) system · Business Model: Single-product platform: tubeless insulin pump + integrated CGM connectivity</a:t>
            </a:r>
          </a:p>
          <a:p>
            <a:r>
              <a:rPr lang="en-US" sz="1550"/>
              <a:t>Financial Profile — Key Metrics — Revenue Scale: $2B+ annual revenue · Revenue Growth YoY: 20–30%+ driven by Omnipod 5 adoption · Gross Margin: 65–70% · Operating Margin: 10–20% (expanding with scale) · Market Cap Approx: $20B+ · Capital Structure: Minimal debt; equity-financed; strong cash generation</a:t>
            </a:r>
          </a:p>
          <a:p>
            <a:r>
              <a:rPr lang="en-US" sz="1550"/>
              <a:t>Key Risks — Risk 1: Single-product concentration risk — overwhelming Omnipod dependence · Risk 2: Competitive landscape — Medtronic, Tandem, emerging AID systems · Risk 3: Reimbursement risk — payer pricing pressure (Medicare/Medicaid, international) · Risk 4: Regulatory risk — FDA/international approvals for product launches · Risk 5: Manufacturing concentration — limited production facilities · Risk 6: Technology obsolescence — rapid diabetes tech evolution (CGM, AI dosing)</a:t>
            </a:r>
          </a:p>
          <a:p>
            <a:r>
              <a:rPr lang="en-US" sz="1550"/>
              <a:t>Diligence Questions — Q1: Product roadmap — post-Omnipod 5 pipeline and competitive moat durability · Q2: Competitive moat — tubeless form factor defensibility vs. entrants and tubed pump innovation · Q3: Market sizing — addressable market for tubeless insulin delivery; U.S. vs. international penetration · Q4: Drug Delivery segment — strategic value and growth trajectory of B2B business · Q5: Pricing/reimbursement — reimbursement landscape sensitivity and margin impact · Q6: Manufacturing/scalability — capacity to meet Omnipod 5 demand; capex requirements</a:t>
            </a:r>
          </a:p>
          <a:p>
            <a:r>
              <a:rPr lang="en-US" sz="1550"/>
              <a:t>WACC / Valuation Inputs — ERP Source: Equity_Risk_Premium_for_WACC.xlsx — forward-looking implied ERP · Beta Source: betas_by_industry_category_for_WACC.xlsx — medical device / medtech category · Purpose: Frame cost of equity for DCF-based valuation in diligence phase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Insulet (PODD) Acquisition Screening — Cover Slide: Company Overview, Financial Profile, Key Risks &amp; Diligence Questions</dc:title>
  <dc:creator>NodeAgent</dc:creator>
</cp:coreProperties>
</file>