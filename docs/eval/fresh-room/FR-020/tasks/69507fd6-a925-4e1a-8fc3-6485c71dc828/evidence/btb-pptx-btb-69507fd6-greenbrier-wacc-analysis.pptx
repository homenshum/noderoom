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Greenbrier WACC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Greenbrier (GBX) WACC estimation task. Sources: Greenbrier 10K 2025.pdf, betas_by_industry_category_for_WACC.xlsx, Equity_Risk_Premium_for_WACC.xlsx. Key outputs: risk-free rate, equity risk premium, levered beta, cost of equity, after-tax cost of debt, capital structure weights, and WACC. All figures sourced from uploaded room artifacts.</a:t>
            </a:r>
          </a:p>
          <a:p>
            <a:r>
              <a:rPr lang="en-US" sz="1550"/>
              <a:t>Rows in backup workbook: 10</a:t>
            </a:r>
          </a:p>
          <a:p>
            <a:r>
              <a:rPr lang="en-US" sz="1550"/>
              <a:t>Risk-Free Rate (10Y UST) — Value: 4.20% · Source: Equity_Risk_Premium_for_WACC.xlsx · Evidence: 10-year US Treasury yield used as risk-free proxy</a:t>
            </a:r>
          </a:p>
          <a:p>
            <a:r>
              <a:rPr lang="en-US" sz="1550"/>
              <a:t>Equity Risk Premium — Value: 5.50% · Source: Equity_Risk_Premium_for_WACC.xlsx · Evidence: Implied ERP from Damodaran ERP workbook</a:t>
            </a:r>
          </a:p>
          <a:p>
            <a:r>
              <a:rPr lang="en-US" sz="1550"/>
              <a:t>Unlevered Beta (Machinery) — Value: 0.98 · Source: betas_by_industry_category_for_WACC.xlsx · Evidence: Industry beta for machinery/transport equipment category</a:t>
            </a:r>
          </a:p>
          <a:p>
            <a:r>
              <a:rPr lang="en-US" sz="1550"/>
              <a:t>Levered Beta — Value: 1.25 · Source: Computed from unlevered beta, Greenbrier D/E ratio from 10K · Evidence: Relevered using Greenbrier capital structure</a:t>
            </a:r>
          </a:p>
          <a:p>
            <a:r>
              <a:rPr lang="en-US" sz="1550"/>
              <a:t>Cost of Equity (CAPM) — Value: 11.08% · Source: 4.20% + 1.25 × 5.50% · Evidence: CAPM calculation</a:t>
            </a:r>
          </a:p>
          <a:p>
            <a:r>
              <a:rPr lang="en-US" sz="1550"/>
              <a:t>Pre-Tax Cost of Debt — Value: 5.75% · Source: Greenbrier 10K 2025 - weighted avg interest rate · Evidence: Weighted average coupon on outstanding debt</a:t>
            </a:r>
          </a:p>
          <a:p>
            <a:r>
              <a:rPr lang="en-US" sz="1550"/>
              <a:t>After-Tax Cost of Debt — Value: 4.43% · Source: 5.75% × (1 - 23%) · Evidence: Tax rate of 23% from 10K effective tax rate</a:t>
            </a:r>
          </a:p>
          <a:p>
            <a:r>
              <a:rPr lang="en-US" sz="1550"/>
              <a:t>Weight of Equity — Value: 78.0% · Source: Greenbrier 10K 2025 - market cap vs total capital · Evidence: Equity / (Debt + Equity)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Greenbrier WACC Analysis</dc:title>
  <dc:creator>NodeAgent</dc:creator>
</cp:coreProperties>
</file>