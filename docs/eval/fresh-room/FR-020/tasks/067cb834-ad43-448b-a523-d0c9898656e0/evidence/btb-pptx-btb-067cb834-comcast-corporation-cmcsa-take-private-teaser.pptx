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Comcast Corporation (CMCSA) — Take-Private Teaser</a:t>
            </a:r>
          </a:p>
        </p:txBody>
      </p:sp>
      <p:sp>
        <p:nvSpPr>
          <p:cNvPr id="3" name="Text 3"/>
          <p:cNvSpPr txBox="1"/>
          <p:nvPr/>
        </p:nvSpPr>
        <p:spPr>
          <a:xfrm>
            <a:off x="650000" y="1450000"/>
            <a:ext cx="10800000" cy="4700000"/>
          </a:xfrm>
          <a:prstGeom prst="rect">
            <a:avLst/>
          </a:prstGeom>
          <a:noFill/>
        </p:spPr>
        <p:txBody>
          <a:bodyPr wrap="square"/>
          <a:lstStyle/>
          <a:p>
            <a:r>
              <a:rPr lang="en-US" sz="1550"/>
              <a:t>## Comcast Corporation (NASDAQ: CMCSA) — Take-Private Teaser</a:t>
            </a:r>
          </a:p>
          <a:p>
            <a:r>
              <a:rPr lang="en-US" sz="1550"/>
              <a:t/>
            </a:r>
          </a:p>
          <a:p>
            <a:r>
              <a:rPr lang="en-US" sz="1550"/>
              <a:t>### Executive Summary</a:t>
            </a:r>
          </a:p>
          <a:p>
            <a:r>
              <a:rPr lang="en-US" sz="1550"/>
              <a:t>Comcast Corporation is a global media and technology company, operating through three primary segments: Connectivity &amp; Platforms (residential and business connectivity services including broadband, wireless, and video), Content &amp; Experiences (NBCUniversal, including media, studios, theme parks, and Peacock), and NBCUniversal's Sky operations in Europe. With a substantial subscriber base across broadband, wireless, and video, Comcast represents a potential take-private opportunity for a sponsor seeking scale in communications infrastructure and content.</a:t>
            </a:r>
          </a:p>
          <a:p>
            <a:r>
              <a:rPr lang="en-US" sz="1550"/>
              <a:t/>
            </a:r>
          </a:p>
          <a:p>
            <a:r>
              <a:rPr lang="en-US" sz="1550"/>
              <a:t>### Methodology</a:t>
            </a:r>
          </a:p>
          <a:p>
            <a:r>
              <a:rPr lang="en-US" sz="1550"/>
              <a:t>All financials are sourced from uploaded room artifacts: CMCSA-US Income Statement Annual, Balance Sheet Annual, Cash Flow Annual, Shares Outstanding, Price History, Revenue Estimate, and Earnings Estimate. WACC inputs (beta, ERP) sourced from uploaded betas and ERP workbooks. LTM figures calculated as sum of latest four reported quarters. Net Debt = Total Debt - Cash &amp; Equivalents. EV = Equity Value + Net Debt. FCF = CFO - Capex.</a:t>
            </a:r>
          </a:p>
          <a:p>
            <a:r>
              <a:rPr lang="en-US" sz="1550"/>
              <a:t/>
            </a:r>
          </a:p>
          <a:p>
            <a:r>
              <a:rPr lang="en-US" sz="1550"/>
              <a:t>### Key Outputs</a:t>
            </a:r>
          </a:p>
          <a:p>
            <a:r>
              <a:rPr lang="en-US" sz="1550"/>
              <a:t>- Market Cap, LTM Revenue, Net Debt highlights</a:t>
            </a:r>
          </a:p>
          <a:p>
            <a:r>
              <a:rPr lang="en-US" sz="1550"/>
              <a:t>- Financial summary table: Revenue, EBITDA, EBITDA margin, CFO, Capex, FCF for FY2022–FY2024 and LTM</a:t>
            </a:r>
          </a:p>
          <a:p>
            <a:r>
              <a:rPr lang="en-US" sz="1550"/>
              <a:t>- EV bridge from Equity Value to Enterprise Value</a:t>
            </a:r>
          </a:p>
          <a:p>
            <a:r>
              <a:rPr lang="en-US" sz="1550"/>
              <a:t>- Premium analysis grid at +10% to +50% premium to last close: offer price, equity value, implied EV/EBITDA(LTM)</a:t>
            </a:r>
          </a:p>
          <a:p>
            <a:r>
              <a:rPr lang="en-US" sz="1550"/>
              <a:t/>
            </a:r>
          </a:p>
          <a:p>
            <a:r>
              <a:rPr lang="en-US" sz="1550"/>
              <a:t>### Sources</a:t>
            </a:r>
          </a:p>
          <a:p>
            <a:r>
              <a:rPr lang="en-US" sz="1550"/>
              <a:t>- CMCSA-US Income Statement Annual (artifact: j978gzmpzw2twpyc4865evb4a989drsp)</a:t>
            </a:r>
          </a:p>
          <a:p>
            <a:r>
              <a:rPr lang="en-US" sz="1550"/>
              <a:t>- CMCSA-US Balance Sheet Annual (artifact: j975ccrtfp2vha8vcpq548j8ch89c6j7)</a:t>
            </a:r>
          </a:p>
          <a:p>
            <a:r>
              <a:rPr lang="en-US" sz="1550"/>
              <a:t>- CMCSA-US Cash Flow Annual (artifact: j97fzvg8y4cr70peec463zcbjs89d4jb)</a:t>
            </a:r>
          </a:p>
          <a:p>
            <a:r>
              <a:rPr lang="en-US" sz="1550"/>
              <a:t>- CMCSA-US Shares Outstanding (artifact: j979pfywykdnffkj4aay4th08s89cexq)</a:t>
            </a:r>
          </a:p>
          <a:p>
            <a:r>
              <a:rPr lang="en-US" sz="1550"/>
              <a:t>- CMCSA-US Price History (artifact: j97e1cwe4ebgx1j816mw7yzrth89deey)</a:t>
            </a:r>
          </a:p>
          <a:p>
            <a:r>
              <a:rPr lang="en-US" sz="1550"/>
              <a:t>- CMCSA-US Revenue Estimate (artifact: j9781rdtsp7y3f0wr8qjz0x1en89dbr4)</a:t>
            </a:r>
          </a:p>
          <a:p>
            <a:r>
              <a:rPr lang="en-US" sz="1550"/>
              <a:t>- CMCSA-US Earnings Estimate (artifact: j9767gwtetnmhtw385jmdpe7ts89dfyy)</a:t>
            </a:r>
          </a:p>
          <a:p>
            <a:r>
              <a:rPr lang="en-US" sz="1550"/>
              <a:t>- Betas by Industry Category (artifact: j97ataq4m8r4ge1mbt8e37qgfs89drkj)</a:t>
            </a:r>
          </a:p>
          <a:p>
            <a:r>
              <a:rPr lang="en-US" sz="1550"/>
              <a:t>- Equity Risk Premium (artifact: j97c5j1pmmahq2s7ay5y1e1cz989dbe2)</a:t>
            </a:r>
          </a:p>
          <a:p>
            <a:r>
              <a:rPr lang="en-US" sz="1550"/>
              <a:t>Rows in backup workbook: 53</a:t>
            </a:r>
          </a:p>
          <a:p>
            <a:r>
              <a:rPr lang="en-US" sz="1550"/>
              <a:t>Market_Cap — Entity: CMCSA · Source: Shares Outstanding × Last Close Price · Value Usd Bn: 148.43 · Calculation: 4,346M shares × $34.16 = $148.43B · Unit: USD billions</a:t>
            </a:r>
          </a:p>
          <a:p>
            <a:r>
              <a:rPr lang="en-US" sz="1550"/>
              <a:t>LTM_Revenue — Entity: CMCSA · Source: Income Statement Annual · Value Usd Bn: 121.62 · Unit: USD billions</a:t>
            </a:r>
          </a:p>
          <a:p>
            <a:r>
              <a:rPr lang="en-US" sz="1550"/>
              <a:t>Net_Debt — Entity: CMCSA · Source: Balance Sheet Annual · Value Usd Bn: 84.99 · Unit: USD billions</a:t>
            </a:r>
          </a:p>
          <a:p>
            <a:r>
              <a:rPr lang="en-US" sz="1550"/>
              <a:t>FY2022_Revenue — Entity: CMCSA · Source: Income Statement Annual · Value Usd Bn: 121.42 · Unit: USD billions</a:t>
            </a:r>
          </a:p>
          <a:p>
            <a:r>
              <a:rPr lang="en-US" sz="1550"/>
              <a:t>FY2022_EBITDA — Entity: CMCSA · Source: Income Statement Annual · Value Usd Bn: 42.5 · Unit: USD billions</a:t>
            </a:r>
          </a:p>
          <a:p>
            <a:r>
              <a:rPr lang="en-US" sz="1550"/>
              <a:t>FY2022_EBITDA_Margin — Entity: CMCSA · Source: Calculated · Value Pct: 35 · Unit: percent</a:t>
            </a:r>
          </a:p>
          <a:p>
            <a:r>
              <a:rPr lang="en-US" sz="1550"/>
              <a:t>FY2022_CFO — Entity: CMCSA · Source: Cash Flow Annual · Value Usd Bn: 31 · Unit: USD billions</a:t>
            </a:r>
          </a:p>
          <a:p>
            <a:r>
              <a:rPr lang="en-US" sz="1550"/>
              <a:t>FY2022_Capex — Entity: CMCSA · Source: Cash Flow Annual · Value Usd Bn: 11.5 · Unit: USD billions</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Comcast Corporation (CMCSA) — Take-Private Teaser</dc:title>
  <dc:creator>NodeAgent</dc:creator>
</cp:coreProperties>
</file>