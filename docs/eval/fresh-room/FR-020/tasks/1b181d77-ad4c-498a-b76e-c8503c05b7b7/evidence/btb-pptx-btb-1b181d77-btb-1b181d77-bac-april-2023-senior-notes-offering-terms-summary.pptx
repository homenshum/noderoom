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btb-1b181d77 — BAC April 2023 Senior Notes Offering Terms Summary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"Bank of America Corporation (NYSE: BAC) — April 2023 Senior Notes Offering Terms Summary.\n\nTwo tranches priced April 19, 2023:\n\nTranche 1: 5.202% Fixed/Floating Rate Senior Notes due April 2029 (CUSIP: 06051GLG2)\n  - Core size/economics: Aggregate principal $1.5B; priced at 99.832% of par; yield to maturity 5.236%; spread +108 bps over UST 3.875% due Mar 2028; trade date Apr 19 2023; settlement Apr 24 2023; maturity Apr 24 2029.\n  - Interest rate: Fixed rate 5.202% to Apr 24 2029 (semi-annual Mar 24/Sep 24); then floating rate SOFR + 22 bps quarterly.\n  - Call structure: No optional redemption prior to maturity; upon occurrence of a Rating Event redemption at par+accrued.\n  - Ratings: A2 / BBB+ / BBB+ (Moody's / S&amp;P / Fitch).\n  - Underwriters: Sole book-runner — BofA Securities, N.A.; co-managers — Citigroup Global Markets Inc., Goldman Sachs &amp; Co. LLC, Mizuho Securities USA LLC, TD Securities (USA) LLC.\n\nTranche 2: 5.288% Fixed/Floating Rate Senior Notes due April 2034 (CUSIP: 06051GLH0)\n  - Core size/economics: Aggregate principal $1.25B; priced at 99.637% of par; yield to maturity 5.330%; spread +135 bps over UST 3.625% due Mar 2033; trade date Apr 19 2023; settlement Apr 24 2023; maturity Apr 24 2034.\n  - Interest rate: Fixed rate 5.288% to Apr 24 2034 (semi-annual Mar 24/Sep 24); then floating rate SOFR + 55 bps quarterly.\n  - Call structure: No optional redemption prior to maturity; upon occurrence of a Rating Event redemption at par+accrued.\n  - Ratings: A2 / BBB+ / BBB+ (Moody's / S&amp;P / Fitch).\n  - Underwriters: Sole book-runner — BofA Securities, N.A.; co-managers — Citigroup Global Markets Inc., Goldman Sachs &amp; Co. LLC, Mizuho Securities USA LLC, TD Securities (USA) LLC.\n\nSource documents: Pricing Supplement — BAC 2023 Notes (governs in case of conflict) and Final Term Sheets."</a:t>
            </a:r>
          </a:p>
          <a:p>
            <a:r>
              <a:rPr lang="en-US" sz="1550"/>
              <a:t>Rows in backup workbook: 11</a:t>
            </a:r>
          </a:p>
          <a:p>
            <a:r>
              <a:rPr lang="en-US" sz="1550"/>
              <a:t>Header — Field: Bank of America Corporation (NYSE: BAC) — April 2023 Senior Notes Offering · Source: Pricing Supplement &amp; Final Term Sheets · Task: btb-1b181d77</a:t>
            </a:r>
          </a:p>
          <a:p>
            <a:r>
              <a:rPr lang="en-US" sz="1550"/>
              <a:t>Tranche 1 — Core size &amp; economics — Tranche: 5.202% Fixed/Floating Rate Senior Notes due Apr 2029 · CUSIP: 06051GLG2 · Issuer: Bank of America Corporation (NYSE: BAC) · Aggregate Principal USD: 1500000000 · Issue Price Pct: 99.832 · Yield To Maturity Pct: 5.236</a:t>
            </a:r>
          </a:p>
          <a:p>
            <a:r>
              <a:rPr lang="en-US" sz="1550"/>
              <a:t>Tranche 1 — Interest rate terms — Tranche: 5.202% Fixed/Floating Rate Senior Notes due Apr 2029 · CUSIP: 06051GLG2 · Fixed Rate Pct: 5.202 · Fixed Rate Period: Apr 24 2023 to Apr 24 2029 · Fixed Rate Frequency: Semi-annual (Mar 24 / Sep 24) · Floating Rate Benchmark: SOFR</a:t>
            </a:r>
          </a:p>
          <a:p>
            <a:r>
              <a:rPr lang="en-US" sz="1550"/>
              <a:t>Tranche 1 — Call structure — Tranche: 5.202% Fixed/Floating Rate Senior Notes due Apr 2029 · CUSIP: 06051GLG2 · Optional Redemption: None prior to maturity · Rating Event Redemption: Par + accrued interest · Make Whole: Not applicable</a:t>
            </a:r>
          </a:p>
          <a:p>
            <a:r>
              <a:rPr lang="en-US" sz="1550"/>
              <a:t>Tranche 1 — Ratings — Tranche: 5.202% Fixed/Floating Rate Senior Notes due Apr 2029 · CUSIP: 06051GLG2 · Moodys: A2 · S&amp;P: BBB+ · Fitch: BBB+</a:t>
            </a:r>
          </a:p>
          <a:p>
            <a:r>
              <a:rPr lang="en-US" sz="1550"/>
              <a:t>Tranche 1 — Underwriters — Tranche: 5.202% Fixed/Floating Rate Senior Notes due Apr 2029 · CUSIP: 06051GLG2 · Sole Book Runner: BofA Securities, N.A. · Co Managers: Citigroup Global Markets Inc.; Goldman Sachs &amp; Co. LLC; Mizuho Securities USA LLC; TD Securities (USA) LLC</a:t>
            </a:r>
          </a:p>
          <a:p>
            <a:r>
              <a:rPr lang="en-US" sz="1550"/>
              <a:t>Tranche 2 — Core size &amp; economics — Tranche: 5.288% Fixed/Floating Rate Senior Notes due Apr 2034 · CUSIP: 06051GLH0 · Issuer: Bank of America Corporation (NYSE: BAC) · Aggregate Principal USD: 1250000000 · Issue Price Pct: 99.637 · Yield To Maturity Pct: 5.33</a:t>
            </a:r>
          </a:p>
          <a:p>
            <a:r>
              <a:rPr lang="en-US" sz="1550"/>
              <a:t>Tranche 2 — Interest rate terms — Tranche: 5.288% Fixed/Floating Rate Senior Notes due Apr 2034 · CUSIP: 06051GLH0 · Fixed Rate Pct: 5.288 · Fixed Rate Period: Apr 24 2023 to Apr 24 2034 · Fixed Rate Frequency: Semi-annual (Mar 24 / Sep 24) · Floating Rate Benchmark: SOFR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btb-1b181d77 — BAC April 2023 Senior Notes Offering Terms Summary</dc:title>
  <dc:creator>NodeAgent</dc:creator>
</cp:coreProperties>
</file>