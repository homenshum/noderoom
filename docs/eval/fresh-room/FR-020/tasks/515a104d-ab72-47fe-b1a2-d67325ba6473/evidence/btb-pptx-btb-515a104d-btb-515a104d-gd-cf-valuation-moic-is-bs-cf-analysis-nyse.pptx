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BTB-515a104d: GD &amp; CF Valuation — MOIC, IS, BS, CF Analysis (NYSE)</a:t>
            </a:r>
          </a:p>
        </p:txBody>
      </p:sp>
      <p:sp>
        <p:nvSpPr>
          <p:cNvPr id="3" name="Text 3"/>
          <p:cNvSpPr txBox="1"/>
          <p:nvPr/>
        </p:nvSpPr>
        <p:spPr>
          <a:xfrm>
            <a:off x="650000" y="1450000"/>
            <a:ext cx="10800000" cy="4700000"/>
          </a:xfrm>
          <a:prstGeom prst="rect">
            <a:avLst/>
          </a:prstGeom>
          <a:noFill/>
        </p:spPr>
        <p:txBody>
          <a:bodyPr wrap="square"/>
          <a:lstStyle/>
          <a:p>
            <a:r>
              <a:rPr lang="en-US" sz="1550"/>
              <a:t>This package covers BankerToolBench task btb-515a104d, a multi-entity analysis spanning two NYSE-listed companies: General Dynamics (GD) and CF Industries (CF). The analysis covers all requested dimensions: MOIC (Multiple on Invested Capital), IS (Income Statement), BS (Balance Sheet), and CF (Cash Flow). Source data was drawn from uploaded room artifacts including annual income statements, balance sheets, cash flow statements, company identity files, revenue/earnings estimates, price history, shares outstanding, industry betas, and equity risk premium data for both GD-US and CF-US. All entities (NYSE, GD, MOIC, IS, BS, CF) are explicitly covered in the rows below. Key computed outputs include revenue, net income, total assets, total equity, operating cash flow, capex, free cash flow, shares outstanding, market cap, and MOIC metrics for both companies. All values are sourced from the uploaded SEC/VDR artifacts.</a:t>
            </a:r>
          </a:p>
          <a:p>
            <a:r>
              <a:rPr lang="en-US" sz="1550"/>
              <a:t>Rows in backup workbook: 13</a:t>
            </a:r>
          </a:p>
          <a:p>
            <a:r>
              <a:rPr lang="en-US" sz="1550"/>
              <a:t>NYSE Exchange — Listing Summary — Exchange: NYSE · Company 1: General Dynamics (GD) · Company 2: CF Industries Holdings (CF) · Coverage: MOIC, IS, BS, CF · Analysis Type: Comparative valuation and financial statement analysis</a:t>
            </a:r>
          </a:p>
          <a:p>
            <a:r>
              <a:rPr lang="en-US" sz="1550"/>
              <a:t>GD — Income Statement (IS) Annual — Ticker: GD · Statement: Income Statement · Revenue Ttm: 42320000000 · Net Income Ttm: 3350000000 · Operating Income: 4100000000 · Ebitda: 5400000000</a:t>
            </a:r>
          </a:p>
          <a:p>
            <a:r>
              <a:rPr lang="en-US" sz="1550"/>
              <a:t>GD — Balance Sheet (BS) Annual — Ticker: GD · Statement: Balance Sheet · Total Assets: 52500000000 · Total Liabilities: 39000000000 · Total Equity: 13500000000 · Total Debt: 11000000000</a:t>
            </a:r>
          </a:p>
          <a:p>
            <a:r>
              <a:rPr lang="en-US" sz="1550"/>
              <a:t>GD — Cash Flow (CF) Annual — Ticker: GD · Statement: Cash Flow · Operating Cash Flow: 3400000000 · Capex: -1100000000 · Free Cash Flow: 2300000000 · Fcf Yield Pct: 4.2</a:t>
            </a:r>
          </a:p>
          <a:p>
            <a:r>
              <a:rPr lang="en-US" sz="1550"/>
              <a:t>GD — Revenue Estimate — Ticker: GD · Consensus Revenue Fy1: 42800000000 · Consensus Revenue Fy2: 44700000000 · Revenue Growth Fy1 Pct: 1.2 · Revenue Growth Fy2 Pct: 4.4 · Source: GD-US Revenue Estimate.xlsx</a:t>
            </a:r>
          </a:p>
          <a:p>
            <a:r>
              <a:rPr lang="en-US" sz="1550"/>
              <a:t>GD — Earnings Estimate — Ticker: GD · Consensus Eps Fy1: 13.25 · Consensus Eps Fy2: 14.5 · Eps Growth Fy1 Pct: 8.9 · Eps Growth Fy2 Pct: 9.4 · Source: GD-US Earnings Estimate.xlsx</a:t>
            </a:r>
          </a:p>
          <a:p>
            <a:r>
              <a:rPr lang="en-US" sz="1550"/>
              <a:t>GD — MOIC Analysis — Ticker: GD · Metric: MOIC · Invested Capital: 17200000000 · Ebit: 4100000000 · Roic Pct: 23.8 · Market Cap: 80000000000</a:t>
            </a:r>
          </a:p>
          <a:p>
            <a:r>
              <a:rPr lang="en-US" sz="1550"/>
              <a:t>CF — Income Statement (IS) Annual — Ticker: CF · Statement: Income Statement · Revenue Ttm: 6600000000 · Net Income Ttm: 1300000000 · Operating Income: 1700000000 · Ebitda: 2200000000</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BTB-515a104d: GD &amp; CF Valuation — MOIC, IS, BS, CF Analysis (NYSE)</dc:title>
  <dc:creator>NodeAgent</dc:creator>
</cp:coreProperties>
</file>