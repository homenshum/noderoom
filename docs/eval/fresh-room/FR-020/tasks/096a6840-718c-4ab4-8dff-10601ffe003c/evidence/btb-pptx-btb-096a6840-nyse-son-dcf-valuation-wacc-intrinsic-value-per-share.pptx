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NYSE/SON DCF Valuation — WACC &amp; Intrinsic Value per Share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btb-096a6840 — NYSE/SON DCF valuation. COST OF EQUITY: Risk-free rate 4.25%, equity risk premium 5.50%, levered beta 1.15 → Cost of Equity = 4.25% + 1.15 × 5.50% = 10.58%. COST OF DEBT: Pre-tax cost of debt 5.25%, tax rate 21% → After-tax cost of debt = 5.25% × (1 − 0.21) = 4.15%. CAPITAL STRUCTURE: Equity weight 70%, Debt weight 30% → WACC = 70% × 10.58% + 30% × 4.15% = 8.63%. FREE CASH FLOW PROJECTION: Starting FCF (2025E) = $920M, growing at 6.0% for 5 years then terminal growth 2.5%. TERMINAL VALUE: TV = FCF_2030 × (1+2.5%) / (WACC − 2.5%) = $1,231M × 1.025 / (8.63% − 2.50%) = $20,620M. ENTERPRISE VALUE: PV of explicit FCFs + PV of TV = $3,847M + $13,521M = $17,368M. EQUITY VALUE: EV − Net Debt = $17,368M − $1,200M = $16,168M. EQUITY VALUE PER SHARE: $16,168M / 350M shares = $46.19/share. Current price $42.50 → 8.7% upside.</a:t>
            </a:r>
          </a:p>
          <a:p>
            <a:r>
              <a:rPr lang="en-US" sz="1550"/>
              <a:t>Rows in backup workbook: 7</a:t>
            </a:r>
          </a:p>
          <a:p>
            <a:r>
              <a:rPr lang="en-US" sz="1550"/>
              <a:t>Cost of Equity (Ke) — Risk-Free Rate: 4.25% · Equity Risk Premium: 5.50% · Levered Beta: 1.15 · Cost Of Equity: 10.58%</a:t>
            </a:r>
          </a:p>
          <a:p>
            <a:r>
              <a:rPr lang="en-US" sz="1550"/>
              <a:t>Cost of Debt (Kd) — Pre-Tax Cost Of Debt: 5.25% · Tax Rate: 21.00% · After-Tax Cost Of Debt: 4.15%</a:t>
            </a:r>
          </a:p>
          <a:p>
            <a:r>
              <a:rPr lang="en-US" sz="1550"/>
              <a:t>WACC — Equity Weight: 70.00% · Debt Weight: 30.00% · Cost Of Equity: 10.58% · After-Tax Cost Of Debt: 4.15% · WACC: 8.63%</a:t>
            </a:r>
          </a:p>
          <a:p>
            <a:r>
              <a:rPr lang="en-US" sz="1550"/>
              <a:t>Free Cash Flow Projections (USD Millions) — 2025E FCF: 920 · 2026E FCF: 975.2 · 2027E FCF: 1033.71 · 2028E FCF: 1095.73 · 2029E FCF: 1161.48 · 2030E FCF: 1231.17</a:t>
            </a:r>
          </a:p>
          <a:p>
            <a:r>
              <a:rPr lang="en-US" sz="1550"/>
              <a:t>Terminal Value (USD Millions) — FCF 2030: 1231.17 · Terminal Growth Rate: 2.50% · WACC: 8.63% · Terminal Value: 20620 · PV Of Terminal Value: 13521</a:t>
            </a:r>
          </a:p>
          <a:p>
            <a:r>
              <a:rPr lang="en-US" sz="1550"/>
              <a:t>Enterprise Value (USD Millions) — Sum Of PV Explicit FCFs: 3847 · PV Of Terminal Value: 13521 · Enterprise Value: 17368</a:t>
            </a:r>
          </a:p>
          <a:p>
            <a:r>
              <a:rPr lang="en-US" sz="1550"/>
              <a:t>Equity Value (USD Millions) — Enterprise Value: 17368 · Net Debt: 1200 · Equity Value: 16168 · Shares Outstanding (M): 350 · Equity Value Per Share: $46.19 · Current Price: $42.50</a:t>
            </a:r>
          </a:p>
          <a:p>
            <a:r>
              <a:rPr lang="en-US" sz="1550"/>
              <a:t>Sources: room://SON-US Company Identity.xlsx, room://SON-US Income Statement Annual.xlsx, room://SON-US Balance Sheet Annual.xlsx, room://SON-US Cash Flow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NYSE/SON DCF Valuation — WACC &amp; Intrinsic Value per Share</dc:title>
  <dc:creator>NodeAgent</dc:creator>
</cp:coreProperties>
</file>