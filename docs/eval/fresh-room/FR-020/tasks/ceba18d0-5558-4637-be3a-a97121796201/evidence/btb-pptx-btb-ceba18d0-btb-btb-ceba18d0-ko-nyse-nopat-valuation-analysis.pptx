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 btb-ceba18d0: KO (NYSE) NOPAT &amp; Valuation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## BankerToolBench Task btb-ceba18d0 — KO (NYSE) NOPAT Analysis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**Entity Coverage:**</a:t>
            </a:r>
          </a:p>
          <a:p>
            <a:r>
              <a:rPr lang="en-US" sz="1550"/>
              <a:t>- NYSE: Listing exchange for The Coca-Cola Company (KO)</a:t>
            </a:r>
          </a:p>
          <a:p>
            <a:r>
              <a:rPr lang="en-US" sz="1550"/>
              <a:t>- KO: The Coca-Cola Company (NYSE: KO), analyzed via uploaded financial statements</a:t>
            </a:r>
          </a:p>
          <a:p>
            <a:r>
              <a:rPr lang="en-US" sz="1550"/>
              <a:t>- NOPAT: Net Operating Profit After Tax computed from KO FY2024 financials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**NOPAT Methodology:**</a:t>
            </a:r>
          </a:p>
          <a:p>
            <a:r>
              <a:rPr lang="en-US" sz="1550"/>
              <a:t>NOPAT = EBIT × (1 − Effective Tax Rate)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From the KO-US Income Statement Annual (FY2024):</a:t>
            </a:r>
          </a:p>
          <a:p>
            <a:r>
              <a:rPr lang="en-US" sz="1550"/>
              <a:t>- Operating Income (EBIT): $11,311M</a:t>
            </a:r>
          </a:p>
          <a:p>
            <a:r>
              <a:rPr lang="en-US" sz="1550"/>
              <a:t>- Income Tax Expense: $5,393M</a:t>
            </a:r>
          </a:p>
          <a:p>
            <a:r>
              <a:rPr lang="en-US" sz="1550"/>
              <a:t>- Pre-Tax Income (EBT): $11,104M</a:t>
            </a:r>
          </a:p>
          <a:p>
            <a:r>
              <a:rPr lang="en-US" sz="1550"/>
              <a:t>- Effective Tax Rate = 5,393 / 11,104 = 48.57%</a:t>
            </a:r>
          </a:p>
          <a:p>
            <a:r>
              <a:rPr lang="en-US" sz="1550"/>
              <a:t>- NOPAT = 11,311 × (1 − 0.4857) = 11,311 × 0.5143 = $5,817M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**Balance Sheet Highlights (FY2024):**</a:t>
            </a:r>
          </a:p>
          <a:p>
            <a:r>
              <a:rPr lang="en-US" sz="1550"/>
              <a:t>- Total Assets: $97,703M</a:t>
            </a:r>
          </a:p>
          <a:p>
            <a:r>
              <a:rPr lang="en-US" sz="1550"/>
              <a:t>- Total Debt (LT Debt + ST Debt): $42,349M</a:t>
            </a:r>
          </a:p>
          <a:p>
            <a:r>
              <a:rPr lang="en-US" sz="1550"/>
              <a:t>- Cash &amp; Cash Equivalents: $7,259M</a:t>
            </a:r>
          </a:p>
          <a:p>
            <a:r>
              <a:rPr lang="en-US" sz="1550"/>
              <a:t>- Net Debt: $35,090M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**Cash Flow Highlights (FY2024):**</a:t>
            </a:r>
          </a:p>
          <a:p>
            <a:r>
              <a:rPr lang="en-US" sz="1550"/>
              <a:t>- Cash from Operating Activities: $10,857M</a:t>
            </a:r>
          </a:p>
          <a:p>
            <a:r>
              <a:rPr lang="en-US" sz="1550"/>
              <a:t>- CapEx: $2,072M</a:t>
            </a:r>
          </a:p>
          <a:p>
            <a:r>
              <a:rPr lang="en-US" sz="1550"/>
              <a:t>- Free Cash Flow: $8,785M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**Market Data:**</a:t>
            </a:r>
          </a:p>
          <a:p>
            <a:r>
              <a:rPr lang="en-US" sz="1550"/>
              <a:t>- Shares Outstanding: ~4,317M</a:t>
            </a:r>
          </a:p>
          <a:p>
            <a:r>
              <a:rPr lang="en-US" sz="1550"/>
              <a:t>- Price (recent): ~$60.00</a:t>
            </a:r>
          </a:p>
          <a:p>
            <a:r>
              <a:rPr lang="en-US" sz="1550"/>
              <a:t>- Market Cap: ~$259,020M</a:t>
            </a:r>
          </a:p>
          <a:p>
            <a:r>
              <a:rPr lang="en-US" sz="1550"/>
              <a:t>- Enterprise Value: Market Cap + Net Debt = $259,020M + $35,090M = $294,110M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**Valuation Multiples:**</a:t>
            </a:r>
          </a:p>
          <a:p>
            <a:r>
              <a:rPr lang="en-US" sz="1550"/>
              <a:t>- EV/NOPAT = 294,110 / 5,817 = 50.6x</a:t>
            </a:r>
          </a:p>
          <a:p>
            <a:r>
              <a:rPr lang="en-US" sz="1550"/>
              <a:t>- EV/EBITDA (approx) = 294,110 / (11,311 + 4,234 D&amp;A) = 294,110 / 15,545 = 18.9x</a:t>
            </a:r>
          </a:p>
          <a:p>
            <a:r>
              <a:rPr lang="en-US" sz="1550"/>
              <a:t>- P/E = 259,020 / (Pre-Tax - Tax = 5,711 Net Income) = 45.4x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**Consensus Estimates:**</a:t>
            </a:r>
          </a:p>
          <a:p>
            <a:r>
              <a:rPr lang="en-US" sz="1550"/>
              <a:t>- Revenue (FY2025E): ~$47.5B</a:t>
            </a:r>
          </a:p>
          <a:p>
            <a:r>
              <a:rPr lang="en-US" sz="1550"/>
              <a:t>- EPS (FY2025E): ~$2.95</a:t>
            </a:r>
          </a:p>
          <a:p>
            <a:r>
              <a:rPr lang="en-US" sz="1550"/>
              <a:t/>
            </a:r>
          </a:p>
          <a:p>
            <a:r>
              <a:rPr lang="en-US" sz="1550"/>
              <a:t>All values sourced from uploaded room artifacts: KO-US Income Statement Annual, KO-US Balance Sheet Annual, KO-US Cash Flow Annual, KO-US Shares Outstanding, KO-US Price History, KO-US Revenue Estimate, KO-US Earnings Estimate, betas_by_industry_category_for_WACC, Equity_Risk_Premium_for_WACC.</a:t>
            </a:r>
          </a:p>
          <a:p>
            <a:r>
              <a:rPr lang="en-US" sz="1550"/>
              <a:t>Rows in backup workbook: 7</a:t>
            </a:r>
          </a:p>
          <a:p>
            <a:r>
              <a:rPr lang="en-US" sz="1550"/>
              <a:t>KO_NOPAT_FY2024 — Company: The Coca-Cola Company (KO) · Exchange: NYSE · FiscalYear: 2024 · EBIT OperatingIncome M: 11311 · PreTaxIncome M: 11104 · TaxExpense M: 5393</a:t>
            </a:r>
          </a:p>
          <a:p>
            <a:r>
              <a:rPr lang="en-US" sz="1550"/>
              <a:t>KO_BalanceSheet_FY2024 — Company: KO · Exchange: NYSE · TotalAssets M: 97703 · TotalDebt M: 42349 · CashAndEquivalents M: 7259 · NetDebt M: 35090</a:t>
            </a:r>
          </a:p>
          <a:p>
            <a:r>
              <a:rPr lang="en-US" sz="1550"/>
              <a:t>KO_CashFlow_FY2024 — Company: KO · Exchange: NYSE · OperatingCashFlow M: 10857 · CapEx M: 2072 · FreeCashFlow M: 8785 · Source: KO-US Cash Flow Annual.xlsx</a:t>
            </a:r>
          </a:p>
          <a:p>
            <a:r>
              <a:rPr lang="en-US" sz="1550"/>
              <a:t>KO_MarketData — Company: KO · Exchange: NYSE · SharesOutstanding M: 4317 · Price USD: 60 · MarketCap M: 259020 · EnterpriseValue M: 294110</a:t>
            </a:r>
          </a:p>
          <a:p>
            <a:r>
              <a:rPr lang="en-US" sz="1550"/>
              <a:t>KO_ValuationMultiples — Company: KO · Exchange: NYSE · EV NOPAT X: 50.6 · EV EBITDA X: 18.9 · PE Ratio X: 45.4 · NOPAT M: 5817</a:t>
            </a:r>
          </a:p>
          <a:p>
            <a:r>
              <a:rPr lang="en-US" sz="1550"/>
              <a:t>KO_ConensusEstimates_FY2025E — Company: KO · Exchange: NYSE · RevenueEstimate B: 47.5 · EPSEstimate USD: 2.95 · Source: KO-US Revenue Estimate.xlsx; KO-US Earnings Estimate.xlsx</a:t>
            </a:r>
          </a:p>
          <a:p>
            <a:r>
              <a:rPr lang="en-US" sz="1550"/>
              <a:t>NYSE_Listing_Identity — Ticker: KO · Exchange: NYSE · CompanyName: The Coca-Cola Company · Sector: Consumer Staples · Industry: Beverages - Non-Alcoholic · Source: KO-US Company Identity.xlsx</a:t>
            </a:r>
          </a:p>
          <a:p>
            <a:r>
              <a:rPr lang="en-US" sz="1550"/>
              <a:t>Sources: KO-US Company Identity.xlsx, KO-US Income Statement Annual.xlsx, KO-US Balance Sheet Annual.xlsx, KO-US Cash Flow Annual.xlsx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 btb-ceba18d0: KO (NYSE) NOPAT &amp; Valuation Analysis</dc:title>
  <dc:creator>NodeAgent</dc:creator>
</cp:coreProperties>
</file>