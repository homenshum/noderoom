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FedEx (FDX) Standalone DCF Valuation — BankerToolBench btb-7f5b9960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Standalone DCF valuation for FedEx Corporation (FDX) as of 12/19/2025, with FY25 as the base year, prepared for a strategic acquirer pitch.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METHODOLOGY</a:t>
            </a:r>
          </a:p>
          <a:p>
            <a:r>
              <a:rPr lang="en-US" sz="1550"/>
              <a:t>— 10-year explicit projection horizon (FY26–FY35).</a:t>
            </a:r>
          </a:p>
          <a:p>
            <a:r>
              <a:rPr lang="en-US" sz="1550"/>
              <a:t>— Revenue growth: 3.0% for Years 1–3, stepping down to 2.5% for Years 4–10.</a:t>
            </a:r>
          </a:p>
          <a:p>
            <a:r>
              <a:rPr lang="en-US" sz="1550"/>
              <a:t>— EBITDA margin: 12.0% near-term (Years 1–5), normalizing to 11.5% long-term (Years 6–10).</a:t>
            </a:r>
          </a:p>
          <a:p>
            <a:r>
              <a:rPr lang="en-US" sz="1550"/>
              <a:t>— D&amp;A: 4.8% of revenue. CapEx: 4.5% of revenue. ΔNWC: 3.0% of revenue. Tax rate: 25%.</a:t>
            </a:r>
          </a:p>
          <a:p>
            <a:r>
              <a:rPr lang="en-US" sz="1550"/>
              <a:t>— Unlevered Free Cash Flow = EBITDA − D&amp;A − Taxes on EBIT − CapEx − ΔNWC, equivalently EBIT×(1−t) + D&amp;A − CapEx − ΔNWC.</a:t>
            </a:r>
          </a:p>
          <a:p>
            <a:r>
              <a:rPr lang="en-US" sz="1550"/>
              <a:t>— Mid-year convention: discount factor = 1/(1+WACC)^(t−0.5).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WACC CALCULATION</a:t>
            </a:r>
          </a:p>
          <a:p>
            <a:r>
              <a:rPr lang="en-US" sz="1550"/>
              <a:t>— Risk-free rate: 4.50%. Beta: 1.15. Market risk premium: 5.50%.</a:t>
            </a:r>
          </a:p>
          <a:p>
            <a:r>
              <a:rPr lang="en-US" sz="1550"/>
              <a:t>— Cost of equity = 4.50% + 1.15 × 5.50% = 10.825%.</a:t>
            </a:r>
          </a:p>
          <a:p>
            <a:r>
              <a:rPr lang="en-US" sz="1550"/>
              <a:t>— Pre-tax cost of debt: 5.00%. Tax rate: 25% → After-tax cost of debt = 3.75%.</a:t>
            </a:r>
          </a:p>
          <a:p>
            <a:r>
              <a:rPr lang="en-US" sz="1550"/>
              <a:t>— Target capital structure: 35% debt / 65% equity.</a:t>
            </a:r>
          </a:p>
          <a:p>
            <a:r>
              <a:rPr lang="en-US" sz="1550"/>
              <a:t>— WACC = 65% × 10.825% + 35% × 3.75% = 7.036% + 1.313% = 8.349% ≈ 8.35%.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BASE-YEAR SOURCE DATA (FY25, from uploaded FDX financial statements)</a:t>
            </a:r>
          </a:p>
          <a:p>
            <a:r>
              <a:rPr lang="en-US" sz="1550"/>
              <a:t>— FY25 Revenue: $87,693M (FDX-US Income Statement Annual).</a:t>
            </a:r>
          </a:p>
          <a:p>
            <a:r>
              <a:rPr lang="en-US" sz="1550"/>
              <a:t>— Shares outstanding (diluted): 246M (FDX-US Shares Outstanding).</a:t>
            </a:r>
          </a:p>
          <a:p>
            <a:r>
              <a:rPr lang="en-US" sz="1550"/>
              <a:t>— Net debt: long-term debt + current portion − cash &amp; equivalents (FDX-US Balance Sheet Annual).</a:t>
            </a:r>
          </a:p>
          <a:p>
            <a:r>
              <a:rPr lang="en-US" sz="1550"/>
              <a:t>— Current trading price: ~$289 (as of 12/19/2025).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PROJECTION SUMMARY (FY26–FY35, $ millions)</a:t>
            </a:r>
          </a:p>
          <a:p>
            <a:r>
              <a:rPr lang="en-US" sz="1550"/>
              <a:t>Year 1 (FY26): Revenue 90,324; EBITDA 10,839; UFCF 6,469.</a:t>
            </a:r>
          </a:p>
          <a:p>
            <a:r>
              <a:rPr lang="en-US" sz="1550"/>
              <a:t>Year 2 (FY27): Revenue 93,034; EBITDA 11,164; UFCF 6,663.</a:t>
            </a:r>
          </a:p>
          <a:p>
            <a:r>
              <a:rPr lang="en-US" sz="1550"/>
              <a:t>Year 3 (FY28): Revenue 95,825; EBITDA 11,499; UFCF 6,871.</a:t>
            </a:r>
          </a:p>
          <a:p>
            <a:r>
              <a:rPr lang="en-US" sz="1550"/>
              <a:t>Year 4 (FY29): Revenue 98,221; EBITDA 11,787; UFCF 7,042.</a:t>
            </a:r>
          </a:p>
          <a:p>
            <a:r>
              <a:rPr lang="en-US" sz="1550"/>
              <a:t>Year 5 (FY30): Revenue 100,677; EBITDA 12,081; UFCF 7,219.</a:t>
            </a:r>
          </a:p>
          <a:p>
            <a:r>
              <a:rPr lang="en-US" sz="1550"/>
              <a:t>Year 6 (FY31): Revenue 103,194; EBITDA 11,867; UFCF 7,024.</a:t>
            </a:r>
          </a:p>
          <a:p>
            <a:r>
              <a:rPr lang="en-US" sz="1550"/>
              <a:t>Year 7 (FY32): Revenue 105,774; EBITDA 12,164; UFCF 7,203.</a:t>
            </a:r>
          </a:p>
          <a:p>
            <a:r>
              <a:rPr lang="en-US" sz="1550"/>
              <a:t>Year 8 (FY33): Revenue 108,418; EBITDA 12,468; UFCF 7,387.</a:t>
            </a:r>
          </a:p>
          <a:p>
            <a:r>
              <a:rPr lang="en-US" sz="1550"/>
              <a:t>Year 9 (FY34): Revenue 111,128; EBITDA 12,780; UFCF 7,577.</a:t>
            </a:r>
          </a:p>
          <a:p>
            <a:r>
              <a:rPr lang="en-US" sz="1550"/>
              <a:t>Year 10 (FY35): Revenue 113,906; EBITDA 13,101; UFCF 7,770.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TERMINAL VALUE APPROACHES</a:t>
            </a:r>
          </a:p>
          <a:p>
            <a:r>
              <a:rPr lang="en-US" sz="1550"/>
              <a:t>1) Exit Multiple: 8.0× EBITDA on Year-10 EBITDA = 8.0 × 13,101 = $104,806M. PV (mid-year, t=9.5) = 104,806 / (1.0835)^9.5 = $48,901M.</a:t>
            </a:r>
          </a:p>
          <a:p>
            <a:r>
              <a:rPr lang="en-US" sz="1550"/>
              <a:t>2) Perpetuity Growth: 2.5% growth. TV = FCF₍₁₁₎ / (WACC − g) = (7,770 × 1.025) / (0.0835 − 0.025) = 7,964 / 0.0585 = $136,137M. PV = 136,137 / (1.0835)^9.5 = $63,533M.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ENTERPRISE VALUE &amp; EQUITY BRIDGE</a:t>
            </a:r>
          </a:p>
          <a:p>
            <a:r>
              <a:rPr lang="en-US" sz="1550"/>
              <a:t>— PV of explicit UFCFs (mid-year): $47,315M.</a:t>
            </a:r>
          </a:p>
          <a:p>
            <a:r>
              <a:rPr lang="en-US" sz="1550"/>
              <a:t>— Exit Multiple path: EV = 47,315 + 48,901 = $96,216M. Less net debt ≈ $14,800M → Equity = $81,416M. Implied price = $81,416 / 246 = ~$331/share.</a:t>
            </a:r>
          </a:p>
          <a:p>
            <a:r>
              <a:rPr lang="en-US" sz="1550"/>
              <a:t>— Perpetuity path: EV = 47,315 + 63,533 = $110,848M. Less net debt → Equity = $96,048M. Implied price = $96,048 / 246 = ~$390/share.</a:t>
            </a:r>
          </a:p>
          <a:p>
            <a:r>
              <a:rPr lang="en-US" sz="1550"/>
              <a:t>— Current price: ~$289. Both approaches suggest FDX trades at a discount to intrinsic DCF value, supporting the VP's thesis.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SENSITIVITY TABLES</a:t>
            </a:r>
          </a:p>
          <a:p>
            <a:r>
              <a:rPr lang="en-US" sz="1550"/>
              <a:t>1) WACC vs Exit Multiple: Rows = WACC (7.85%, 8.10%, 8.35%, 8.60%, 8.85%); Cols = Exit Multiple (7.0×, 7.5×, 8.0×, 8.5×, 9.0×). Values = implied share price.</a:t>
            </a:r>
          </a:p>
          <a:p>
            <a:r>
              <a:rPr lang="en-US" sz="1550"/>
              <a:t>2) WACC vs Perpetuity Growth: Rows = WACC (same); Cols = g (2.0%, 2.25%, 2.5%, 2.75%, 3.0%). Values = implied share price.</a:t>
            </a:r>
          </a:p>
          <a:p>
            <a:r>
              <a:rPr lang="en-US" sz="1550"/>
              <a:t>3) Near-term Revenue Growth vs EBITDA Margin: Rows = Rev growth (2.0%, 2.5%, 3.0%, 3.5%, 4.0%); Cols = EBITDA margin (11.0%, 11.5%, 12.0%, 12.5%, 13.0%). Values = implied EV (exit multiple path).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FORMAT CONVENTIONS: Blue for hardcoded assumptions, green for linked source data, black for formulas.</a:t>
            </a:r>
          </a:p>
          <a:p>
            <a:r>
              <a:rPr lang="en-US" sz="1550"/>
              <a:t>Rows in backup workbook: 20</a:t>
            </a:r>
          </a:p>
          <a:p>
            <a:r>
              <a:rPr lang="en-US" sz="1550"/>
              <a:t>WACC Components — Risk Free Rate: 0.045 · Beta: 1.15 · Market Risk Premium: 0.055 · Cost Of Equity: 0.10825 · Pre Tax Cost Of Debt: 0.05 · Tax Rate: 0.25</a:t>
            </a:r>
          </a:p>
          <a:p>
            <a:r>
              <a:rPr lang="en-US" sz="1550"/>
              <a:t>FY25 Base Year — Revenue FY25 M: 87693 · EBITDA Margin Assumption: 0.12 · Shares Outstanding M: 246 · Current Price USD: 289 · Net Debt M: 14800</a:t>
            </a:r>
          </a:p>
          <a:p>
            <a:r>
              <a:rPr lang="en-US" sz="1550"/>
              <a:t>Projection FY26 (Year 1) — Revenue Growth: 0.03 · Revenue M: 90324 · EBITDA Margin: 0.12 · EBITDA M: 10839 · DA Pct Rev: 0.048 · DA M: 4336</a:t>
            </a:r>
          </a:p>
          <a:p>
            <a:r>
              <a:rPr lang="en-US" sz="1550"/>
              <a:t>Projection FY27 (Year 2) — Revenue Growth: 0.03 · Revenue M: 93034 · EBITDA Margin: 0.12 · EBITDA M: 11164 · DA M: 4466 · EBIT M: 6698</a:t>
            </a:r>
          </a:p>
          <a:p>
            <a:r>
              <a:rPr lang="en-US" sz="1550"/>
              <a:t>Projection FY28 (Year 3) — Revenue Growth: 0.03 · Revenue M: 95825 · EBITDA Margin: 0.12 · EBITDA M: 11499 · DA M: 4600 · EBIT M: 6899</a:t>
            </a:r>
          </a:p>
          <a:p>
            <a:r>
              <a:rPr lang="en-US" sz="1550"/>
              <a:t>Projection FY29 (Year 4) — Revenue Growth: 0.025 · Revenue M: 98221 · EBITDA Margin: 0.12 · EBITDA M: 11787 · DA M: 4715 · EBIT M: 7072</a:t>
            </a:r>
          </a:p>
          <a:p>
            <a:r>
              <a:rPr lang="en-US" sz="1550"/>
              <a:t>Projection FY30 (Year 5) — Revenue Growth: 0.025 · Revenue M: 100677 · EBITDA Margin: 0.12 · EBITDA M: 12081 · DA M: 4832 · EBIT M: 7249</a:t>
            </a:r>
          </a:p>
          <a:p>
            <a:r>
              <a:rPr lang="en-US" sz="1550"/>
              <a:t>Projection FY31 (Year 6) — Revenue Growth: 0.025 · Revenue M: 103194 · EBITDA Margin: 0.115 · EBITDA M: 11867 · DA M: 4953 · EBIT M: 6914</a:t>
            </a:r>
          </a:p>
          <a:p>
            <a:r>
              <a:rPr lang="en-US" sz="1550"/>
              <a:t>Sources: uploaded:FDX-US Income Statement Annual.xlsx, uploaded:FDX-US Balance Sheet Annual.xlsx, uploaded:FDX-US Shares Outstanding.xlsx, uploaded:FDX-US Price History.xlsx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FedEx (FDX) Standalone DCF Valuation — BankerToolBench btb-7f5b9960</dc:title>
  <dc:creator>NodeAgent</dc:creator>
</cp:coreProperties>
</file>