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</p:sldMasterIdLst>
  <p:sldIdLst>
    <p:sldId id="256" r:id="rId1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sldLayoutIdLst>
    <p:sldLayoutId id="2147483649" r:id="rId1"/>
  </p:sldLayoutIdLst>
  <p:txStyles/>
</p:sldMaster>
</file>

<file path=ppt/slides/_rels/slide1.xml.rels><?xml version="1.0" encoding="UTF-8" standalone="yes"?><Relationships xmlns="http://schemas.openxmlformats.org/package/2006/relationships"/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2"/>
          <p:cNvSpPr txBox="1"/>
          <p:nvPr/>
        </p:nvSpPr>
        <p:spPr>
          <a:xfrm>
            <a:off x="500000" y="300000"/>
            <a:ext cx="11200000" cy="9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3200" b="1"/>
              <a:t>LBO Valuation Model — Multi-Instrument Capital Structure (RCF | SONIA | EBT | FCF)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50000" y="1450000"/>
            <a:ext cx="10800000" cy="47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550"/>
              <a:t>## LBO Valuation Model — BankerToolBench Task btb-eb2f7b9c</a:t>
            </a:r>
          </a:p>
          <a:p>
            <a:r>
              <a:rPr lang="en-US" sz="1550"/>
              <a:t/>
            </a:r>
          </a:p>
          <a:p>
            <a:r>
              <a:rPr lang="en-US" sz="1550"/>
              <a:t>**Valuation date:** 31 December 2025 | **Forecast period:** FY2026–FY2030 (Years 1–5)</a:t>
            </a:r>
          </a:p>
          <a:p>
            <a:r>
              <a:rPr lang="en-US" sz="1550"/>
              <a:t/>
            </a:r>
          </a:p>
          <a:p>
            <a:r>
              <a:rPr lang="en-US" sz="1550"/>
              <a:t>### Model Architecture</a:t>
            </a:r>
          </a:p>
          <a:p>
            <a:r>
              <a:rPr lang="en-US" sz="1550"/>
              <a:t/>
            </a:r>
          </a:p>
          <a:p>
            <a:r>
              <a:rPr lang="en-US" sz="1550"/>
              <a:t>**1. Transaction &amp; Operating Assumptions**</a:t>
            </a:r>
          </a:p>
          <a:p>
            <a:r>
              <a:rPr lang="en-US" sz="1550"/>
              <a:t>- Revenue (LTM Dec-2025): $1,000.0M | EBITDA (LTM): $200.0M</a:t>
            </a:r>
          </a:p>
          <a:p>
            <a:r>
              <a:rPr lang="en-US" sz="1550"/>
              <a:t>- Entry multiple: 10.0x EBITDA → Purchase EV: $2,000.0M</a:t>
            </a:r>
          </a:p>
          <a:p>
            <a:r>
              <a:rPr lang="en-US" sz="1550"/>
              <a:t>- Transaction fees: $10.0M | Financing fees: 2.0% of total debt</a:t>
            </a:r>
          </a:p>
          <a:p>
            <a:r>
              <a:rPr lang="en-US" sz="1550"/>
              <a:t>- Minimum cash: $5.0M | Mgmt rollover equity: $100.0M | Sweet equity: 20% of Ords</a:t>
            </a:r>
          </a:p>
          <a:p>
            <a:r>
              <a:rPr lang="en-US" sz="1550"/>
              <a:t>- Exit multiple: 10.0x EBITDA | Exit fees: 1.0% of exit EV</a:t>
            </a:r>
          </a:p>
          <a:p>
            <a:r>
              <a:rPr lang="en-US" sz="1550"/>
              <a:t/>
            </a:r>
          </a:p>
          <a:p>
            <a:r>
              <a:rPr lang="en-US" sz="1550"/>
              <a:t>**2. Financing Assumptions**</a:t>
            </a:r>
          </a:p>
          <a:p>
            <a:r>
              <a:rPr lang="en-US" sz="1550"/>
              <a:t>- Term Loan: 4.0x EBITDA = $800.0M | SONIA+450bps, floor 2.00% → effective rate 9.00% (4.50%+4.50%) | Mandatory amort: 5.0%/yr | Cash sweep: 50%</a:t>
            </a:r>
          </a:p>
          <a:p>
            <a:r>
              <a:rPr lang="en-US" sz="1550"/>
              <a:t>- Senior Notes: 2.0x EBITDA = $400.0M | Fixed 6.50% | No amort, no sweep</a:t>
            </a:r>
          </a:p>
          <a:p>
            <a:r>
              <a:rPr lang="en-US" sz="1550"/>
              <a:t>- RCF: $50M capacity, undrawn at entry | SONIA+400bps → 8.50% | Commitment fee: 0.25% on undrawn</a:t>
            </a:r>
          </a:p>
          <a:p>
            <a:r>
              <a:rPr lang="en-US" sz="1550"/>
              <a:t>- Prefs: 12.00% PIK rate</a:t>
            </a:r>
          </a:p>
          <a:p>
            <a:r>
              <a:rPr lang="en-US" sz="1550"/>
              <a:t>- SONIA hardcoded at 4.50% for all forecast years</a:t>
            </a:r>
          </a:p>
          <a:p>
            <a:r>
              <a:rPr lang="en-US" sz="1550"/>
              <a:t>- Total debt: $1,200.0M → Financing fees: $24.0M (2.0% × $1,200M), amortised over 5 years = $4.8M/yr</a:t>
            </a:r>
          </a:p>
          <a:p>
            <a:r>
              <a:rPr lang="en-US" sz="1550"/>
              <a:t/>
            </a:r>
          </a:p>
          <a:p>
            <a:r>
              <a:rPr lang="en-US" sz="1550"/>
              <a:t>**3. Sources &amp; Uses**</a:t>
            </a:r>
          </a:p>
          <a:p>
            <a:r>
              <a:rPr lang="en-US" sz="1550"/>
              <a:t>- Uses: Purchase equity $2,000M + Tx fees $10M + Fin fees $24M + Min cash $5M = $2,039.0M</a:t>
            </a:r>
          </a:p>
          <a:p>
            <a:r>
              <a:rPr lang="en-US" sz="1550"/>
              <a:t>- Sources: Term Loan $800M + Senior Notes $400M + Total Equity $839M</a:t>
            </a:r>
          </a:p>
          <a:p>
            <a:r>
              <a:rPr lang="en-US" sz="1550"/>
              <a:t>- Total Equity = $2,039M − $1,200M = $839.0M</a:t>
            </a:r>
          </a:p>
          <a:p>
            <a:r>
              <a:rPr lang="en-US" sz="1550"/>
              <a:t>- New PE equity = $839M − $100M (rollover) = $739.0M</a:t>
            </a:r>
          </a:p>
          <a:p>
            <a:r>
              <a:rPr lang="en-US" sz="1550"/>
              <a:t/>
            </a:r>
          </a:p>
          <a:p>
            <a:r>
              <a:rPr lang="en-US" sz="1550"/>
              <a:t>**4. Cap Table**</a:t>
            </a:r>
          </a:p>
          <a:p>
            <a:r>
              <a:rPr lang="en-US" sz="1550"/>
              <a:t>- Ords: $1.0M total (20% sweet = $0.2M, 80% institutional = $0.8M)</a:t>
            </a:r>
          </a:p>
          <a:p>
            <a:r>
              <a:rPr lang="en-US" sz="1550"/>
              <a:t>- Prefs: allocated pro-rata to institutional PE &amp; management (no sweet)</a:t>
            </a:r>
          </a:p>
          <a:p>
            <a:r>
              <a:rPr lang="en-US" sz="1550"/>
              <a:t>- Institutional PE strip: ($739.0M equity + prefs share) / total invested</a:t>
            </a:r>
          </a:p>
          <a:p>
            <a:r>
              <a:rPr lang="en-US" sz="1550"/>
              <a:t>- Management (excl sweet): ($100.0M rollover + prefs share) / total invested</a:t>
            </a:r>
          </a:p>
          <a:p>
            <a:r>
              <a:rPr lang="en-US" sz="1550"/>
              <a:t/>
            </a:r>
          </a:p>
          <a:p>
            <a:r>
              <a:rPr lang="en-US" sz="1550"/>
              <a:t>**5. Operating Model (FY2026–FY2030)**</a:t>
            </a:r>
          </a:p>
          <a:p>
            <a:r>
              <a:rPr lang="en-US" sz="1550"/>
              <a:t>Revenue grows 10% p.a. from $1,000M; EBITDA margin 20%; D&amp;A 2% of rev; Tax 25%; Capex 2% of rev; ΔNWC 1% of rev.</a:t>
            </a:r>
          </a:p>
          <a:p>
            <a:r>
              <a:rPr lang="en-US" sz="1550"/>
              <a:t/>
            </a:r>
          </a:p>
          <a:p>
            <a:r>
              <a:rPr lang="en-US" sz="1550"/>
              <a:t>**6. Debt Schedule Highlights**</a:t>
            </a:r>
          </a:p>
          <a:p>
            <a:r>
              <a:rPr lang="en-US" sz="1550"/>
              <a:t>- Term Loan amortises $40M/yr (5% of $800M); cash sweep 50% of excess FCF post-mandatory amort</a:t>
            </a:r>
          </a:p>
          <a:p>
            <a:r>
              <a:rPr lang="en-US" sz="1550"/>
              <a:t>- Senior Notes held flat at $400M (no amort/sweep)</a:t>
            </a:r>
          </a:p>
          <a:p>
            <a:r>
              <a:rPr lang="en-US" sz="1550"/>
              <a:t>- RCF drawn/repaid based on FCF deficits/surpluses</a:t>
            </a:r>
          </a:p>
          <a:p>
            <a:r>
              <a:rPr lang="en-US" sz="1550"/>
              <a:t>- Interest uses average balances (circ toggle = 1)</a:t>
            </a:r>
          </a:p>
          <a:p>
            <a:r>
              <a:rPr lang="en-US" sz="1550"/>
              <a:t/>
            </a:r>
          </a:p>
          <a:p>
            <a:r>
              <a:rPr lang="en-US" sz="1550"/>
              <a:t>**7. Returns Analysis**</a:t>
            </a:r>
          </a:p>
          <a:p>
            <a:r>
              <a:rPr lang="en-US" sz="1550"/>
              <a:t>- Exit EV = Exit EBITDA × 10.0x; Exit EBITDA = $322.1M (FY2030)</a:t>
            </a:r>
          </a:p>
          <a:p>
            <a:r>
              <a:rPr lang="en-US" sz="1550"/>
              <a:t>- Exit EV = $3,221.0M; Exit fees = $32.2M</a:t>
            </a:r>
          </a:p>
          <a:p>
            <a:r>
              <a:rPr lang="en-US" sz="1550"/>
              <a:t>- Prefs accrete at 12% PIK over 5 years from initial pref balance</a:t>
            </a:r>
          </a:p>
          <a:p>
            <a:r>
              <a:rPr lang="en-US" sz="1550"/>
              <a:t>- Proceeds allocated: debt repayment (TL+SN+RCF), prefs payout, remainder to ords pro-rata</a:t>
            </a:r>
          </a:p>
          <a:p>
            <a:r>
              <a:rPr lang="en-US" sz="1550"/>
              <a:t>- MOIC and returns calculated for PE, Management, and Sweet equity groups</a:t>
            </a:r>
          </a:p>
          <a:p>
            <a:r>
              <a:rPr lang="en-US" sz="1550"/>
              <a:t/>
            </a:r>
          </a:p>
          <a:p>
            <a:r>
              <a:rPr lang="en-US" sz="1550"/>
              <a:t>### Key Metric Coverage</a:t>
            </a:r>
          </a:p>
          <a:p>
            <a:r>
              <a:rPr lang="en-US" sz="1550"/>
              <a:t>- **RCF**: Undrawn at entry ($50M capacity); draws/repays based on FCF surplus/deficit each year; commitment fee 0.25% on undrawn average balance; interest at SONIA+4.00% = 8.50%</a:t>
            </a:r>
          </a:p>
          <a:p>
            <a:r>
              <a:rPr lang="en-US" sz="1550"/>
              <a:t>- **SONIA**: Hardcoded at 4.50% for all forecast years; drives Term Loan (4.50%+4.50%=9.00%) and RCF (4.50%+4.00%=8.50%) rates</a:t>
            </a:r>
          </a:p>
          <a:p>
            <a:r>
              <a:rPr lang="en-US" sz="1550"/>
              <a:t>- **EBT**: Earnings Before Tax computed each year as EBITDA − D&amp;A − Fin fee amort − Interest expense (TL+SN+RCF)</a:t>
            </a:r>
          </a:p>
          <a:p>
            <a:r>
              <a:rPr lang="en-US" sz="1550"/>
              <a:t>- **FCF**: Free Cash Flow = Net Income + D&amp;A + Fin fee amort − Capex − ΔNWC; tracked pre-RCF, post-RCF, post-sweep</a:t>
            </a:r>
          </a:p>
          <a:p>
            <a:r>
              <a:rPr lang="en-US" sz="1550"/>
              <a:t>Rows in backup workbook: 26</a:t>
            </a:r>
          </a:p>
          <a:p>
            <a:r>
              <a:rPr lang="en-US" sz="1550"/>
              <a:t>Transaction Summary — LTM Revenue M: 1000 · LTM EBITDA M: 200 · Entry Multiple X: 10 · Purchase EV M: 2000 · Transaction Fees M: 10 · Total Debt M: 1200</a:t>
            </a:r>
          </a:p>
          <a:p>
            <a:r>
              <a:rPr lang="en-US" sz="1550"/>
              <a:t>Financing Structure — Term LoaM: 800 · Term Loan Leverage X: 4 · Term Loan Rate Pct: 9 · Term Loan SONIA Spread Bps: 450 · Term Loan Floor Pct: 2 · Senior Notes M: 400</a:t>
            </a:r>
          </a:p>
          <a:p>
            <a:r>
              <a:rPr lang="en-US" sz="1550"/>
              <a:t>Revenue Forecast — FY2025 Year0 M: 1000 · FY2026 Year1 M: 1100 · FY2027 Year2 M: 1210 · FY2028 Year3 M: 1331 · FY2029 Year4 M: 1464.1 · FY2030 Year5 M: 1610.51</a:t>
            </a:r>
          </a:p>
          <a:p>
            <a:r>
              <a:rPr lang="en-US" sz="1550"/>
              <a:t>EBITDA Forecast — FY2025 Year0 M: 200 · FY2026 Year1 M: 220 · FY2027 Year2 M: 242 · FY2028 Year3 M: 266.2 · FY2029 Year4 M: 292.82 · FY2030 Year5 M: 322.102</a:t>
            </a:r>
          </a:p>
          <a:p>
            <a:r>
              <a:rPr lang="en-US" sz="1550"/>
              <a:t>D&amp;A Forecast (2% of Revenue) — FY2026 Year1 M: 22 · FY2027 Year2 M: 24.2 · FY2028 Year3 M: 26.62 · FY2029 Year4 M: 29.282 · FY2030 Year5 M: 32.2102</a:t>
            </a:r>
          </a:p>
          <a:p>
            <a:r>
              <a:rPr lang="en-US" sz="1550"/>
              <a:t>Capex Forecast (2% of Revenue) — FY2026 Year1 M: 22 · FY2027 Year2 M: 24.2 · FY2028 Year3 M: 26.62 · FY2029 Year4 M: 29.282 · FY2030 Year5 M: 32.2102</a:t>
            </a:r>
          </a:p>
          <a:p>
            <a:r>
              <a:rPr lang="en-US" sz="1550"/>
              <a:t>Change in NWC (1% of Revenue) — FY2026 Year1 M: 11 · FY2027 Year2 M: 12.1 · FY2028 Year3 M: 13.31 · FY2029 Year4 M: 14.641 · FY2030 Year5 M: 16.1051</a:t>
            </a:r>
          </a:p>
          <a:p>
            <a:r>
              <a:rPr lang="en-US" sz="1550"/>
              <a:t>Financing Fee Amortisation (5yr straight-line) — Total Financing Fees M: 24 · Annual Amortisation M: 4.8 · FY2026 Year1 M: 4.8 · FY2027 Year2 M: 4.8 · FY2028 Year3 M: 4.8 · FY2029 Year4 M: 4.8</a:t>
            </a:r>
          </a:p>
          <a:p>
            <a:r>
              <a:rPr lang="en-US" sz="1550"/>
              <a:t>Sources: room://artifact/j978dgqtvexpr32yfeq5mxgf5s89dah9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odeRoom">
  <a:themeElements>
    <a:clrScheme name="NodeRoom">
      <a:dk1>
        <a:srgbClr val="111418"/>
      </a:dk1>
      <a:lt1>
        <a:srgbClr val="FFFFFF"/>
      </a:lt1>
      <a:accent1>
        <a:srgbClr val="E36E4A"/>
      </a:accent1>
    </a:clrScheme>
    <a:fontScheme name="NodeRoom">
      <a:majorFont>
        <a:latin typeface="Arial"/>
      </a:majorFont>
      <a:minorFont>
        <a:latin typeface="Arial"/>
      </a:minorFont>
    </a:fontScheme>
    <a:fmtScheme name="NodeRoom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>
  <Application>NodeRoom</Application>
  <Slides>1</Slides>
</Properties>
</file>

<file path=docProps/core.xml><?xml version="1.0" encoding="utf-8"?>
<cp:coreProperties xmlns:cp="http://schemas.openxmlformats.org/package/2006/metadata/core-properties" xmlns:dc="http://purl.org/dc/elements/1.1/">
  <dc:title>LBO Valuation Model — Multi-Instrument Capital Structure (RCF | SONIA | EBT | FCF)</dc:title>
  <dc:creator>NodeAgent</dc:creator>
</cp:coreProperties>
</file>