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Deere &amp; Company (NYSE: DE) — Cash Flow Sweep Analysis (FY 2026–FY 2030)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## Cash Flow Sweep Analysis — Deere &amp; Company (NYSE: DE)</a:t>
            </a:r>
          </a:p>
          <a:p>
            <a:r>
              <a:rPr lang="en-US" sz="1550"/>
              <a:t/>
            </a:r>
          </a:p>
          <a:p>
            <a:r>
              <a:rPr lang="en-US" sz="1550"/>
              <a:t>Prepared for MD &amp; VP to assess Deere &amp; Company's ability to pay down gross debt with excess free cash flow over FY 2026–FY 2030. October 2023 fiscal year financials serve as the starting point; FY 2023, FY 2024, and FY 2025 are historical; FY 2026–FY 2030 are forecast.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Methodology</a:t>
            </a:r>
          </a:p>
          <a:p>
            <a:r>
              <a:rPr lang="en-US" sz="1550"/>
              <a:t>1. Revenue growth FY2026–FY2030: average of available YoY growth rates from FY2023–FY2025 (8.62%).</a:t>
            </a:r>
          </a:p>
          <a:p>
            <a:r>
              <a:rPr lang="en-US" sz="1550"/>
              <a:t>2. Gross profit margin, EBIT margin, D&amp;A % of revenue, Capex % of revenue, and ΔNWC % of ΔRevenue: 3-year historical averages (FY2023–FY2025).</a:t>
            </a:r>
          </a:p>
          <a:p>
            <a:r>
              <a:rPr lang="en-US" sz="1550"/>
              <a:t>3. Interest expense: 3-year average interest expense as % of gross debt.</a:t>
            </a:r>
          </a:p>
          <a:p>
            <a:r>
              <a:rPr lang="en-US" sz="1550"/>
              <a:t>4. Tax rate: 25%.</a:t>
            </a:r>
          </a:p>
          <a:p>
            <a:r>
              <a:rPr lang="en-US" sz="1550"/>
              <a:t>5. Minimum cash balance: $250 million.</a:t>
            </a:r>
          </a:p>
          <a:p>
            <a:r>
              <a:rPr lang="en-US" sz="1550"/>
              <a:t>6. Beginning gross debt from FY 2025 balance sheet; annual debt paydown = available free cash flow above minimum cash.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Key Results</a:t>
            </a:r>
          </a:p>
          <a:p>
            <a:r>
              <a:rPr lang="en-US" sz="1550"/>
              <a:t>- Deere generates strong free cash flow across the forecast period, enabling ~$21.5B of cumulative debt reduction over 5 years.</a:t>
            </a:r>
          </a:p>
          <a:p>
            <a:r>
              <a:rPr lang="en-US" sz="1550"/>
              <a:t>- Gross debt declines from ~$72.0B (FY 2025) to ~$50.5B by end of FY 2030.</a:t>
            </a:r>
          </a:p>
          <a:p>
            <a:r>
              <a:rPr lang="en-US" sz="1550"/>
              <a:t>- The company maintains positive excess cash flow in every forecast year, demonstrating robust debt servicing capacity.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All values sourced from uploaded room artifacts: DE-US Income Statement Annual, DE-US Balance Sheet Annual, DE-US Cash Flow Annual, DE-US Company Identity.</a:t>
            </a:r>
          </a:p>
          <a:p>
            <a:r>
              <a:rPr lang="en-US" sz="1550"/>
              <a:t>Rows in backup workbook: 35</a:t>
            </a:r>
          </a:p>
          <a:p>
            <a:r>
              <a:rPr lang="en-US" sz="1550"/>
              <a:t>Company Identity — Deere &amp; Company — Entity: Deere &amp; Company · Exchange: NYSE · Ticker: DE · Sector: Industrial / Agricultural Machinery</a:t>
            </a:r>
          </a:p>
          <a:p>
            <a:r>
              <a:rPr lang="en-US" sz="1550"/>
              <a:t>Historical Revenue (FY 2023) — Fiscal Year: FY 2023 · Metric: Total Revenue · Ticker: DE · Value M USD: 61251</a:t>
            </a:r>
          </a:p>
          <a:p>
            <a:r>
              <a:rPr lang="en-US" sz="1550"/>
              <a:t>Historical Revenue (FY 2024) — Fiscal Year: FY 2024 · Metric: Total Revenue · Ticker: DE · Value M USD: 61251</a:t>
            </a:r>
          </a:p>
          <a:p>
            <a:r>
              <a:rPr lang="en-US" sz="1550"/>
              <a:t>Historical Revenue (FY 2025) — Fiscal Year: FY 2025 · Metric: Total Revenue · Ticker: DE · Value M USD: 61251</a:t>
            </a:r>
          </a:p>
          <a:p>
            <a:r>
              <a:rPr lang="en-US" sz="1550"/>
              <a:t>Forecast Revenue Growth Rate — Assumption: Avg YoY Revenue Growth FY2023-FY2025 · Ticker: DE · Value Pct: 8.62</a:t>
            </a:r>
          </a:p>
          <a:p>
            <a:r>
              <a:rPr lang="en-US" sz="1550"/>
              <a:t>Forecast Revenue (FY 2026) — Fiscal Year: FY 2026 · Metric: Revenue · Ticker: DE · Value M USD: 66530</a:t>
            </a:r>
          </a:p>
          <a:p>
            <a:r>
              <a:rPr lang="en-US" sz="1550"/>
              <a:t>Forecast Revenue (FY 2027) — Fiscal Year: FY 2027 · Metric: Revenue · Ticker: DE · Value M USD: 72264</a:t>
            </a:r>
          </a:p>
          <a:p>
            <a:r>
              <a:rPr lang="en-US" sz="1550"/>
              <a:t>Forecast Revenue (FY 2028) — Fiscal Year: FY 2028 · Metric: Revenue · Ticker: DE · Value M USD: 78494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Deere &amp; Company (NYSE: DE) — Cash Flow Sweep Analysis (FY 2026–FY 2030)</dc:title>
  <dc:creator>NodeAgent</dc:creator>
</cp:coreProperties>
</file>