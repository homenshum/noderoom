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AI Hyperscaler &amp; Peer Trading Comps: MSFT, AMZN, GOOGL, META, AI</a:t>
            </a:r>
          </a:p>
        </p:txBody>
      </p:sp>
      <p:sp>
        <p:nvSpPr>
          <p:cNvPr id="3" name="Text 3"/>
          <p:cNvSpPr txBox="1"/>
          <p:nvPr/>
        </p:nvSpPr>
        <p:spPr>
          <a:xfrm>
            <a:off x="650000" y="1450000"/>
            <a:ext cx="10800000" cy="4700000"/>
          </a:xfrm>
          <a:prstGeom prst="rect">
            <a:avLst/>
          </a:prstGeom>
          <a:noFill/>
        </p:spPr>
        <p:txBody>
          <a:bodyPr wrap="square"/>
          <a:lstStyle/>
          <a:p>
            <a:r>
              <a:rPr lang="en-US" sz="1550"/>
              <a:t>Comparative trading multiples analysis for five AI-exposed equities: Microsoft (MSFT), Amazon (AMZN), Alphabet (GOOGL), Meta Platforms (META), and C3.ai (AI). The analysis presents the most recent annual income statement, balance sheet, and cash flow data for each company alongside current market capitalization, enterprise value, and key trading multiples (EV/Revenue, EV/EBITDA, P/E). Summary statistics including mean and median are provided for the peer group. All data is sourced from uploaded VDR workbooks containing company financials, shares outstanding, and price history artifacts. The analysis highlights that the large-cap hyperscalers (MSFT, AMZN, GOOGL, META) trade at premium multiples reflecting AI-driven growth expectations, while C3.ai (AI) trades at a high EV/Revenue multiple despite negative earnings, underscoring its early-stage growth profile and profitability challenges.</a:t>
            </a:r>
          </a:p>
          <a:p>
            <a:r>
              <a:rPr lang="en-US" sz="1550"/>
              <a:t>Rows in backup workbook: 5</a:t>
            </a:r>
          </a:p>
          <a:p>
            <a:r>
              <a:rPr lang="en-US" sz="1550"/>
              <a:t>MSFT — EBITDA Margin Pct: 53.1 · EV ($B): 1204.3 · EV/EBITDA: 28.9 · EV/Revenue: 7.2 · Market Cap ($B): 1187.4 · Net Income ($B): 72.4</a:t>
            </a:r>
          </a:p>
          <a:p>
            <a:r>
              <a:rPr lang="en-US" sz="1550"/>
              <a:t>AMZN — EBITDA Margin Pct: 16.1 · EV ($B): 593 · EV/EBITDA: 19.5 · EV/Revenue: 1.6 · Market Cap ($B): 593 · Net Income ($B): 10.1</a:t>
            </a:r>
          </a:p>
          <a:p>
            <a:r>
              <a:rPr lang="en-US" sz="1550"/>
              <a:t>GOOGL — EBITDA Margin Pct: 34.7 · EV ($B): 1056.1 · EV/EBITDA: 14.4 · EV/Revenue: 4.8 · Market Cap ($B): 1056.1 · Net Income ($B): 59.9</a:t>
            </a:r>
          </a:p>
          <a:p>
            <a:r>
              <a:rPr lang="en-US" sz="1550"/>
              <a:t>META — EBITDA Margin Pct: 35 · EV ($B): 327.1 · EV/EBITDA: 12.1 · EV/Revenue: 3.9 · Market Cap ($B): 327.1 · Net Income ($B): 23.2</a:t>
            </a:r>
          </a:p>
          <a:p>
            <a:r>
              <a:rPr lang="en-US" sz="1550"/>
              <a:t>AI — EBITDA Margin Pct: -96.3 · EV ($B): 3.1 · EV/EBITDA: -3.2 · EV/Revenue: 8.6 · Market Cap ($B): 2.9 · Net Income ($B): -0.3</a:t>
            </a:r>
          </a:p>
          <a:p>
            <a:r>
              <a:rPr lang="en-US" sz="1550"/>
              <a:t>Sources: j97fzs0cpvsnzcr2e96g8mckvh89dxcv, j978v980pkv10knmjas5ad1a9189dwyf, j976tykq8bv9xkwmecjq41ns9989cw1x, j9724a9a034hsjj6qkfe7f61q589drwm</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AI Hyperscaler &amp; Peer Trading Comps: MSFT, AMZN, GOOGL, META, AI</dc:title>
  <dc:creator>NodeAgent</dc:creator>
</cp:coreProperties>
</file>