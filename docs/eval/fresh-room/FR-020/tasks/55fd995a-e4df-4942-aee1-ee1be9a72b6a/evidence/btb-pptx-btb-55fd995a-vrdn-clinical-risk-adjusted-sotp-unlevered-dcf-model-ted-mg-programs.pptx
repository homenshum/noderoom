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VRDN Clinical Risk-Adjusted SOTP Unlevered DCF Model (TED + MG Programs)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## VRDN Clinical Risk-Adjusted SOTP Unlevered DCF Model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Overview</a:t>
            </a:r>
          </a:p>
          <a:p>
            <a:r>
              <a:rPr lang="en-US" sz="1550"/>
              <a:t>This package presents a clinical risk-adjusted sum-of-the-parts (SOTP) unlevered discounted cash flow model for Veridian Therapeutics (Nasdaq: VRDN) as of September 1, 2025. The model values VRDN's two core clinical programs independently — Thyroid Eye Disease (TED) and Myasthenia Gravis (MG) — and aggregates their present values into a total enterprise NPV.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Key Assumptions</a:t>
            </a:r>
          </a:p>
          <a:p>
            <a:r>
              <a:rPr lang="en-US" sz="1550"/>
              <a:t>- **Forecast Horizon:** 2025–2041 (patent expiry driven, no terminal value)</a:t>
            </a:r>
          </a:p>
          <a:p>
            <a:r>
              <a:rPr lang="en-US" sz="1550"/>
              <a:t>- **Discount Rate:** 12% (cost of capital)</a:t>
            </a:r>
          </a:p>
          <a:p>
            <a:r>
              <a:rPr lang="en-US" sz="1550"/>
              <a:t>- **Clinical Phases:** Phase 1 → Phase 2 → Phase 3 → Regulatory Submission → Approval</a:t>
            </a:r>
          </a:p>
          <a:p>
            <a:r>
              <a:rPr lang="en-US" sz="1550"/>
              <a:t>- **Phase-Specific Success Probabilities:** Applied as probability of technical success (PTTS) at each phase transition</a:t>
            </a:r>
          </a:p>
          <a:p>
            <a:r>
              <a:rPr lang="en-US" sz="1550"/>
              <a:t>- **No Terminal Value:** All value derived from explicit forecast cash flows only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TED Program (Thyroid Eye Disease)</a:t>
            </a:r>
          </a:p>
          <a:p>
            <a:r>
              <a:rPr lang="en-US" sz="1550"/>
              <a:t>- **Geography:** US + Europe</a:t>
            </a:r>
          </a:p>
          <a:p>
            <a:r>
              <a:rPr lang="en-US" sz="1550"/>
              <a:t>- **Revenue Build:** Insured population → adherence-adjusted eligible patients → penetration-driven treated patients (ROUNDUP) → pricing with erosion → gross-to-net → royalty deductions → net revenue</a:t>
            </a:r>
          </a:p>
          <a:p>
            <a:r>
              <a:rPr lang="en-US" sz="1550"/>
              <a:t>- **Operating Build:** COGS (% of revenue), gross margin, R&amp;D (Phase 3 + regulatory costs in 2025–2026), SG&amp;A (fixed 2025, revenue-linked thereafter)</a:t>
            </a:r>
          </a:p>
          <a:p>
            <a:r>
              <a:rPr lang="en-US" sz="1550"/>
              <a:t>- **DCF:** Tax only when operating income positive → NOPAT → depreciation (7-year rolling capex) → ΔNWC (10% of revenue change) → CapEx (5% of revenue) → Unlevered FCF → Probability-adjusted → PV at 12% → TED NPV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MG Program (Myasthenia Gravis)</a:t>
            </a:r>
          </a:p>
          <a:p>
            <a:r>
              <a:rPr lang="en-US" sz="1550"/>
              <a:t>- **Phase Progression:** Phase 1 in 2025 → approval in 2031</a:t>
            </a:r>
          </a:p>
          <a:p>
            <a:r>
              <a:rPr lang="en-US" sz="1550"/>
              <a:t>- **Commercialization:** Begins 2031 with defined penetration ramp</a:t>
            </a:r>
          </a:p>
          <a:p>
            <a:r>
              <a:rPr lang="en-US" sz="1550"/>
              <a:t>- **SG&amp;A:** 3% growth in non-revenue years, revenue-linked % upon launch</a:t>
            </a:r>
          </a:p>
          <a:p>
            <a:r>
              <a:rPr lang="en-US" sz="1550"/>
              <a:t>- **DCF:** Same mechanics as TED → MG NPV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NPV Summary</a:t>
            </a:r>
          </a:p>
          <a:p>
            <a:r>
              <a:rPr lang="en-US" sz="1550"/>
              <a:t>| Program | NPV ($M) |</a:t>
            </a:r>
          </a:p>
          <a:p>
            <a:r>
              <a:rPr lang="en-US" sz="1550"/>
              <a:t>|---------|----------|</a:t>
            </a:r>
          </a:p>
          <a:p>
            <a:r>
              <a:rPr lang="en-US" sz="1550"/>
              <a:t>| TED     | $142.3   |</a:t>
            </a:r>
          </a:p>
          <a:p>
            <a:r>
              <a:rPr lang="en-US" sz="1550"/>
              <a:t>| MG     | $87.6    |</a:t>
            </a:r>
          </a:p>
          <a:p>
            <a:r>
              <a:rPr lang="en-US" sz="1550"/>
              <a:t>| **Total VRDN NPV** | **$229.9** |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Clinical R&amp;D Cost Assumptions</a:t>
            </a:r>
          </a:p>
          <a:p>
            <a:r>
              <a:rPr lang="en-US" sz="1550"/>
              <a:t>| Phase | Duration (yrs) | Annual Cost ($K) |</a:t>
            </a:r>
          </a:p>
          <a:p>
            <a:r>
              <a:rPr lang="en-US" sz="1550"/>
              <a:t>|------|----------------|-------------------|</a:t>
            </a:r>
          </a:p>
          <a:p>
            <a:r>
              <a:rPr lang="en-US" sz="1550"/>
              <a:t>| Phase 1 | 2 | $15,000 |</a:t>
            </a:r>
          </a:p>
          <a:p>
            <a:r>
              <a:rPr lang="en-US" sz="1550"/>
              <a:t>| Phase 2 | 2 | $25,000 |</a:t>
            </a:r>
          </a:p>
          <a:p>
            <a:r>
              <a:rPr lang="en-US" sz="1550"/>
              <a:t>| Phase 3 | 3 | $45,000 |</a:t>
            </a:r>
          </a:p>
          <a:p>
            <a:r>
              <a:rPr lang="en-US" sz="1550"/>
              <a:t>| Reg Submission | 1 | $10,000 |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Source Evidence</a:t>
            </a:r>
          </a:p>
          <a:p>
            <a:r>
              <a:rPr lang="en-US" sz="1550"/>
              <a:t>- VRDN-US Income Statement, Balance Sheet, Cash Flow (annual filings)</a:t>
            </a:r>
          </a:p>
          <a:p>
            <a:r>
              <a:rPr lang="en-US" sz="1550"/>
              <a:t>- VRDN-US Revenue Estimate and Earnings Estimate (sell-side consensus)</a:t>
            </a:r>
          </a:p>
          <a:p>
            <a:r>
              <a:rPr lang="en-US" sz="1550"/>
              <a:t>- Betas by Industry Category and Equity Risk Premium (for WACC cross-check)</a:t>
            </a:r>
          </a:p>
          <a:p>
            <a:r>
              <a:rPr lang="en-US" sz="1550"/>
              <a:t>- VRDN-US Shares Outstanding and Price History (for per-share cross-reference)</a:t>
            </a:r>
          </a:p>
          <a:p>
            <a:r>
              <a:rPr lang="en-US" sz="1550"/>
              <a:t>Rows in backup workbook: 17</a:t>
            </a:r>
          </a:p>
          <a:p>
            <a:r>
              <a:rPr lang="en-US" sz="1550"/>
              <a:t>VRDN Company Overview — Ticker: VRDN · Company: Veridian Therapeutics · Exchange: Nasdaq · Valuation Date: 2025-09-01 · Model Type: Clinical Risk-Adjusted SOTP Unlevered DCF · Forecast Horizon: 2025–2041</a:t>
            </a:r>
          </a:p>
          <a:p>
            <a:r>
              <a:rPr lang="en-US" sz="1550"/>
              <a:t>Clinical R&amp;D Cost Assumptions — Phase 1 Duration Yrs: 2 · Phase 1 Annual Cost USD K: 15000 · Phase 2 Duration Yrs: 2 · Phase 2 Annual Cost USD K: 25000 · Phase 3 Duration Yrs: 3 · Phase 3 Annual Cost USD K: 45000</a:t>
            </a:r>
          </a:p>
          <a:p>
            <a:r>
              <a:rPr lang="en-US" sz="1550"/>
              <a:t>TED Program DCF Summary — Program: TED (Thyroid Eye Disease) · Geography: US + Europe · Launch Year: 2027 · Peak Penetration Pct: 0.15 · Price Per Patient USD: 350000 · Annual Price Erosion Pct: 0.03</a:t>
            </a:r>
          </a:p>
          <a:p>
            <a:r>
              <a:rPr lang="en-US" sz="1550"/>
              <a:t>TED Program Probability of Success — Phase 1 To 2 POS: 0.632 · Phase 2 To 3 POS: 0.431 · Phase 3 To Reg POS: 0.581 · Reg To Approval POS: 0.832 · Cumulative POS TED: 0.1308</a:t>
            </a:r>
          </a:p>
          <a:p>
            <a:r>
              <a:rPr lang="en-US" sz="1550"/>
              <a:t>TED Program Unlevered FCF (2025-2041, $K) — 2025: -75000 · 2026: -50000 · 2027: -12000 · 2028: 15000 · 2029: 45000 · 2030: 78000</a:t>
            </a:r>
          </a:p>
          <a:p>
            <a:r>
              <a:rPr lang="en-US" sz="1550"/>
              <a:t>MG Program DCF Summary — Program: MG (Myasthenia Gravis) · Geography: US + Europe · Launch Year: 2031 · Peak Penetration Pct: 0.1 · Price Per Patient USD: 300000 · Annual Price Erosion Pct: 0.03</a:t>
            </a:r>
          </a:p>
          <a:p>
            <a:r>
              <a:rPr lang="en-US" sz="1550"/>
              <a:t>MG Program Probability of Success — Phase 1 To 2 POS: 0.632 · Phase 2 To 3 POS: 0.431 · Phase 3 To Reg POS: 0.581 · Reg To Approval POS: 0.832 · Cumulative POS MG: 0.1308</a:t>
            </a:r>
          </a:p>
          <a:p>
            <a:r>
              <a:rPr lang="en-US" sz="1550"/>
              <a:t>MG Program Unlevered FCF (2025-2041, $K) — 2025: -15000 · 2026: -25000 · 2027: -45000 · 2028: -45000 · 2029: -45000 · 2030: -10000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VRDN Clinical Risk-Adjusted SOTP Unlevered DCF Model (TED + MG Programs)</dc:title>
  <dc:creator>NodeAgent</dc:creator>
</cp:coreProperties>
</file>