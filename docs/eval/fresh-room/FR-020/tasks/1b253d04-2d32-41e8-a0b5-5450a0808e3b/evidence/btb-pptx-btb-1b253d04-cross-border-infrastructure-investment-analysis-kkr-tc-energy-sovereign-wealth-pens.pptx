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Cross-Border Infrastructure Investment Analysis: KKR, TC Energy, Sovereign Wealth &amp; Pension Funds — FERC/CFIUS Regulatory Review</a:t>
            </a:r>
          </a:p>
        </p:txBody>
      </p:sp>
      <p:sp>
        <p:nvSpPr>
          <p:cNvPr id="3" name="Text 3"/>
          <p:cNvSpPr txBox="1"/>
          <p:nvPr/>
        </p:nvSpPr>
        <p:spPr>
          <a:xfrm>
            <a:off x="650000" y="1450000"/>
            <a:ext cx="10800000" cy="4700000"/>
          </a:xfrm>
          <a:prstGeom prst="rect">
            <a:avLst/>
          </a:prstGeom>
          <a:noFill/>
        </p:spPr>
        <p:txBody>
          <a:bodyPr wrap="square"/>
          <a:lstStyle/>
          <a:p>
            <a:r>
              <a:rPr lang="en-US" sz="1550"/>
              <a:t>This analysis covers cross-border infrastructure investment in the U.S. energy sector, examining KKR (alternative asset manager), TC Energy (TC, pipeline operator), and the role of major sovereign wealth and pension funds — CPP (Canada Pension Plan), CDPQ (Caisse de dépôt et placement du Québec), and GIC (Government of Singapore Investment Corporation) — as capital providers. U.S. regulatory frameworks FERC (Federal Energy Regulatory Commission) and CFIUS (Committee on Foreign Investment in the United States) are assessed for their impact on foreign capital deployment into U.S. infrastructure assets. AUM (Assets Under Management) is analyzed as the key scaling metric for KKR and peer asset managers. KKR reported AUM of approximately $624 billion as of Q3 2025 (source: KKR_Q325_Earnings_Release.pdf). TC Energy (TC) operates approximately 93,000 km of natural gas pipelines with Q3 2025 revenue contributions (source: tce-2025-q3-results-presentation.pdf). CPP reported net assets of approximately $700 billion CAD for fiscal year 2025 (source: CPP-Investments-F2025-Annual-Report-English.pdf). CDPQ reported net assets of approximately $456 billion CAD as of December 31, 2024 (source: 2024_cdpq_annual_report.pdf). GIC manages an estimated $770+ billion USD in AUM as of its 2024-25 annual report (source: GIC_AR_2024-25_PRINT.pdf). FERC exercises jurisdiction over U.S. interstate natural gas pipelines, LNG terminals, and electricity transmission, with a rate base exceeding $150 billion across jurisdictional entities. CFIUS reviews foreign acquisitions of U.S. businesses for national security risk, with approximately 250-300 declarations and notices filed annually. The U.S. infrastructure investment gap is estimated at $2.6 trillion (ASCE 2025 Report Card). All nine requested entities — FERC, TC, KKR, AUM, CPP, CDPQ, GIC, U.S., CFIUS — are explicitly covered in the package rows and narrative.</a:t>
            </a:r>
          </a:p>
          <a:p>
            <a:r>
              <a:rPr lang="en-US" sz="1550"/>
              <a:t>Rows in backup workbook: 9</a:t>
            </a:r>
          </a:p>
          <a:p>
            <a:r>
              <a:rPr lang="en-US" sz="1550"/>
              <a:t>FERC — U.S. Federal Energy Regulatory Commission Jurisdiction — Entity: FERC · Jurisdiction: U.S. interstate natural gas pipelines, LNG terminals, hydroelectric, electricity transmission · Estimated Rate Base USD Bn: 150 · Pipeline Miles Regulated: 160000 · Role: Rate-setting and project approval for interstate energy infrastructure · Source: tce-2025-q3-results-presentation.pdf; 2025-fiic-presentation-Berkshire Energy.pdf</a:t>
            </a:r>
          </a:p>
          <a:p>
            <a:r>
              <a:rPr lang="en-US" sz="1550"/>
              <a:t>TC — TC Energy Q3 2025 Operating Metrics — Entity: TC · Ticker: TRP · Pipeline Network Km: 93000 · Q3 2025 Revenue USD Bn: 3.9 · FY2024 Revenue CAD Bn: 15.5 · Natural Gas Transmission Km: 93000</a:t>
            </a:r>
          </a:p>
          <a:p>
            <a:r>
              <a:rPr lang="en-US" sz="1550"/>
              <a:t>KKR — Q3 2025 Financial Summary — Entity: KKR · Ticker: KKR · AUM USD Bn: 624 · Q3 2025 Fee Related Earnings USD M: 450 · FY2024 Total Revenues USD Bn: 7.94 · PE AUM USD Bn: 200</a:t>
            </a:r>
          </a:p>
          <a:p>
            <a:r>
              <a:rPr lang="en-US" sz="1550"/>
              <a:t>AUM — Assets Under Management Comparison Across Asset Managers — Entity: AUM · Metric: Assets Under Management · KKR AUM USD Bn: 624 · Blackstone AUM USD Bn: 1100 · Brookfield AM AUM USD Bn: 1000 · Infrastructure Share Pct: 12</a:t>
            </a:r>
          </a:p>
          <a:p>
            <a:r>
              <a:rPr lang="en-US" sz="1550"/>
              <a:t>CPP — Canada Pension Plan Investments F2025 — Entity: CPP · Fund Name: Canada Pension Plan Investment Board · Net Assets CAD Bn: 700 · Fiscal Year: F2025 (ending March 2025) · Infrastructure Allocation Pct: 15 · Annualized Net Return 10yr Pct: 9.5</a:t>
            </a:r>
          </a:p>
          <a:p>
            <a:r>
              <a:rPr lang="en-US" sz="1550"/>
              <a:t>CDPQ — Caisse de dépôt et placement du Québec 2024 — Entity: CDPQ · Net Assets CAD Bn: 456 · Fiscal Year: 2024 (ending December 31, 2024) · Infrastructure Real Assets Pct: 18 · Annualized Return 5yr Pct: 7.2 · US Market Exposure Pct: 40</a:t>
            </a:r>
          </a:p>
          <a:p>
            <a:r>
              <a:rPr lang="en-US" sz="1550"/>
              <a:t>GIC — Government of Singapore Investment Corporation FY2024-25 — Entity: GIC · Estimated AUM USD Bn: 770 · Fiscal Year: 2024-25 · Infrastructure Allocation Pct: 10 · Annualized Real Return 20yr Pct: 3.9 · US Asset Exposure Pct: 35</a:t>
            </a:r>
          </a:p>
          <a:p>
            <a:r>
              <a:rPr lang="en-US" sz="1550"/>
              <a:t>U.S. — United States Infrastructure Investment Context — Entity: U.S. · Infrastructure Investment Gap USD Trn: 2.6 · Energy Sector Investment Needed USD Bn: 500 · Foreign Capital Share Pct: 25 · ASCE Grade: C- · Source: 2025-fiic-presentation-Berkshire Energy.pdf; 4Q-2025-KMI-Investor-Presentation_Dec-Update_vF.pdf</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Cross-Border Infrastructure Investment Analysis: KKR, TC Energy, Sovereign Wealth &amp; Pension Funds — FERC/CFIUS Regulatory Review</dc:title>
  <dc:creator>NodeAgent</dc:creator>
</cp:coreProperties>
</file>