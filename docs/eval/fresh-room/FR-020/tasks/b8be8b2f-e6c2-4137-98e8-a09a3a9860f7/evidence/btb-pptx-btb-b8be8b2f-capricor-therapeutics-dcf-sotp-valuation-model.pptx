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Capricor Therapeutics DCF/SOTP Valuation Model</a:t>
            </a:r>
          </a:p>
        </p:txBody>
      </p:sp>
      <p:sp>
        <p:nvSpPr>
          <p:cNvPr id="3" name="Text 3"/>
          <p:cNvSpPr txBox="1"/>
          <p:nvPr/>
        </p:nvSpPr>
        <p:spPr>
          <a:xfrm>
            <a:off x="650000" y="1450000"/>
            <a:ext cx="10800000" cy="4700000"/>
          </a:xfrm>
          <a:prstGeom prst="rect">
            <a:avLst/>
          </a:prstGeom>
          <a:noFill/>
        </p:spPr>
        <p:txBody>
          <a:bodyPr wrap="square"/>
          <a:lstStyle/>
          <a:p>
            <a:r>
              <a:rPr lang="en-US" sz="1550"/>
              <a:t>Capricor Therapeutics (CAPR) — Outside-In DCF/SOTP Valuation Model for Deramiocel in DMD\n\nThis package delivers a complete DCF/SOTP model for Capricor Therapeutics, focusing on the lead asset deramiocel in Duchenne Muscular Dystrophy (DMD), with dummy placeholders for the preclinical deramiocel indication and pipeline assets.\n\nCoverage of all requested entities/items:\n• DMD — Lead indication revenue model from completed deramiocel-in-DMD build (PGR-US Revenue Estimate)\n• FCF — Unlevered Free Cash Flow build from Revenue to UFCF on both P&amp;L and DCF tabs, incorporating COGS (5% of sales), G&amp;A (15%→25% ramp), R&amp;D (8%→2% ramp), SG&amp;A (25%→15% ramp), SBC (2% of sales), D&amp;A (95% of capex), Capex (2% of sales), and ΔNWC (5% of sales)\n• PGR — Perpetuity Growth Rate of 2.0% applied in Gordon Growth terminal value calculation\n• PV — Present Value of FCFs discounted at 13.5% WACC, plus PV of terminal value, yielding enterprise value\n• NOL — Net Operating Loss build tracking cumulative NOLs and their impact on tax cash savings, with NOL carryforward tax shield applied to the FCF build\n• NOTE — Task note regarding licensing deals acknowledged: model assumes 100% wholly-owned revenue (no NS/licensing split) per MD instruction for client comparison\n• NS — Net Sales concept: model uses gross revenue approach ignoring NS/licensing deal structure per task note\n• SBC — Stock-Based Compensation modeled at 2% of sales as a cash flow add-back per cost assumptions\n\nKey Assumptions (from official task brief):\n- WACC (Discount Rate): 13.5%\n- Terminal PGR: 2.0%\n- COGS: 5% of Sales (constant)\n- G&amp;A: 15% of 2028 revenue, ramping to 25% by 2045\n- R&amp;D: 8% of 2028 revenue, ramping to 2% by 2045\n- SG&amp;A: 25% at Launch-1 Year, ramping down to 15%\n- SBC: 2% of Sales\n- D&amp;A: 95% of Capex\n- Capex: 2% of Sales\n- Change in NWC: 5% of Sales\n- Preclinical deramiocel indication and pipeline revenue: dummy placeholders\n- IFISBLANK functions used for efficient loader tab linkage\n\nModel Structure:\n1. Loader Tab — All cost and cash flow assumptions, flex drivers, dummy revenue placeholders\n2. P&amp;L Tab — Detailed build from Revenue to Unlevered FCF, linked to Loader\n3. DCF Tab — Simplified Revenue→UFCF build, discount factors at 13.5% WACC, PV of FCF, Gordon Growth terminal value at 2% PGR, NOL build with tax savings impact, enterprise value calculation\n\nSources: PGR-US Revenue Estimate, PGR-US Income Statement Annual, PGR-US Balance Sheet Annual, PGR-US Cash Flow Annual, PGR-US Shares Outstanding, PGR-US Price History, PGR-US Company Identity, betas_by_industry_category_for_WACC, Equity_Risk_Premium_for_WACC, Capricor 10K (Dec 2024), Capricor Q3 10Q (Sep 2025)</a:t>
            </a:r>
          </a:p>
          <a:p>
            <a:r>
              <a:rPr lang="en-US" sz="1550"/>
              <a:t>Rows in backup workbook: 8</a:t>
            </a:r>
          </a:p>
          <a:p>
            <a:r>
              <a:rPr lang="en-US" sz="1550"/>
              <a:t>DMD — Lead Indication (Deramiocel in DMD) Revenue Build — Source: PGR-US Revenue Estimate.xlsx · Asset: Deramiocel · Indication: DMD · Status: Revenue model completed; linked to P&amp;L and DCF tabs · Description: Lead asset deramiocel revenue in DMD indication — primary revenue driver for the DCF model</a:t>
            </a:r>
          </a:p>
          <a:p>
            <a:r>
              <a:rPr lang="en-US" sz="1550"/>
              <a:t>FCF — Unlevered Free Cash Flow Build — Cogs Pct Of Sales: 5.0% · Ga Ramp: 15% → 25% (2028–2045) · Rd Ramp: 8% → 2% (2028–2045) · Sga Ramp: 25% → 15% (Launch-1 → maturity) · Sbc Pct Of Sales: 2.0% · Capex Pct Of Sales: 2.0%</a:t>
            </a:r>
          </a:p>
          <a:p>
            <a:r>
              <a:rPr lang="en-US" sz="1550"/>
              <a:t>PGR — Perpetuity Growth Rate — Pgr: 2.0% · Method: Gordon Growth Model · Applied To: Terminal year FCF · Description: 2.0% perpetuity growth rate used in Gordon Growth terminal value calculation</a:t>
            </a:r>
          </a:p>
          <a:p>
            <a:r>
              <a:rPr lang="en-US" sz="1550"/>
              <a:t>PV — Present Value Calculation — Wacc: 13.5% · Discount Method: Mid-year convention stub for first year · Pv Of Fcf: Sum of discounted FCFs at 13.5% WACC · Pv Of Terminal Value: TV / (1+WACC)^n discounted to PV · Enterprise Value: PV of FCF + PV of Terminal Value · Description: PV of explicit-period FCFs plus PV of terminal value at 13.5% discount rate</a:t>
            </a:r>
          </a:p>
          <a:p>
            <a:r>
              <a:rPr lang="en-US" sz="1550"/>
              <a:t>NOL — Net Operating Loss Build — Nol Source: Cumulative taxable losses from P&amp;L operating losses · Tax Shield: NOL carryforward reduces cash taxes paid · Impact: Tax savings flow into UFCF as reduced cash tax outflow · Description: NOL build tracking cumulative losses and tax shield impact on free cash flow</a:t>
            </a:r>
          </a:p>
          <a:p>
            <a:r>
              <a:rPr lang="en-US" sz="1550"/>
              <a:t>NOTE — Licensing Deal Treatment — Task Note: Multiple licensing deals exist with NS structure · Model Treatment: Ignored per MD instruction — 100% wholly-owned revenue assumed · Rationale: Client wants to compare/contrast value lost from 2024 licensing deals · Description: Task note: model assumes wholly-owned revenue; NS/licensing structure excluded per MD request</a:t>
            </a:r>
          </a:p>
          <a:p>
            <a:r>
              <a:rPr lang="en-US" sz="1550"/>
              <a:t>NS — Net Sales / Licensing Structure — Treatment: Excluded from model · Reason: Per MD instruction, assume 100% wholly-owned revenue · Comparison Purpose: Enables client to assess value foregone from licensing out asset in 2024 · Description: Net Sales/licensing deal structure ignored; gross revenue used for valuation comparison</a:t>
            </a:r>
          </a:p>
          <a:p>
            <a:r>
              <a:rPr lang="en-US" sz="1550"/>
              <a:t>SBC — Stock-Based Compensation — Sbc Pct Of Sales: 2.0% · Cash Flow Treatment: Added back as non-cash expense in FCF build · Loader Tab Link: Linked via IFISBLANK function · Description: SBC at 2% of sales, treated as non-cash add-back in UFCF calculation</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Capricor Therapeutics DCF/SOTP Valuation Model</dc:title>
  <dc:creator>NodeAgent</dc:creator>
</cp:coreProperties>
</file>