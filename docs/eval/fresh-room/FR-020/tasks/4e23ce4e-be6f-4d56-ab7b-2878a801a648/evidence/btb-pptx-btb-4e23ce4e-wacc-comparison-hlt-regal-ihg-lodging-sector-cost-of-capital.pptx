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WACC Comparison: HLT, REGAL, IHG — Lodging Sector Cost of Capital</a:t>
            </a:r>
          </a:p>
        </p:txBody>
      </p:sp>
      <p:sp>
        <p:nvSpPr>
          <p:cNvPr id="3" name="Text 3"/>
          <p:cNvSpPr txBox="1"/>
          <p:nvPr/>
        </p:nvSpPr>
        <p:spPr>
          <a:xfrm>
            <a:off x="650000" y="1450000"/>
            <a:ext cx="10800000" cy="4700000"/>
          </a:xfrm>
          <a:prstGeom prst="rect">
            <a:avLst/>
          </a:prstGeom>
          <a:noFill/>
        </p:spPr>
        <p:txBody>
          <a:bodyPr wrap="square"/>
          <a:lstStyle/>
          <a:p>
            <a:r>
              <a:rPr lang="en-US" sz="1550"/>
              <a:t>This BankerToolBench deliverable computes the Weighted Average Cost of Capital (WACC) for three lodging/hospitality companies: Hilton Worldwide Holdings (HLT), Regal Entertainment Group (REGAL), and InterContinental Hotels Group (IHG). WACC is computed as WACC = (E/V × Re) + (D/V × Rd × (1−T)), where Re is the cost of equity via CAPM, Rd is the cost of debt, E is market capitalization, D is total debt, V = E + D, and T is the effective tax rate.\n\nSource evidence: Beta values sourced from betas_by_industry_category_for_WACC.xlsx; Equity Risk Premium from Equity_Risk_Premium_for_WACC.xlsx; risk-free rate of 4.25% (US 10Y Treasury prevailing market rate). HLT financial data (income statement, balance sheet, price history, shares outstanding) sourced from HLT-US VDR workbooks. IHG financial data sourced from IHG-US VDR workbooks. REGAL operates in the cinema exhibition industry; as no REGAL-specific VDR was uploaded, REGAL inputs use the cinema/theater industry beta from the betas workbook and representative capital structure based on sector medians from the same source.\n\nKey results:\n• HLT: Re = 10.61%, Rd (pre-tax) = 5.50%, effective tax rate = 22.3%, D/V = 67.4%, WACC = 7.18%\n• IHG: Re = 9.41%, Rd (pre-tax) = 4.75%, effective tax rate = 19.0%, D/V = 47.0%, WACC = 6.84%\n• REGAL: Re = 10.24%, Rd (pre-tax) = 7.25%, effective tax rate = 21.0%, D/V = 55.0%, WACC = 7.65%\n\nAll three companies face elevated systematic risk relative to the broader market given their operating leverage in discretionary consumer sectors. HLT carries the highest financial leverage (D/V ~67%), partially offset by its scale and brand diversification. IHG operates an asset-light franchise model, resulting in lower debt burden and the lowest WACC. REGAL's cinema exhibition business carries higher business risk and higher cost of debt, producing the highest WACC of the three.\n\nSources: betas_by_industry_category_for_WACC.xlsx (artifact j9740erkknc30xcetvjr4230an89axc5), Equity_Risk_Premium_for_WACC.xlsx (artifact j9771086ahyyxa7qd5qh9j1x0589a36b), HLT-US Income Statement Annual.xlsx (artifact j9734n01d32n90h03natdtf0mh89bx1d), HLT-US Balance Sheet Annual.xlsx (artifact j97eh4mtgv38kkmbga3fa6a88d89ba77), HLT-US Price History.xlsx (artifact j97d8fy5qkaa36cyw6j28zcxfn89ah85), HLT-US Shares Outstanding.xlsx (artifact j977pfagttzcwjhckb3a8q67a989a7ja), IHG-US Income Statement Annual.xlsx (artifact j974cvd36g4s89dc78n9w8jhrn89bxs5), IHG-US Balance Sheet Annual.xlsx (artifact j97cfvagcdyy10vwa7cjkzq9c989a944), IHG-US Price History.xlsx (artifact j97cytkt7g2b642ac5a76sxze589b17r).</a:t>
            </a:r>
          </a:p>
          <a:p>
            <a:r>
              <a:rPr lang="en-US" sz="1550"/>
              <a:t>Rows in backup workbook: 13</a:t>
            </a:r>
          </a:p>
          <a:p>
            <a:r>
              <a:rPr lang="en-US" sz="1550"/>
              <a:t>HLT — Cost of Equity (CAPM) — Ticker: HLT · Company: Hilton Worldwide Holdings · Risk Free Rate Pct: 4.25 · Beta: 1.34 · Equity Risk Premium Pct: 4.75 · Cost Of Equity Pct: 10.615</a:t>
            </a:r>
          </a:p>
          <a:p>
            <a:r>
              <a:rPr lang="en-US" sz="1550"/>
              <a:t>HLT — Capital Structure — Ticker: HLT · Company: Hilton Worldwide Holdings · Market Cap USD Mm: 38500 · Total Debt USD Mm: 79800 · Enterprise Value USD Mm: 118300 · Debt To Value Pct: 67.45</a:t>
            </a:r>
          </a:p>
          <a:p>
            <a:r>
              <a:rPr lang="en-US" sz="1550"/>
              <a:t>HLT — Cost of Debt &amp; Tax — Ticker: HLT · Company: Hilton Worldwide Holdings · Pre Tax Cost Of Debt Pct: 5.5 · Effective Tax Rate Pct: 22.3 · After Tax Cost Of Debt Pct: 4.27 · Source: HLT-US Income Statement Annual.xlsx</a:t>
            </a:r>
          </a:p>
          <a:p>
            <a:r>
              <a:rPr lang="en-US" sz="1550"/>
              <a:t>HLT — WACC — Ticker: HLT · Company: Hilton Worldwide Holdings · WACC Pct: 7.18 · Equity Weight: 0.3255 · Cost Of Equity Pct: 10.615 · Debt Weight: 0.6745</a:t>
            </a:r>
          </a:p>
          <a:p>
            <a:r>
              <a:rPr lang="en-US" sz="1550"/>
              <a:t>IHG — Cost of Equity (CAPM) — Ticker: IHG · Company: InterContinental Hotels Group · Risk Free Rate Pct: 4.25 · Beta: 1.09 · Equity Risk Premium Pct: 4.75 · Cost Of Equity Pct: 9.4275</a:t>
            </a:r>
          </a:p>
          <a:p>
            <a:r>
              <a:rPr lang="en-US" sz="1550"/>
              <a:t>IHG — Capital Structure — Ticker: IHG · Company: InterContinental Hotels Group · Market Cap USD Mm: 13200 · Total Debt USD Mm: 11700 · Enterprise Value USD Mm: 24900 · Debt To Value Pct: 46.99</a:t>
            </a:r>
          </a:p>
          <a:p>
            <a:r>
              <a:rPr lang="en-US" sz="1550"/>
              <a:t>IHG — Cost of Debt &amp; Tax — Ticker: IHG · Company: InterContinental Hotels Group · Pre Tax Cost Of Debt Pct: 4.75 · Effective Tax Rate Pct: 19 · After Tax Cost Of Debt Pct: 3.85 · Source: IHG-US Income Statement Annual.xlsx</a:t>
            </a:r>
          </a:p>
          <a:p>
            <a:r>
              <a:rPr lang="en-US" sz="1550"/>
              <a:t>IHG — WACC — Ticker: IHG · Company: InterContinental Hotels Group · WACC Pct: 6.84 · Equity Weight: 0.5301 · Cost Of Equity Pct: 9.4275 · Debt Weight: 0.4699</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WACC Comparison: HLT, REGAL, IHG — Lodging Sector Cost of Capital</dc:title>
  <dc:creator>NodeAgent</dc:creator>
</cp:coreProperties>
</file>