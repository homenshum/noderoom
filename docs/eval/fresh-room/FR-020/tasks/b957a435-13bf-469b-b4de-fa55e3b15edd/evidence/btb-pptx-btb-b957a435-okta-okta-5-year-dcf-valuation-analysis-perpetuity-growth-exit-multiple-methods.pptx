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Okta (OKTA) — 5-Year DCF Valuation Analysis (Perpetuity Growth &amp; Exit Multiple Methods)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Okta (OKTA) — 5-Year DCF Valuation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1. Historical Financials (FY2023–FY2025A)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($M) | FY2023 | FY2024 | FY2025A |</a:t>
            </a:r>
          </a:p>
          <a:p>
            <a:r>
              <a:rPr lang="en-US" sz="1550"/>
              <a:t>|---|---|---|---|</a:t>
            </a:r>
          </a:p>
          <a:p>
            <a:r>
              <a:rPr lang="en-US" sz="1550"/>
              <a:t>| Revenue | 1,867 | 2,460 | 3,140 |</a:t>
            </a:r>
          </a:p>
          <a:p>
            <a:r>
              <a:rPr lang="en-US" sz="1550"/>
              <a:t>| EBITDA | (137) | (71) | (9) |</a:t>
            </a:r>
          </a:p>
          <a:p>
            <a:r>
              <a:rPr lang="en-US" sz="1550"/>
              <a:t>| EBITDA Margin | (7.3)\% | (2.9)\% | (0.3)\%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2. Capital Structure (FY2025A)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($M) | Amount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Total Debt | 2,170 |</a:t>
            </a:r>
          </a:p>
          <a:p>
            <a:r>
              <a:rPr lang="en-US" sz="1550"/>
              <a:t>| Cash &amp; Equivalents | 2,660 |</a:t>
            </a:r>
          </a:p>
          <a:p>
            <a:r>
              <a:rPr lang="en-US" sz="1550"/>
              <a:t>| Net Debt | (490) |</a:t>
            </a:r>
          </a:p>
          <a:p>
            <a:r>
              <a:rPr lang="en-US" sz="1550"/>
              <a:t>| Shares Outstanding | 171.0 M |</a:t>
            </a:r>
          </a:p>
          <a:p>
            <a:r>
              <a:rPr lang="en-US" sz="1550"/>
              <a:t>| Current Share Price | $88.00 |</a:t>
            </a:r>
          </a:p>
          <a:p>
            <a:r>
              <a:rPr lang="en-US" sz="1550"/>
              <a:t>| Market Cap | 15,048 |</a:t>
            </a:r>
          </a:p>
          <a:p>
            <a:r>
              <a:rPr lang="en-US" sz="1550"/>
              <a:t>| Enterprise Value | 14,558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3. PP&amp;E Schedule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- Maintenance Capex: 1.5\% × Revenue</a:t>
            </a:r>
          </a:p>
          <a:p>
            <a:r>
              <a:rPr lang="en-US" sz="1550"/>
              <a:t>- Growth Capex: 2.5\% × Revenue</a:t>
            </a:r>
          </a:p>
          <a:p>
            <a:r>
              <a:rPr lang="en-US" sz="1550"/>
              <a:t>- Total Capex: 4.0\% × Revenue</a:t>
            </a:r>
          </a:p>
          <a:p>
            <a:r>
              <a:rPr lang="en-US" sz="1550"/>
              <a:t>- Average Depreciable Life: 8 years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($M) | 2026E | 2027E | 2028E | 2029E | 2030E |</a:t>
            </a:r>
          </a:p>
          <a:p>
            <a:r>
              <a:rPr lang="en-US" sz="1550"/>
              <a:t>|---|---|---|---|---|---|</a:t>
            </a:r>
          </a:p>
          <a:p>
            <a:r>
              <a:rPr lang="en-US" sz="1550"/>
              <a:t>| Beg PP&amp;E | 59 | 153 | 256 | 368 | 489 |</a:t>
            </a:r>
          </a:p>
          <a:p>
            <a:r>
              <a:rPr lang="en-US" sz="1550"/>
              <a:t>| (+) Maintenance Capex | 51 | 56 | 61 | 67 | 73 |</a:t>
            </a:r>
          </a:p>
          <a:p>
            <a:r>
              <a:rPr lang="en-US" sz="1550"/>
              <a:t>| (+) Growth Capex | 85 | 93 | 102 | 112 | 122 |</a:t>
            </a:r>
          </a:p>
          <a:p>
            <a:r>
              <a:rPr lang="en-US" sz="1550"/>
              <a:t>| (–) Depreciation | (7) | (19) | (32) | (46) | (61) |</a:t>
            </a:r>
          </a:p>
          <a:p>
            <a:r>
              <a:rPr lang="en-US" sz="1550"/>
              <a:t>| End PP&amp;E | 153 | 256 | 368 | 489 | 622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4. DCF Assumptions &amp; Drivers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Assumption | Value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Revenue Growth (step-up 3.0\%/yr) | 30.0\%, 33.0\%, 36.0\%, 39.0\%, 42.0\% |</a:t>
            </a:r>
          </a:p>
          <a:p>
            <a:r>
              <a:rPr lang="en-US" sz="1550"/>
              <a:t>| EBITDA Margin (step-up 5.0\%/yr) | 4.7\%, 9.7\%, 14.7\%, 19.7\%, 24.7\% |</a:t>
            </a:r>
          </a:p>
          <a:p>
            <a:r>
              <a:rPr lang="en-US" sz="1550"/>
              <a:t>| ΔNWC (% of Revenue) | 2.5\% |</a:t>
            </a:r>
          </a:p>
          <a:p>
            <a:r>
              <a:rPr lang="en-US" sz="1550"/>
              <a:t>| Perpetuity Growth Rate | 2.5\% |</a:t>
            </a:r>
          </a:p>
          <a:p>
            <a:r>
              <a:rPr lang="en-US" sz="1550"/>
              <a:t>| EBITDA Exit Multiple | 15.0x |</a:t>
            </a:r>
          </a:p>
          <a:p>
            <a:r>
              <a:rPr lang="en-US" sz="1550"/>
              <a:t>| WACC | 10.0\% |</a:t>
            </a:r>
          </a:p>
          <a:p>
            <a:r>
              <a:rPr lang="en-US" sz="1550"/>
              <a:t>| Risk-Free Rate | 4.25\% |</a:t>
            </a:r>
          </a:p>
          <a:p>
            <a:r>
              <a:rPr lang="en-US" sz="1550"/>
              <a:t>| Equity Risk Premium | 5.50\% |</a:t>
            </a:r>
          </a:p>
          <a:p>
            <a:r>
              <a:rPr lang="en-US" sz="1550"/>
              <a:t>| Levered Beta | 1.15 |</a:t>
            </a:r>
          </a:p>
          <a:p>
            <a:r>
              <a:rPr lang="en-US" sz="1550"/>
              <a:t>| Cost of Equity (CAPM) | 10.6\% |</a:t>
            </a:r>
          </a:p>
          <a:p>
            <a:r>
              <a:rPr lang="en-US" sz="1550"/>
              <a:t>| After-Tax Cost of Debt | 3.6\% |</a:t>
            </a:r>
          </a:p>
          <a:p>
            <a:r>
              <a:rPr lang="en-US" sz="1550"/>
              <a:t>| Tax Rate | 25.0\%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5. DCF Projection Calculations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($M) | 2026E | 2027E | 2028E | 2029E | 2030E |</a:t>
            </a:r>
          </a:p>
          <a:p>
            <a:r>
              <a:rPr lang="en-US" sz="1550"/>
              <a:t>|---|---|---|---|---|---|</a:t>
            </a:r>
          </a:p>
          <a:p>
            <a:r>
              <a:rPr lang="en-US" sz="1550"/>
              <a:t>| Revenue | 3,420 | 4,549 | 6,186 | 8,403 | 11,489 |</a:t>
            </a:r>
          </a:p>
          <a:p>
            <a:r>
              <a:rPr lang="en-US" sz="1550"/>
              <a:t>| EBITDA | 161 | 441 | 910 | 1,655 | 2,838 |</a:t>
            </a:r>
          </a:p>
          <a:p>
            <a:r>
              <a:rPr lang="en-US" sz="1550"/>
              <a:t>| (–) D&amp;A | (7) | (19) | (32) | (46) | (61) |</a:t>
            </a:r>
          </a:p>
          <a:p>
            <a:r>
              <a:rPr lang="en-US" sz="1550"/>
              <a:t>| EBIT | 154 | 422 | 878 | 1,609 | 2,777 |</a:t>
            </a:r>
          </a:p>
          <a:p>
            <a:r>
              <a:rPr lang="en-US" sz="1550"/>
              <a:t>| (–) Taxes @ 25\% | (39) | (106) | (220) | (402) | (694) |</a:t>
            </a:r>
          </a:p>
          <a:p>
            <a:r>
              <a:rPr lang="en-US" sz="1550"/>
              <a:t>| NOPAT | 116 | 317 | 659 | 1,206 | 2,083 |</a:t>
            </a:r>
          </a:p>
          <a:p>
            <a:r>
              <a:rPr lang="en-US" sz="1550"/>
              <a:t>| (+) D&amp;A | 7 | 19 | 32 | 46 | 61 |</a:t>
            </a:r>
          </a:p>
          <a:p>
            <a:r>
              <a:rPr lang="en-US" sz="1550"/>
              <a:t>| (–) Capex | (136) | (149) | (163) | (178) | (195) |</a:t>
            </a:r>
          </a:p>
          <a:p>
            <a:r>
              <a:rPr lang="en-US" sz="1550"/>
              <a:t>| (–) ΔNWC | (86) | (114) | (155) | (212) | (290) |</a:t>
            </a:r>
          </a:p>
          <a:p>
            <a:r>
              <a:rPr lang="en-US" sz="1550"/>
              <a:t>| **FCFF** | **(99)** | **73** | **374** | **863** | **1,659** |</a:t>
            </a:r>
          </a:p>
          <a:p>
            <a:r>
              <a:rPr lang="en-US" sz="1550"/>
              <a:t>| Discount Period | 0.5 | 1.5 | 2.5 | 3.5 | 4.5 |</a:t>
            </a:r>
          </a:p>
          <a:p>
            <a:r>
              <a:rPr lang="en-US" sz="1550"/>
              <a:t>| Discount Factor | 0.953 | 0.867 | 0.788 | 0.717 | 0.652 |</a:t>
            </a:r>
          </a:p>
          <a:p>
            <a:r>
              <a:rPr lang="en-US" sz="1550"/>
              <a:t>| PV of FCFF | (94) | 63 | 295 | 619 | 1,081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**Sum of PV(FCFF) = 1,964**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6. Terminal Value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#### Perpetuity Growth Method</a:t>
            </a:r>
          </a:p>
          <a:p>
            <a:r>
              <a:rPr lang="en-US" sz="1550"/>
              <a:t>- TV = 1,659 × 1.025 / (10.0\% – 2.5\%) = **22,673**</a:t>
            </a:r>
          </a:p>
          <a:p>
            <a:r>
              <a:rPr lang="en-US" sz="1550"/>
              <a:t>- PV of TV = 22,673 × 0.652 = **14,783**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#### Exit Multiple Method</a:t>
            </a:r>
          </a:p>
          <a:p>
            <a:r>
              <a:rPr lang="en-US" sz="1550"/>
              <a:t>- TV = 2,838 × 15.0x = **42,570**</a:t>
            </a:r>
          </a:p>
          <a:p>
            <a:r>
              <a:rPr lang="en-US" sz="1550"/>
              <a:t>- PV of TV = 42,570 × 0.652 = **27,756**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7. Enterprise Value → Share Price Bridge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#### Perpetuity Growth Method</a:t>
            </a:r>
          </a:p>
          <a:p>
            <a:r>
              <a:rPr lang="en-US" sz="1550"/>
              <a:t>| ($M) | Amount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Sum of PV(FCFF) | 1,964 |</a:t>
            </a:r>
          </a:p>
          <a:p>
            <a:r>
              <a:rPr lang="en-US" sz="1550"/>
              <a:t>| PV of Terminal Value | 14,783 |</a:t>
            </a:r>
          </a:p>
          <a:p>
            <a:r>
              <a:rPr lang="en-US" sz="1550"/>
              <a:t>| **Enterprise Value** | **16,747** |</a:t>
            </a:r>
          </a:p>
          <a:p>
            <a:r>
              <a:rPr lang="en-US" sz="1550"/>
              <a:t>| (+) Cash | 2,660 |</a:t>
            </a:r>
          </a:p>
          <a:p>
            <a:r>
              <a:rPr lang="en-US" sz="1550"/>
              <a:t>| (–) Total Debt | (2,170) |</a:t>
            </a:r>
          </a:p>
          <a:p>
            <a:r>
              <a:rPr lang="en-US" sz="1550"/>
              <a:t>| **Equity Value** | **17,237** |</a:t>
            </a:r>
          </a:p>
          <a:p>
            <a:r>
              <a:rPr lang="en-US" sz="1550"/>
              <a:t>| ÷ Shares Outstanding | 171.0 M |</a:t>
            </a:r>
          </a:p>
          <a:p>
            <a:r>
              <a:rPr lang="en-US" sz="1550"/>
              <a:t>| **Implied Share Price** | **$100.80**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#### Exit Multiple Method</a:t>
            </a:r>
          </a:p>
          <a:p>
            <a:r>
              <a:rPr lang="en-US" sz="1550"/>
              <a:t>| ($M) | Amount |</a:t>
            </a:r>
          </a:p>
          <a:p>
            <a:r>
              <a:rPr lang="en-US" sz="1550"/>
              <a:t>|---|---|</a:t>
            </a:r>
          </a:p>
          <a:p>
            <a:r>
              <a:rPr lang="en-US" sz="1550"/>
              <a:t>| Sum of PV(FCFF) | 1,964 |</a:t>
            </a:r>
          </a:p>
          <a:p>
            <a:r>
              <a:rPr lang="en-US" sz="1550"/>
              <a:t>| PV of Terminal Value | 27,756 |</a:t>
            </a:r>
          </a:p>
          <a:p>
            <a:r>
              <a:rPr lang="en-US" sz="1550"/>
              <a:t>| **Enterprise Value** | **29,720** |</a:t>
            </a:r>
          </a:p>
          <a:p>
            <a:r>
              <a:rPr lang="en-US" sz="1550"/>
              <a:t>| (+) Cash | 2,660 |</a:t>
            </a:r>
          </a:p>
          <a:p>
            <a:r>
              <a:rPr lang="en-US" sz="1550"/>
              <a:t>| (–) Total Debt | (2,170) |</a:t>
            </a:r>
          </a:p>
          <a:p>
            <a:r>
              <a:rPr lang="en-US" sz="1550"/>
              <a:t>| **Equity Value** | **30,210** |</a:t>
            </a:r>
          </a:p>
          <a:p>
            <a:r>
              <a:rPr lang="en-US" sz="1550"/>
              <a:t>| ÷ Shares Outstanding | 171.0 M |</a:t>
            </a:r>
          </a:p>
          <a:p>
            <a:r>
              <a:rPr lang="en-US" sz="1550"/>
              <a:t>| **Implied Share Price** | **$176.69**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8. Sensitivity — Exit Multiple Method (Share Price)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Exit Mult \ WACC | 5.2\% | 6.2\% | 7.2\% | 8.2\% | 9.2\% |</a:t>
            </a:r>
          </a:p>
          <a:p>
            <a:r>
              <a:rPr lang="en-US" sz="1550"/>
              <a:t>|---|---|---|---|---|---|</a:t>
            </a:r>
          </a:p>
          <a:p>
            <a:r>
              <a:rPr lang="en-US" sz="1550"/>
              <a:t>| 12.0x | $231.35 | $200.76 | $176.69 | $157.38 | $141.70 |</a:t>
            </a:r>
          </a:p>
          <a:p>
            <a:r>
              <a:rPr lang="en-US" sz="1550"/>
              <a:t>| 13.0x | $247.59 | $214.38 | $188.24 | $167.24 | $150.51 |</a:t>
            </a:r>
          </a:p>
          <a:p>
            <a:r>
              <a:rPr lang="en-US" sz="1550"/>
              <a:t>| 14.0x | $263.84 | $227.99 | $199.80 | $177.10 | $159.32 |</a:t>
            </a:r>
          </a:p>
          <a:p>
            <a:r>
              <a:rPr lang="en-US" sz="1550"/>
              <a:t>| 15.0x | $280.08 | $241.61 | $211.36 | $186.95 | $168.14 |</a:t>
            </a:r>
          </a:p>
          <a:p>
            <a:r>
              <a:rPr lang="en-US" sz="1550"/>
              <a:t>| 16.0x | $296.33 | $255.23 | $222.92 | $196.81 | $176.95 |</a:t>
            </a:r>
          </a:p>
          <a:p>
            <a:r>
              <a:rPr lang="en-US" sz="1550"/>
              <a:t>| 17.0x | $312.57 | $268.84 | $234.48 | $206.66 | $185.76 |</a:t>
            </a:r>
          </a:p>
          <a:p>
            <a:r>
              <a:rPr lang="en-US" sz="1550"/>
              <a:t>| 18.0x | $328.81 | $282.46 | $246.04 | $216.52 | $194.57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9. Sensitivity — Perpetuity Growth Method (Share Price)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Perp Growth \ WACC | 5.2\% | 6.2\% | 7.2\% | 8.2\% | 9.2\% |</a:t>
            </a:r>
          </a:p>
          <a:p>
            <a:r>
              <a:rPr lang="en-US" sz="1550"/>
              <a:t>|---|---|---|---|---|---|</a:t>
            </a:r>
          </a:p>
          <a:p>
            <a:r>
              <a:rPr lang="en-US" sz="1550"/>
              <a:t>| 1.0\% | $580.68 | $354.55 | $227.53 | $152.90 | $101.41 |</a:t>
            </a:r>
          </a:p>
          <a:p>
            <a:r>
              <a:rPr lang="en-US" sz="1550"/>
              <a:t>| 1.5\% | $747.32 | $421.27 | $254.42 | $163.89 | $103.62 |</a:t>
            </a:r>
          </a:p>
          <a:p>
            <a:r>
              <a:rPr lang="en-US" sz="1550"/>
              <a:t>| 2.0\% | $1,095.05 | $537.33 | $294.88 | $180.50 | $107.51 |</a:t>
            </a:r>
          </a:p>
          <a:p>
            <a:r>
              <a:rPr lang="en-US" sz="1550"/>
              <a:t>| 2.5\% | $2,674.45 | $769.36 | $360.28 | $206.74 | $114.32 |</a:t>
            </a:r>
          </a:p>
          <a:p>
            <a:r>
              <a:rPr lang="en-US" sz="1550"/>
              <a:t>| 3.0\% | n/m | $1,518.34 | $484.29 | $251.16 | $127.26 |</a:t>
            </a:r>
          </a:p>
          <a:p>
            <a:r>
              <a:rPr lang="en-US" sz="1550"/>
              <a:t>| 3.5\% | n/m | n/m | $836.11 | $343.40 | $152.74 |</a:t>
            </a:r>
          </a:p>
          <a:p>
            <a:r>
              <a:rPr lang="en-US" sz="1550"/>
              <a:t>| 4.0\% | n/m | n/m | n/m | $710.22 | $213.43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 Notes</a:t>
            </a:r>
          </a:p>
          <a:p>
            <a:r>
              <a:rPr lang="en-US" sz="1550"/>
              <a:t>1. Revenue Growth: 3.0\% annual step-up from 2025A revenue of $3,140M.</a:t>
            </a:r>
          </a:p>
          <a:p>
            <a:r>
              <a:rPr lang="en-US" sz="1550"/>
              <a:t>2. EBITDA Margin: 5.0\% annual step-up from 2025A margin of (0.3)\%.</a:t>
            </a:r>
          </a:p>
          <a:p>
            <a:r>
              <a:rPr lang="en-US" sz="1550"/>
              <a:t>3. PP&amp;E: Maintenance capex 1.5\% of revenue, growth capex 2.5\%, depreciation = beginning PP&amp;E / 8 years.</a:t>
            </a:r>
          </a:p>
          <a:p>
            <a:r>
              <a:rPr lang="en-US" sz="1550"/>
              <a:t>4. WACC: CAPM with Rf=4.25\%, ERP=5.50\%, beta=1.15. Cost of equity=10.6\%. WACC≈10.0\%.</a:t>
            </a:r>
          </a:p>
          <a:p>
            <a:r>
              <a:rPr lang="en-US" sz="1550"/>
              <a:t>5. Mid-year discounting convention (0.5, 1.5, 2.5, 3.5, 4.5).</a:t>
            </a:r>
          </a:p>
          <a:p>
            <a:r>
              <a:rPr lang="en-US" sz="1550"/>
              <a:t>6. Tax rate: 25.0\%.</a:t>
            </a:r>
          </a:p>
          <a:p>
            <a:r>
              <a:rPr lang="en-US" sz="1550"/>
              <a:t>7. Sensitivity: WACC 5.2\%–9.2\% in 1.0\% increments; Exit Multiple 12.0x–18.0x in 1.0x increments; Perp Growth 1.0\%–4.0\% in 0.5\% increments.</a:t>
            </a:r>
          </a:p>
          <a:p>
            <a:r>
              <a:rPr lang="en-US" sz="1550"/>
              <a:t>8. Discount Years labeled "Year 1"–"Year 5" with values 1–5 for discount factor calculation.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*Sources: OKTA historical financials, capital structure, shares outstanding, price history, revenue/earnings estimates, industry betas, and ERP data from uploaded room artifacts.*</a:t>
            </a:r>
          </a:p>
          <a:p>
            <a:r>
              <a:rPr lang="en-US" sz="1550"/>
              <a:t>Rows in backup workbook: 50</a:t>
            </a:r>
          </a:p>
          <a:p>
            <a:r>
              <a:rPr lang="en-US" sz="1550"/>
              <a:t>FY2023 Revenue ($M) — Value: 1867 · Source: OKTA Income Statement Annual</a:t>
            </a:r>
          </a:p>
          <a:p>
            <a:r>
              <a:rPr lang="en-US" sz="1550"/>
              <a:t>FY2024 Revenue ($M) — Value: 2460 · Source: OKTA Income Statement Annual</a:t>
            </a:r>
          </a:p>
          <a:p>
            <a:r>
              <a:rPr lang="en-US" sz="1550"/>
              <a:t>FY2025A Revenue ($M) — Value: 3140 · Source: OKTA Income Statement Annual</a:t>
            </a:r>
          </a:p>
          <a:p>
            <a:r>
              <a:rPr lang="en-US" sz="1550"/>
              <a:t>FY2025A EBITDA ($M) — Value: -9 · Source: OKTA Income Statement Annual</a:t>
            </a:r>
          </a:p>
          <a:p>
            <a:r>
              <a:rPr lang="en-US" sz="1550"/>
              <a:t>FY2025A EBITDA Margin (%) — Value: -0.3 · Source: Calculated from OKTA Income Statement</a:t>
            </a:r>
          </a:p>
          <a:p>
            <a:r>
              <a:rPr lang="en-US" sz="1550"/>
              <a:t>Total Debt ($M) — Value: 2170 · Source: OKTA Balance Sheet Annual</a:t>
            </a:r>
          </a:p>
          <a:p>
            <a:r>
              <a:rPr lang="en-US" sz="1550"/>
              <a:t>Cash &amp; Equivalents ($M) — Value: 2660 · Source: OKTA Balance Sheet Annual</a:t>
            </a:r>
          </a:p>
          <a:p>
            <a:r>
              <a:rPr lang="en-US" sz="1550"/>
              <a:t>Net Debt ($M) — Value: -490 · Source: Calculated from OKTA Balance Sheet</a:t>
            </a:r>
          </a:p>
          <a:p>
            <a:r>
              <a:rPr lang="en-US" sz="1550"/>
              <a:t>Sources: OKTA-US Company Identity.xlsx, OKTA-US Income Statement Annual.xlsx, OKTA-US Balance Sheet Annual.xlsx, OKTA-US Cash Flow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Okta (OKTA) — 5-Year DCF Valuation Analysis (Perpetuity Growth &amp; Exit Multiple Methods)</dc:title>
  <dc:creator>NodeAgent</dc:creator>
</cp:coreProperties>
</file>