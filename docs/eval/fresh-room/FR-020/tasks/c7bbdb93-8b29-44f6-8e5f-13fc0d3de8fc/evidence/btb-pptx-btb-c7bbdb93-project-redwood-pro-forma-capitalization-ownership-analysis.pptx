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Project Redwood – Pro Forma Capitalization &amp; Ownership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Executive Summary</a:t>
            </a:r>
          </a:p>
          <a:p>
            <a:r>
              <a:rPr lang="en-US" sz="1550"/>
              <a:t/>
            </a:r>
          </a:p>
          <a:p>
            <a:r>
              <a:rPr lang="en-US" sz="1550"/>
              <a:t>Project Redwood is a pro forma capitalization and ownership analysis built from the company's fully diluted cap table. The deliverable package includes: (i) a single-tab dynamic Excel model, (ii) an investor-ready PowerPoint slide, (iii) a PDF export of the slide, and (iv) a Word memo.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 Methodology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Source Data</a:t>
            </a:r>
          </a:p>
          <a:p>
            <a:r>
              <a:rPr lang="en-US" sz="1550"/>
              <a:t>- **Cap Table (Fully Diluted):** Starting capitalization extracted from the uploaded Cap_Table_Fully_Diluted.xlsx. The fully diluted cap table lists all common stock, preferred stock, options, warrants, RSUs, and other convertible securities on an as-converted basis.</a:t>
            </a:r>
          </a:p>
          <a:p>
            <a:r>
              <a:rPr lang="en-US" sz="1550"/>
              <a:t>- **Equity Risk Premium:** Sourced from Equity_Risk_Premium_for_WACC.xlsx for supplementary WACC context.</a:t>
            </a:r>
          </a:p>
          <a:p>
            <a:r>
              <a:rPr lang="en-US" sz="1550"/>
              <a:t>- **Industry Betas:** Sourced from betas_by_industry_category_for_WACC.xlsx for supplementary WACC context.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Pro Forma Capitalization Build</a:t>
            </a:r>
          </a:p>
          <a:p>
            <a:r>
              <a:rPr lang="en-US" sz="1550"/>
              <a:t>1. **Starting Capitalization (Pre-Money):** All fully diluted shares from the existing cap table are aggregated by security class to establish the pre-money share count and ownership percentages.</a:t>
            </a:r>
          </a:p>
          <a:p>
            <a:r>
              <a:rPr lang="en-US" sz="1550"/>
              <a:t>2. **New Investment (Primary):** The new primary investment dollars are converted to new shares using the agreed pre-money valuation and the current share price, yielding the new shares issued.</a:t>
            </a:r>
          </a:p>
          <a:p>
            <a:r>
              <a:rPr lang="en-US" sz="1550"/>
              <a:t>3. **Pro Forma Ownership:** Post-financing ownership is computed for each existing class and the new investor, both on a share-count basis and on a value basis.</a:t>
            </a:r>
          </a:p>
          <a:p>
            <a:r>
              <a:rPr lang="en-US" sz="1550"/>
              <a:t>4. **Ownership Dilution:** Dilution for each existing holder is measured as the difference between pre-money and pro forma ownership percentages.</a:t>
            </a:r>
          </a:p>
          <a:p>
            <a:r>
              <a:rPr lang="en-US" sz="1550"/>
              <a:t>5. **Value Bridge:** Pre-money equity value, new cash invested, and post-money equity value are reconciled.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Outputs</a:t>
            </a:r>
          </a:p>
          <a:p>
            <a:r>
              <a:rPr lang="en-US" sz="1550"/>
              <a:t>- **Pre-money fully diluted shares:** Total as-converted shares from cap table</a:t>
            </a:r>
          </a:p>
          <a:p>
            <a:r>
              <a:rPr lang="en-US" sz="1550"/>
              <a:t>- **Pre-money ownership %:** By security class and in aggregate for existing holders</a:t>
            </a:r>
          </a:p>
          <a:p>
            <a:r>
              <a:rPr lang="en-US" sz="1550"/>
              <a:t>- **New investor ownership %:** Pro forma stake after primary issuance</a:t>
            </a:r>
          </a:p>
          <a:p>
            <a:r>
              <a:rPr lang="en-US" sz="1550"/>
              <a:t>- **Post-money valuation:** Pre-money valuation + new investment</a:t>
            </a:r>
          </a:p>
          <a:p>
            <a:r>
              <a:rPr lang="en-US" sz="1550"/>
              <a:t>- **Dilution to existing holders:** Percentage point reduction in ownership</a:t>
            </a:r>
          </a:p>
          <a:p>
            <a:r>
              <a:rPr lang="en-US" sz="1550"/>
              <a:t>- **Per-share price:** Implied from pre-money valuation / pre-money FD shares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 Assumptions</a:t>
            </a:r>
          </a:p>
          <a:p>
            <a:r>
              <a:rPr lang="en-US" sz="1550"/>
              <a:t>- The cap table provided is the authoritative, fully diluted capitalization as of the analysis date.</a:t>
            </a:r>
          </a:p>
          <a:p>
            <a:r>
              <a:rPr lang="en-US" sz="1550"/>
              <a:t>- All options, warrants, RSUs, and convertibles are included on an as-converted (treasury stock method not applied unless specified in source) basis.</a:t>
            </a:r>
          </a:p>
          <a:p>
            <a:r>
              <a:rPr lang="en-US" sz="1550"/>
              <a:t>- The new investment is structured as a primary issuance of new preferred shares at the negotiated pre-money valuation.</a:t>
            </a:r>
          </a:p>
          <a:p>
            <a:r>
              <a:rPr lang="en-US" sz="1550"/>
              <a:t>- No secondary sales, option grants, or recapitalization events are modeled beyond the primary raise.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 File Inventory</a:t>
            </a:r>
          </a:p>
          <a:p>
            <a:r>
              <a:rPr lang="en-US" sz="1550"/>
              <a:t>1. **Project_Redwood_Pro_Forma_Cap_Model.xlsx** — Single-tab dynamic Excel model with inputs, calculations, and pro forma cap table.</a:t>
            </a:r>
          </a:p>
          <a:p>
            <a:r>
              <a:rPr lang="en-US" sz="1550"/>
              <a:t>2. **Project_Redwood_Pro_Forma_Cap_Model.xlsm** — Macro-enabled version for dynamic recalculation.</a:t>
            </a:r>
          </a:p>
          <a:p>
            <a:r>
              <a:rPr lang="en-US" sz="1550"/>
              <a:t>3. **Project_Redwood_Investor_Slide.pptx** — Single investor-ready PowerPoint slide.</a:t>
            </a:r>
          </a:p>
          <a:p>
            <a:r>
              <a:rPr lang="en-US" sz="1550"/>
              <a:t>4. **Project_Redwood_Memo.docx** — Word memo summarizing the analysis.</a:t>
            </a:r>
          </a:p>
          <a:p>
            <a:r>
              <a:rPr lang="en-US" sz="1550"/>
              <a:t>5. **Project_Redwood_Investor_Slide.pdf** — PDF export of the slide.</a:t>
            </a:r>
          </a:p>
          <a:p>
            <a:r>
              <a:rPr lang="en-US" sz="1550"/>
              <a:t>6. **manifest.json** — Package manifest with file metadata and provenance.</a:t>
            </a:r>
          </a:p>
          <a:p>
            <a:r>
              <a:rPr lang="en-US" sz="1550"/>
              <a:t>Rows in backup workbook: 11</a:t>
            </a:r>
          </a:p>
          <a:p>
            <a:r>
              <a:rPr lang="en-US" sz="1550"/>
              <a:t>Pre-Money Valuation ($M) — Value: 120 · Unit: USD millions · Source: Cap_Table_Fully_Diluted.xlsx; investor term · Confidence: 0.9</a:t>
            </a:r>
          </a:p>
          <a:p>
            <a:r>
              <a:rPr lang="en-US" sz="1550"/>
              <a:t>New Investment ($M) — Value: 25 · Unit: USD millions · Source: Cap_Table_Fully_Diluted.xlsx; investor term · Confidence: 0.9</a:t>
            </a:r>
          </a:p>
          <a:p>
            <a:r>
              <a:rPr lang="en-US" sz="1550"/>
              <a:t>Post-Money Valuation ($M) — Value: 145 · Unit: USD millions · Source: Pre-money + new investment · Confidence: 0.95</a:t>
            </a:r>
          </a:p>
          <a:p>
            <a:r>
              <a:rPr lang="en-US" sz="1550"/>
              <a:t>Pre-Money Fully Diluted Shares — Value: 10000000 · Unit: shares · Source: Cap_Table_Fully_Diluted.xlsx · Confidence: 0.95</a:t>
            </a:r>
          </a:p>
          <a:p>
            <a:r>
              <a:rPr lang="en-US" sz="1550"/>
              <a:t>Implied Pre-Money Share Price ($) — Value: 12 · Unit: USD/share · Source: Pre-money valuation / pre-money FD shares · Confidence: 0.95</a:t>
            </a:r>
          </a:p>
          <a:p>
            <a:r>
              <a:rPr lang="en-US" sz="1550"/>
              <a:t>New Shares Issued — Value: 2083333 · Unit: shares · Source: New investment / implied share price · Confidence: 0.95</a:t>
            </a:r>
          </a:p>
          <a:p>
            <a:r>
              <a:rPr lang="en-US" sz="1550"/>
              <a:t>Post-Money Fully Diluted Shares — Value: 12083333 · Unit: shares · Source: Pre-money FD + new shares · Confidence: 0.95</a:t>
            </a:r>
          </a:p>
          <a:p>
            <a:r>
              <a:rPr lang="en-US" sz="1550"/>
              <a:t>New Investor Ownership (%) — Value: 17.24 · Unit: percent · Source: New shares / post-money FD shares · Confidence: 0.95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Project Redwood – Pro Forma Capitalization &amp; Ownership Analysis</dc:title>
  <dc:creator>NodeAgent</dc:creator>
</cp:coreProperties>
</file>