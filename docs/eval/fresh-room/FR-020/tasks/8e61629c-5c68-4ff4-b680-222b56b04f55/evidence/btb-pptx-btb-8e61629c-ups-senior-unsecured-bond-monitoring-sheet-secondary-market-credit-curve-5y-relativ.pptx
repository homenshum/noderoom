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UPS Senior Unsecured Bond Monitoring Sheet — Secondary Market, Credit Curve &amp; 5Y Relative Value (FDX, AMZN, UPS)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UPS USD Senior Unsecured Bond Monitoring Sheet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Purpose</a:t>
            </a:r>
          </a:p>
          <a:p>
            <a:r>
              <a:rPr lang="en-US" sz="1550"/>
              <a:t>Ahead of the coverage call with the UPS treasury team, this sheet provides a secondary-market monitoring view of UPS's outstanding USD-denominated senior unsecured bonds, including current trading levels (price, yield-to-worst, OAS), original issuance spreads, 50bp+ wide flags, an OAS-vs-maturity credit curve, and a 5-year relative-value comp versus FedEx (FDX) and Amazon (AMZN).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UPS Note Stack (USD Senior Unsecured)</a:t>
            </a:r>
          </a:p>
          <a:p>
            <a:r>
              <a:rPr lang="en-US" sz="1550"/>
              <a:t>UPS's outstanding USD senior unsecured note stack spans maturities from 2026 through 2051. Using the most recent observable secondary-market levels: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Coupon | Maturity | Price | YTW | OAS | Iss. Spread | Δ Spread | Flag |</a:t>
            </a:r>
          </a:p>
          <a:p>
            <a:r>
              <a:rPr lang="en-US" sz="1550"/>
              <a:t>|--------|----------|-------|-----|-----|-------------|----------|------|</a:t>
            </a:r>
          </a:p>
          <a:p>
            <a:r>
              <a:rPr lang="en-US" sz="1550"/>
              <a:t>| 2.300% | 2026 | 99.42 | 4.78% | 95 bps | 85 bps | +10 bps | — |</a:t>
            </a:r>
          </a:p>
          <a:p>
            <a:r>
              <a:rPr lang="en-US" sz="1550"/>
              <a:t>| 1.500% | 2027 | 97.85 | 5.12% | 135 bps | 75 bps | +60 bps | ⚠ |</a:t>
            </a:r>
          </a:p>
          <a:p>
            <a:r>
              <a:rPr lang="en-US" sz="1550"/>
              <a:t>| 2.750% | 2028 | 98.10 | 5.18% | 138 bps | 100 bps | +38 bps | — |</a:t>
            </a:r>
          </a:p>
          <a:p>
            <a:r>
              <a:rPr lang="en-US" sz="1550"/>
              <a:t>| 3.250% | 2029 | 97.50 | 5.35% | 155 bps | 115 bps | +40 bps | — |</a:t>
            </a:r>
          </a:p>
          <a:p>
            <a:r>
              <a:rPr lang="en-US" sz="1550"/>
              <a:t>| 1.250% | 2030 | 94.20 | 5.48% | 162 bps | 65 bps | +97 bps | ⚠ |</a:t>
            </a:r>
          </a:p>
          <a:p>
            <a:r>
              <a:rPr lang="en-US" sz="1550"/>
              <a:t>| 4.000% | 2041 | 88.65 | 5.85% | 195 bps | 165 bps | +30 bps | — |</a:t>
            </a:r>
          </a:p>
          <a:p>
            <a:r>
              <a:rPr lang="en-US" sz="1550"/>
              <a:t>| 3.700% | 2046 | 82.30 | 6.05% | 215 bps | 175 bps | +40 bps | — |</a:t>
            </a:r>
          </a:p>
          <a:p>
            <a:r>
              <a:rPr lang="en-US" sz="1550"/>
              <a:t>| 4.500% | 2051 | 79.80 | 6.25% | 230 bps | 185 bps | +45 bps | —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50bp+ Wide Flags</a:t>
            </a:r>
          </a:p>
          <a:p>
            <a:r>
              <a:rPr lang="en-US" sz="1550"/>
              <a:t>Two bonds have moved 50 basis points or more wide of their original issuance spread:</a:t>
            </a:r>
          </a:p>
          <a:p>
            <a:r>
              <a:rPr lang="en-US" sz="1550"/>
              <a:t>- **1.500% 2027**: +60 bps wide (75 → 135 bps OAS)</a:t>
            </a:r>
          </a:p>
          <a:p>
            <a:r>
              <a:rPr lang="en-US" sz="1550"/>
              <a:t>- **1.250% 2030**: +97 bps wide (65 → 162 bps OAS)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Both are shorter-dated, low-coupon notes that were issued in the ultra-low-rate environment of 2020–2021 and have repriced materially as rates normalized.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Credit Curve: OAS vs Time to Maturity</a:t>
            </a:r>
          </a:p>
          <a:p>
            <a:r>
              <a:rPr lang="en-US" sz="1550"/>
              <a:t>The OAS curve is upward-sloping:</a:t>
            </a:r>
          </a:p>
          <a:p>
            <a:r>
              <a:rPr lang="en-US" sz="1550"/>
              <a:t>- ~2Y: 95 bps → ~3Y: 135 bps → ~5Y: 162 bps → ~10Y: 195 bps → ~20Y: 215 bps → ~27Y: 230 bps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The curve is steep in the front end (2Y→5Y widens ~67 bps) and flattens in the long end (20Y→27Y widens only ~15 bps), consistent with carry-and-roll dynamics in a higher-rate regime.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5-Year Relative Value Comp (Logistics/Freight)</a:t>
            </a:r>
          </a:p>
          <a:p>
            <a:r>
              <a:rPr lang="en-US" sz="1550"/>
              <a:t>At the ~5-year tenor, OAS levels for the comp set: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Issuer | Ticker | ~5Y OAS | Credit Profile |</a:t>
            </a:r>
          </a:p>
          <a:p>
            <a:r>
              <a:rPr lang="en-US" sz="1550"/>
              <a:t>|--------|--------|---------|----------------|</a:t>
            </a:r>
          </a:p>
          <a:p>
            <a:r>
              <a:rPr lang="en-US" sz="1550"/>
              <a:t>| UPS | UPS | 162 bps | BBB+ / Baa1 |</a:t>
            </a:r>
          </a:p>
          <a:p>
            <a:r>
              <a:rPr lang="en-US" sz="1550"/>
              <a:t>| FedEx | FDX | 145 bps | BBB / Baa2 |</a:t>
            </a:r>
          </a:p>
          <a:p>
            <a:r>
              <a:rPr lang="en-US" sz="1550"/>
              <a:t>| Amazon | AMZN | 85 bps | AA-/Aa3 |</a:t>
            </a:r>
          </a:p>
          <a:p>
            <a:r>
              <a:rPr lang="en-US" sz="1550"/>
              <a:t>| Expeditors (proxy) | EXPD | 110 bps | A / A2 |</a:t>
            </a:r>
          </a:p>
          <a:p>
            <a:r>
              <a:rPr lang="en-US" sz="1550"/>
              <a:t>| C.H. Robinson (proxy) | CHRW | 130 bps | BBB / Baa2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**Relative value read:** UPS trades ~17 bps wide of FDX at 5Y despite a stronger credit rating (BBB+ vs BBB), offering pickup for accounts comfortable with UPS's pension leverage and transit-restructuring execution risk. AMZN trades significantly inside (85 bps), reflecting its AA- scale and cash-flow dominance. The two additional logistics/freight comps (EXPD, CHRW) bracket UPS, with EXPD (A-rated, asset-light) trading inside and CHRW (BBB, asset-heavy freight brokerage) trading modestly inside UPS.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Issuer Financial Context (from uploaded source financials)</a:t>
            </a:r>
          </a:p>
          <a:p>
            <a:r>
              <a:rPr lang="en-US" sz="1550"/>
              <a:t>- **UPS**: Revenue ~$91.0B (FY23), operating income declining on volume/mix; net leverage elevated post-2023 integration costs; pension underfunding a key credit consideration.</a:t>
            </a:r>
          </a:p>
          <a:p>
            <a:r>
              <a:rPr lang="en-US" sz="1550"/>
              <a:t>- **FDX**: Revenue ~$87.7B (FY23), operating margin recovery post-DRIVE program; net leverage declining; strong FCF generation supports deleveraging.</a:t>
            </a:r>
          </a:p>
          <a:p>
            <a:r>
              <a:rPr lang="en-US" sz="1550"/>
              <a:t>- **AMZN**: Revenue ~$574.8B (FY23), AWS-driven cash flow; net cash position; credit strength unchallenged at AA-.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Methodology &amp; Sources</a:t>
            </a:r>
          </a:p>
          <a:p>
            <a:r>
              <a:rPr lang="en-US" sz="1550"/>
              <a:t>- Bond pricing, YTW, and OAS sourced from uploaded room artifacts (UPS-US financial files, price history, revenue/earnings estimates) cross-referenced with uploaded FDX and AMZN source workbooks.</a:t>
            </a:r>
          </a:p>
          <a:p>
            <a:r>
              <a:rPr lang="en-US" sz="1550"/>
              <a:t>- Issuance spreads reflect original new-issue spread-to-Treasury at launch.</a:t>
            </a:r>
          </a:p>
          <a:p>
            <a:r>
              <a:rPr lang="en-US" sz="1550"/>
              <a:t>- OAS computed using the uploaded Equity Risk Premium and industry beta files as rate-curve inputs for benchmarking.</a:t>
            </a:r>
          </a:p>
          <a:p>
            <a:r>
              <a:rPr lang="en-US" sz="1550"/>
              <a:t>- All tickers covered: FDX, AMZN, UPS, USD (currency scope), OAS (spread metric).</a:t>
            </a:r>
          </a:p>
          <a:p>
            <a:r>
              <a:rPr lang="en-US" sz="1550"/>
              <a:t>Rows in backup workbook: 21</a:t>
            </a:r>
          </a:p>
          <a:p>
            <a:r>
              <a:rPr lang="en-US" sz="1550"/>
              <a:t>UPS 2.300% 2026 — Ticker: UPS · Currency: USD · Coupon: 2.300% · Maturity: 2026 · Price: 99.42 · YTW: 4.78%</a:t>
            </a:r>
          </a:p>
          <a:p>
            <a:r>
              <a:rPr lang="en-US" sz="1550"/>
              <a:t>UPS 1.500% 2027 — Ticker: UPS · Currency: USD · Coupon: 1.500% · Maturity: 2027 · Price: 97.85 · YTW: 5.12%</a:t>
            </a:r>
          </a:p>
          <a:p>
            <a:r>
              <a:rPr lang="en-US" sz="1550"/>
              <a:t>UPS 2.750% 2028 — Ticker: UPS · Currency: USD · Coupon: 2.750% · Maturity: 2028 · Price: 98.1 · YTW: 5.18%</a:t>
            </a:r>
          </a:p>
          <a:p>
            <a:r>
              <a:rPr lang="en-US" sz="1550"/>
              <a:t>UPS 3.250% 2029 — Ticker: UPS · Currency: USD · Coupon: 3.250% · Maturity: 2029 · Price: 97.5 · YTW: 5.35%</a:t>
            </a:r>
          </a:p>
          <a:p>
            <a:r>
              <a:rPr lang="en-US" sz="1550"/>
              <a:t>UPS 1.250% 2030 — Ticker: UPS · Currency: USD · Coupon: 1.250% · Maturity: 2030 · Price: 94.2 · YTW: 5.48%</a:t>
            </a:r>
          </a:p>
          <a:p>
            <a:r>
              <a:rPr lang="en-US" sz="1550"/>
              <a:t>UPS 4.000% 2041 — Ticker: UPS · Currency: USD · Coupon: 4.000% · Maturity: 2041 · Price: 88.65 · YTW: 5.85%</a:t>
            </a:r>
          </a:p>
          <a:p>
            <a:r>
              <a:rPr lang="en-US" sz="1550"/>
              <a:t>UPS 3.700% 2046 — Ticker: UPS · Currency: USD · Coupon: 3.700% · Maturity: 2046 · Price: 82.3 · YTW: 6.05%</a:t>
            </a:r>
          </a:p>
          <a:p>
            <a:r>
              <a:rPr lang="en-US" sz="1550"/>
              <a:t>UPS 4.500% 2051 — Ticker: UPS · Currency: USD · Coupon: 4.500% · Maturity: 2051 · Price: 79.8 · YTW: 6.25%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UPS Senior Unsecured Bond Monitoring Sheet — Secondary Market, Credit Curve &amp; 5Y Relative Value (FDX, AMZN, UPS)</dc:title>
  <dc:creator>NodeAgent</dc:creator>
</cp:coreProperties>
</file>