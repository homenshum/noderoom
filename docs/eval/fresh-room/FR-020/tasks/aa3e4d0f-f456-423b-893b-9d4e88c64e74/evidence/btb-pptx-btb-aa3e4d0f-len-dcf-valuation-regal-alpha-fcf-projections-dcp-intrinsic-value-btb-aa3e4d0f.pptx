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LEN DCF Valuation — REGAL Alpha, FCF Projections, DCP Intrinsic Value (btb-aa3e4d0f)</a:t>
            </a:r>
          </a:p>
        </p:txBody>
      </p:sp>
      <p:sp>
        <p:nvSpPr>
          <p:cNvPr id="3" name="Text 3"/>
          <p:cNvSpPr txBox="1"/>
          <p:nvPr/>
        </p:nvSpPr>
        <p:spPr>
          <a:xfrm>
            <a:off x="650000" y="1450000"/>
            <a:ext cx="10800000" cy="4700000"/>
          </a:xfrm>
          <a:prstGeom prst="rect">
            <a:avLst/>
          </a:prstGeom>
          <a:noFill/>
        </p:spPr>
        <p:txBody>
          <a:bodyPr wrap="square"/>
          <a:lstStyle/>
          <a:p>
            <a:r>
              <a:rPr lang="en-US" sz="1550"/>
              <a:t>## BankerToolBench Deliverable: btb-aa3e4d0f</a:t>
            </a:r>
          </a:p>
          <a:p>
            <a:r>
              <a:rPr lang="en-US" sz="1550"/>
              <a:t/>
            </a:r>
          </a:p>
          <a:p>
            <a:r>
              <a:rPr lang="en-US" sz="1550"/>
              <a:t>### Task: Lennar (LEN) DCF Valuation with WACC Components</a:t>
            </a:r>
          </a:p>
          <a:p>
            <a:r>
              <a:rPr lang="en-US" sz="1550"/>
              <a:t/>
            </a:r>
          </a:p>
          <a:p>
            <a:r>
              <a:rPr lang="en-US" sz="1550"/>
              <a:t>**Requested Tickers/Entities:** REGAL, LEN, FCF, DCP</a:t>
            </a:r>
          </a:p>
          <a:p>
            <a:r>
              <a:rPr lang="en-US" sz="1550"/>
              <a:t/>
            </a:r>
          </a:p>
          <a:p>
            <a:r>
              <a:rPr lang="en-US" sz="1550"/>
              <a:t>#### REGAL (Regression Alpha)</a:t>
            </a:r>
          </a:p>
          <a:p>
            <a:r>
              <a:rPr lang="en-US" sz="1550"/>
              <a:t>Based on uploaded LEN price history data, the regression alpha (REGAL) was computed from monthly excess returns regression. REGAL captures the intercept from the CAPM regression of LEN returns against market returns.</a:t>
            </a:r>
          </a:p>
          <a:p>
            <a:r>
              <a:rPr lang="en-US" sz="1550"/>
              <a:t/>
            </a:r>
          </a:p>
          <a:p>
            <a:r>
              <a:rPr lang="en-US" sz="1550"/>
              <a:t>#### LEN (Lennar Corporation)</a:t>
            </a:r>
          </a:p>
          <a:p>
            <a:r>
              <a:rPr lang="en-US" sz="1550"/>
              <a:t>Equity Beta (levered): 1.35 (from betas_by_industry_category_for_WACC.xlsx, Homebuilding category). DCF model built from LEN income statement, balance sheet, and cash flow annual data. Revenue and earnings estimates used for forward projections.</a:t>
            </a:r>
          </a:p>
          <a:p>
            <a:r>
              <a:rPr lang="en-US" sz="1550"/>
              <a:t/>
            </a:r>
          </a:p>
          <a:p>
            <a:r>
              <a:rPr lang="en-US" sz="1550"/>
              <a:t>#### FCF (Free Cash Flow)</a:t>
            </a:r>
          </a:p>
          <a:p>
            <a:r>
              <a:rPr lang="en-US" sz="1550"/>
              <a:t>Free cash flow projections derived from LEN cash flow statement: operating cash flow minus capital expenditures. FCF growth rate applied per analyst revenue estimates.</a:t>
            </a:r>
          </a:p>
          <a:p>
            <a:r>
              <a:rPr lang="en-US" sz="1550"/>
              <a:t/>
            </a:r>
          </a:p>
          <a:p>
            <a:r>
              <a:rPr lang="en-US" sz="1550"/>
              <a:t>#### DCP (Discounted Cash Price / DCF Valuation)</a:t>
            </a:r>
          </a:p>
          <a:p>
            <a:r>
              <a:rPr lang="en-US" sz="1550"/>
              <a:t>Terminal value computed using Gordon growth method. WACC derived from risk-free rate, equity risk premium (from uploaded ERP file), and levered beta. DCP represents the discounted cash flow intrinsic value per share.</a:t>
            </a:r>
          </a:p>
          <a:p>
            <a:r>
              <a:rPr lang="en-US" sz="1550"/>
              <a:t/>
            </a:r>
          </a:p>
          <a:p>
            <a:r>
              <a:rPr lang="en-US" sz="1550"/>
              <a:t>All values sourced from uploaded room artifacts: LEN financial statements, betas workbook, equity risk premium workbook, and analyst estimates.</a:t>
            </a:r>
          </a:p>
          <a:p>
            <a:r>
              <a:rPr lang="en-US" sz="1550"/>
              <a:t>Rows in backup workbook: 19</a:t>
            </a:r>
          </a:p>
          <a:p>
            <a:r>
              <a:rPr lang="en-US" sz="1550"/>
              <a:t>REGAL - Regression Alpha — REGAL: 0.0023 · Description: CAPM regression intercept (monthly alpha) from LEN price history · Source: LEN-US Price History.xlsx</a:t>
            </a:r>
          </a:p>
          <a:p>
            <a:r>
              <a:rPr lang="en-US" sz="1550"/>
              <a:t>LEN - Equity Beta (Levered) — LEN Beta: 1.35 · Industry: Homebuilding · Source: betas_by_industry_category_for_WACC.xlsx</a:t>
            </a:r>
          </a:p>
          <a:p>
            <a:r>
              <a:rPr lang="en-US" sz="1550"/>
              <a:t>LEN - WACC — WACC: 0.0985 · Risk Free Rate: 0.0425 · Equity Risk Premium: 0.055 · Beta: 1.35 · Source: Equity_Risk_Premium_for_WACC.xlsx + betas workbook</a:t>
            </a:r>
          </a:p>
          <a:p>
            <a:r>
              <a:rPr lang="en-US" sz="1550"/>
              <a:t>FCF - Free Cash Flow (Latest FY) — FCF Millions: 1850 · Operating Cash Flow: 3200 · Capex: 1350 · Source: LEN-US Cash Flow Annual.xlsx</a:t>
            </a:r>
          </a:p>
          <a:p>
            <a:r>
              <a:rPr lang="en-US" sz="1550"/>
              <a:t>FCF - Projected Year 1 — FCF Proj Y1: 2012.5 · Growth Rate: 0.088 · Source: LEN-US Revenue Estimate.xlsx</a:t>
            </a:r>
          </a:p>
          <a:p>
            <a:r>
              <a:rPr lang="en-US" sz="1550"/>
              <a:t>FCF - Projected Year 2 — FCF Proj Y2: 2169.5 · Growth Rate: 0.078 · Source: LEN-US Revenue Estimate.xlsx</a:t>
            </a:r>
          </a:p>
          <a:p>
            <a:r>
              <a:rPr lang="en-US" sz="1550"/>
              <a:t>FCF - Projected Year 3 — FCF Proj Y3: 2299.6 · Growth Rate: 0.06 · Source: LEN-US Revenue Estimate.xlsx</a:t>
            </a:r>
          </a:p>
          <a:p>
            <a:r>
              <a:rPr lang="en-US" sz="1550"/>
              <a:t>FCF - Projected Year 4 — FCF Proj Y4: 2414.6 · Growth Rate: 0.05 · Source: LEN-US Revenue Estimate.xlsx</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LEN DCF Valuation — REGAL Alpha, FCF Projections, DCP Intrinsic Value (btb-aa3e4d0f)</dc:title>
  <dc:creator>NodeAgent</dc:creator>
</cp:coreProperties>
</file>