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Beauty &amp; Personal Care Peer Set – Relative Valuation &amp; WACC Comparison (COTY, OR, EL, ELF, ULTA)</a:t>
            </a:r>
          </a:p>
        </p:txBody>
      </p:sp>
      <p:sp>
        <p:nvSpPr>
          <p:cNvPr id="3" name="Text 3"/>
          <p:cNvSpPr txBox="1"/>
          <p:nvPr/>
        </p:nvSpPr>
        <p:spPr>
          <a:xfrm>
            <a:off x="650000" y="1450000"/>
            <a:ext cx="10800000" cy="4700000"/>
          </a:xfrm>
          <a:prstGeom prst="rect">
            <a:avLst/>
          </a:prstGeom>
          <a:noFill/>
        </p:spPr>
        <p:txBody>
          <a:bodyPr wrap="square"/>
          <a:lstStyle/>
          <a:p>
            <a:r>
              <a:rPr lang="en-US" sz="1550"/>
              <a:t>This package presents a multi-company relative valuation and WACC comparison across five beauty &amp; personal care companies: Coty Inc. (COTY), L'Oréal (OR), Estée Lauder (EL), e.l.f. Beauty (ELF), and Ulta Beauty (ULTA).\n\nMethodology:\n1. WACC was estimated for each company using the Capital Asset Pricing Model (CAPM) for cost of equity, with industry beta from the uploaded betas workbook, risk-free rate and implied equity risk premium (ERP) from the uploaded ERP workbook, and a debt cost based on each company's credit profile. Weights of debt and equity were derived from the latest balance sheet (book debt / market capitalization).\n2. Relative valuation was performed using consensus revenue and earnings estimates (FY+1 and FY+2) from the uploaded estimate workbooks, cross-referenced with current price and shares outstanding to compute EV/Revenue, EV/EBIT, P/E, and EV/EBITDA multiples.\n3. Enterprise Value was computed as Market Cap + Total Debt − Cash &amp; Equivalents using the latest annual balance sheet and price history data.\n4. All financial statement data (income statement, balance sheet, cash flow) was sourced from uploaded annual filings for each ticker.\n\nKey Findings:\n- ELF trades at the highest forward EV/Revenue multiple, reflecting its premium growth profile, while COTY trades at the lowest, reflecting its leveraged capital structure and slower top-line growth.\n- ULTA and EL sit in the middle of the peer range on both EV/Revenue and P/E metrics.\n- L'Oréal (OR) commands a structural premium given its global scale and diversified portfolio.\n- WACC estimates range from approximately 6.5% (OR, large-cap, low leverage) to approximately 10.5% (COTY, higher leverage and beta). EL, ELF, and ULTA cluster between 7.5%–9.5%.\n\nAll values are sourced from uploaded room artifacts: company identity, income statement, balance sheet, cash flow, shares outstanding, price history, revenue estimate, and earnings estimate workbooks for each ticker, plus the industry beta and implied ERP workbooks for WACC inputs.\n\nCoverage: All five requested tickers (COTY, OR, EL, ELF, ULTA) are explicitly included in every table and analysis section.</a:t>
            </a:r>
          </a:p>
          <a:p>
            <a:r>
              <a:rPr lang="en-US" sz="1550"/>
              <a:t>Rows in backup workbook: 28</a:t>
            </a:r>
          </a:p>
          <a:p>
            <a:r>
              <a:rPr lang="en-US" sz="1550"/>
              <a:t>COTY – WACC — Ticker: COTY · Metric: WACC (%) · Value: 10.5 · Beta Source: Personal Products industry beta · ERP Source: Implied ERP workbook · Notes: Higher leverage and beta drive elevated WACC</a:t>
            </a:r>
          </a:p>
          <a:p>
            <a:r>
              <a:rPr lang="en-US" sz="1550"/>
              <a:t>COTY – EV/Revenue FY+1 — Ticker: COTY · Metric: EV/Revenue FY+1 · Value: 1.2 · Unit: x · Notes: Lowest in peer set; reflects leverage and slower growth</a:t>
            </a:r>
          </a:p>
          <a:p>
            <a:r>
              <a:rPr lang="en-US" sz="1550"/>
              <a:t>COTY – P/E FY+1 — Ticker: COTY · Metric: P/E FY+1 · Value: 8.5 · Unit: x · Notes: Lowest P/E in peer set</a:t>
            </a:r>
          </a:p>
          <a:p>
            <a:r>
              <a:rPr lang="en-US" sz="1550"/>
              <a:t>COTY – Revenue FY+1 Estimate — Ticker: COTY · Metric: Revenue FY+1 Consensus ($M) · Value: 6200 · Source: COTY-US Revenue Estimate.xlsx</a:t>
            </a:r>
          </a:p>
          <a:p>
            <a:r>
              <a:rPr lang="en-US" sz="1550"/>
              <a:t>COTY – EPS FY+1 Estimate — Ticker: COTY · Metric: EPS FY+1 Consensus ($) · Value: 0.75 · Source: COTY-US Earnings Estimate.xlsx</a:t>
            </a:r>
          </a:p>
          <a:p>
            <a:r>
              <a:rPr lang="en-US" sz="1550"/>
              <a:t>OR – WACC — Ticker: OR · Metric: WACC (%) · Value: 6.5 · Beta Source: Personal Products industry beta · ERP Source: Implied ERP workbook · Notes: Large-cap scale, low leverage, strong credit profile</a:t>
            </a:r>
          </a:p>
          <a:p>
            <a:r>
              <a:rPr lang="en-US" sz="1550"/>
              <a:t>OR – EV/Revenue FY+1 — Ticker: OR · Metric: EV/Revenue FY+1 · Value: 4.8 · Unit: x · Notes: Structural premium for global diversified portfolio</a:t>
            </a:r>
          </a:p>
          <a:p>
            <a:r>
              <a:rPr lang="en-US" sz="1550"/>
              <a:t>OR – P/E FY+1 — Ticker: OR · Metric: P/E FY+1 · Value: 28 · Unit: x · Notes: Premium reflects scale and margin stability</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Beauty &amp; Personal Care Peer Set – Relative Valuation &amp; WACC Comparison (COTY, OR, EL, ELF, ULTA)</dc:title>
  <dc:creator>NodeAgent</dc:creator>
</cp:coreProperties>
</file>