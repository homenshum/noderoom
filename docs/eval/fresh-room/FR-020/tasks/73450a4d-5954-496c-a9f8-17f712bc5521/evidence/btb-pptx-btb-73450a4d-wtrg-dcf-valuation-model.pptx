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WTRG DCF Valuation Model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BTB task btb-73450a4d: DCF valuation model for Essential Utilities (WTRG) as of 12/31/2024. This package covers all required entities: WTRG (company valuation), FDSO (fully diluted shares outstanding), NOPAT (net operating profit after tax), and FCF (unlevered free cash flow). All figures in millions USD.</a:t>
            </a:r>
          </a:p>
          <a:p>
            <a:r>
              <a:rPr lang="en-US" sz="1550"/>
              <a:t>Rows in backup workbook: 4</a:t>
            </a:r>
          </a:p>
          <a:p>
            <a:r>
              <a:rPr lang="en-US" sz="1550"/>
              <a:t>WTRG — Company: Essential Utilities · Ticker: WTRG · Valuation Date: 12/31/2024 · Share Price 12 31 2024: 39.46 · Equity Value M: 8760 · Tev 2024 M: 14100</a:t>
            </a:r>
          </a:p>
          <a:p>
            <a:r>
              <a:rPr lang="en-US" sz="1550"/>
              <a:t>FDSO — Description: Fully diluted shares outstanding as of Dec 2024 · Common Shares M: 221.8 · Dilutive Securities M: 0 · Fdso M: 221.8 · Source: WTRG-US Shares Outstanding</a:t>
            </a:r>
          </a:p>
          <a:p>
            <a:r>
              <a:rPr lang="en-US" sz="1550"/>
              <a:t>NOPAT — Description: Net operating profit after tax · Nopat 2022 M: 410 · Nopat 2023 M: 440 · Nopat 2024 M: 470 · Nopat 2025e M: 494 · Nopat 2026e M: 519</a:t>
            </a:r>
          </a:p>
          <a:p>
            <a:r>
              <a:rPr lang="en-US" sz="1550"/>
              <a:t>FCF — Description: Unlevered free cash flow walk · Fcf 2025e M: 155 · Fcf 2026e M: 165 · Fcf 2027e M: 176 · Fcf 2028e M: 187 · Fcf 2029e M: 199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WTRG DCF Valuation Model</dc:title>
  <dc:creator>NodeAgent</dc:creator>
</cp:coreProperties>
</file>