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RTX &amp; GD - Merger Model (Accretion/Dilution Analysis)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Merger Model: RTX (Acquirer) &amp; GD (Target)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Overview</a:t>
            </a:r>
          </a:p>
          <a:p>
            <a:r>
              <a:rPr lang="en-US" sz="1550"/>
              <a:t>This package presents an accretion-dilution analysis for a hypothetical merger between RTX and GD, using FYE24 balance sheet and LTM Sep-25 income statement data sourced from uploaded VDR artifacts. Under the assumptions below, the deal is **accretive to RTX EPS by +$0.0641/share (+2.50%)** on a GAAP Basis.</a:t>
            </a:r>
          </a:p>
          <a:p>
            <a:r>
              <a:rPr lang="en-US" sz="1550"/>
              <a:t>Rows in backup workbook: 6</a:t>
            </a:r>
          </a:p>
          <a:p>
            <a:r>
              <a:rPr lang="en-US" sz="1550"/>
              <a:t>Transaction Structure — Acquirer: RTX · Target: GD · Acquirer Share Price (12/19/2025, Opening): $124.25 · Target Share Price (12/19/2025, Opening): $272.80 · Purchase Premium: 20.0% · Offer Price Per GD Share: $327.36</a:t>
            </a:r>
          </a:p>
          <a:p>
            <a:r>
              <a:rPr lang="en-US" sz="1550"/>
              <a:t>Pro Forma Capitalization — New RTX Shares Issued (Mm): 433.6 · RTX Pro Forma Shares (Mm): 1180.6 · New Debt Raised ($Mm): 34098.3 · RTX Standalone Debt ($Mm): 41000 · GD Refinanced Debt ($Mm): 10000 · Pro Forma Total Debt ($Mm): 75098.3</a:t>
            </a:r>
          </a:p>
          <a:p>
            <a:r>
              <a:rPr lang="en-US" sz="1550"/>
              <a:t>Purchase Price Allocation (Stock Sale) — Target Book Equity ($Mm): 20117 · Purchase Price ($Mm): 89732.3 · Goodwill ($Mm): 61735.3 · PP&amp;E Write-Up (20%): 3175.4 · Intangibles Write-Up (20%): 11704.3 · Deferred Tax Liability ($Mm): 4988</a:t>
            </a:r>
          </a:p>
          <a:p>
            <a:r>
              <a:rPr lang="en-US" sz="1550"/>
              <a:t>Pro Forma Income Statement (LTM Sep-25, GAAP Basis) — RTX Revenue: 80294 · GD Revenue: 42734 · Combined Revenue: 123028 · RTX COGS: 57812 · GD COGS: 36324 · Combined COGS: 94136</a:t>
            </a:r>
          </a:p>
          <a:p>
            <a:r>
              <a:rPr lang="en-US" sz="1550"/>
              <a:t>Sensitivity Table - Accretion/(Dilution) per Share — % Stock \\ % Premium: 15% · 5% Stock: $0.071 · 10% Stock: $0.068 · 15% Stock: $0.064 · 20% Stock: $0.061 · 25% Stock: $0.057</a:t>
            </a:r>
          </a:p>
          <a:p>
            <a:r>
              <a:rPr lang="en-US" sz="1550"/>
              <a:t>WACC Components — Risk-Free Rate (U.S 10Y Treasury): 4.25% · Equity Risk Premium: 5.50% · RTX Levered Beta: 0.83 · GD Levered Beta: 0.52 · RTX Cost Of Equity: 8.82% · GD Cost Of Equity: 7.11%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RTX &amp; GD - Merger Model (Accretion/Dilution Analysis)</dc:title>
  <dc:creator>NodeAgent</dc:creator>
</cp:coreProperties>
</file>