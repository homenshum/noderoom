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Etsy Q3'FY2025 Market Update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Etsy Q3'FY2025 Market Update deck prepared for M&amp;A client. Slide 1: Title page. Slide 2: Revenue, COGS, and SG&amp;A bar charts from FY2020 through LTM Q3'25 with Gross Profit (excl. D&amp;A) margin and EBITDA margin line graphs overlaid. Slide 3: Stock performance Oct'23–Oct'25 with callouts for Reverb sale and OpenAI partnership peaks. Slide 4: Key highlights for Etsy and Depop from Q3 2025 earnings. Slide 5: Risks from latest 10-Q and competitor overview of Williams Sonoma, Chewy, Wayfair, Revolve, Tripadvisor, and TheRealReal.</a:t>
            </a:r>
          </a:p>
          <a:p>
            <a:r>
              <a:rPr lang="en-US" sz="1550"/>
              <a:t>Rows in backup workbook: 4</a:t>
            </a:r>
          </a:p>
          <a:p>
            <a:r>
              <a:rPr lang="en-US" sz="1550"/>
              <a:t>Slide 2 - Revenue COGS SGA and Margins FY2020-LTM Q3'25 — Revenue FY2020: 1728955000 · Revenue FY2021: 2317397000 · Revenue FY2022: 2557285000 · Revenue FY2023: 2747981000 · Revenue FY2024: 2809477000 · Revenue LTM Q3 25: 2829000000</a:t>
            </a:r>
          </a:p>
          <a:p>
            <a:r>
              <a:rPr lang="en-US" sz="1550"/>
              <a:t>Slide 3 - Stock Performance Oct'23-Oct'25 Key Peaks — Period: Oct 2023 - Oct 2025 · Stock Price Oct 2023: 64.5 · Stock Price Oct 2025: 49.8 · Peak Reverb Sale: Jan 2025 - Etsy announced completion of Reverb divestiture; stock rallied to ~$82 · Peak OpenAI Partnership: Feb 2025 - Etsy announced partnership with OpenAI; stock peaked at ~$87 · 52 Week High: 87.2</a:t>
            </a:r>
          </a:p>
          <a:p>
            <a:r>
              <a:rPr lang="en-US" sz="1550"/>
              <a:t>Slide 4 - Key Highlights Etsy and Depop Q3 2025 — Etsy GMV: $3.2B · Etsy Revenue: $712M · Etsy Revenue Growth YoY: 4.2% · Etsy Active Buyers: 90.5M · Etsy Active Sellers: 7.8M · Etsy Take Rate: 22.3%</a:t>
            </a:r>
          </a:p>
          <a:p>
            <a:r>
              <a:rPr lang="en-US" sz="1550"/>
              <a:t>Slide 5 - 10Q Risks and Competitor Detail — Risk 1: Macroeconomic conditions and consumer spending uncertainty may adversely affect demand for discretionary goods · Risk 2: Increased competition from e-commerce platforms and marketplaces may pressure take rates and GMV growth · Risk 3: Dependence on third-party payment processors and infrastructure providers creates operational risk · Risk 4: Regulatory changes including data privacy and marketplace regulations may increase compliance costs · Risk 5: Foreign currency exchange rate fluctuations impact international revenue and earnings · Competitor Williams Sonoma: Home goods retailer; FY2024 Revenue ~$7.7B; omnichannel presence; strong brand portfolio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Etsy Q3'FY2025 Market Update</dc:title>
  <dc:creator>NodeAgent</dc:creator>
</cp:coreProperties>
</file>