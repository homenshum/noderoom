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META Take-Private Premium &amp; Forward Valuation Multiples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META Take-Private Premium &amp; Forward Valuation Multiples Analysis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Purpose</a:t>
            </a:r>
          </a:p>
          <a:p>
            <a:r>
              <a:rPr lang="en-US" sz="1550"/>
              <a:t>An analysis of illustrative offer prices for a potential take-private acquisition of Meta Platforms, Inc. (META), showing implied premiums and corresponding forward valuation multiples across a range of offer prices.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</a:t>
            </a:r>
          </a:p>
          <a:p>
            <a:r>
              <a:rPr lang="en-US" sz="1550"/>
              <a:t>1. **Base Price**: $590.00 (META's recent share price from Price History)</a:t>
            </a:r>
          </a:p>
          <a:p>
            <a:r>
              <a:rPr lang="en-US" sz="1550"/>
              <a:t>2. **Offer Price Range**: From $600 to $760 in $20 increments, representing premiums of ~1.7% to ~28.8% over the base price</a:t>
            </a:r>
          </a:p>
          <a:p>
            <a:r>
              <a:rPr lang="en-US" sz="1550"/>
              <a:t>3. **Equity Value**: Offer Price × Diluted Shares Outstanding (2,177.0M)</a:t>
            </a:r>
          </a:p>
          <a:p>
            <a:r>
              <a:rPr lang="en-US" sz="1550"/>
              <a:t>4. **Enterprise Value**: Equity Value + Net Debt (Total Debt - Cash &amp; Equivalents - Marketable Securities)</a:t>
            </a:r>
          </a:p>
          <a:p>
            <a:r>
              <a:rPr lang="en-US" sz="1550"/>
              <a:t>5. **Forward Multiples**: Calculated using FY2025 consensus estimates (Revenue: $171,889M, Adj. EBITDA: $99,338M, Net Income: $74,570M)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Assumptions</a:t>
            </a:r>
          </a:p>
          <a:p>
            <a:r>
              <a:rPr lang="en-US" sz="1550"/>
              <a:t>- Base share price: $590.00 (most recent close from price history)</a:t>
            </a:r>
          </a:p>
          <a:p>
            <a:r>
              <a:rPr lang="en-US" sz="1550"/>
              <a:t>- Diluted shares outstanding: 2,177.0M</a:t>
            </a:r>
          </a:p>
          <a:p>
            <a:r>
              <a:rPr lang="en-US" sz="1550"/>
              <a:t>- Net debt: $8,610M (Total debt of $29,610M less cash &amp; equivalents of $10,000M and marketable securities of $11,000M)</a:t>
            </a:r>
          </a:p>
          <a:p>
            <a:r>
              <a:rPr lang="en-US" sz="1550"/>
              <a:t>- FY2025E Revenue: $171,889M (consensus estimate)</a:t>
            </a:r>
          </a:p>
          <a:p>
            <a:r>
              <a:rPr lang="en-US" sz="1550"/>
              <a:t>- FY2025E Adj. EBITDA: $99,338M (consensus estimate)</a:t>
            </a:r>
          </a:p>
          <a:p>
            <a:r>
              <a:rPr lang="en-US" sz="1550"/>
              <a:t>- FY2025E Net Income: $74,570M (consensus estimate)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Offer Price Scenarios</a:t>
            </a:r>
          </a:p>
          <a:p>
            <a:r>
              <a:rPr lang="en-US" sz="1550"/>
              <a:t>Each scenario shows the offer price, implied premium, equity value, enterprise value, and the three forward valuation multiples (EV/Revenue, EV/Adj. EBITDA, P/E).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Sources</a:t>
            </a:r>
          </a:p>
          <a:p>
            <a:r>
              <a:rPr lang="en-US" sz="1550"/>
              <a:t>- META-US Price History, Shares Outstanding, Balance Sheet, Revenue Estimate, and Earnings Estimate files</a:t>
            </a:r>
          </a:p>
          <a:p>
            <a:r>
              <a:rPr lang="en-US" sz="1550"/>
              <a:t>Rows in backup workbook: 15</a:t>
            </a:r>
          </a:p>
          <a:p>
            <a:r>
              <a:rPr lang="en-US" sz="1550"/>
              <a:t>Base Share Price — Value: 590 · Source: META-US Price History</a:t>
            </a:r>
          </a:p>
          <a:p>
            <a:r>
              <a:rPr lang="en-US" sz="1550"/>
              <a:t>Diluted Shares Outstanding (M) — Value: 2177 · Source: META-US Shares Outstanding</a:t>
            </a:r>
          </a:p>
          <a:p>
            <a:r>
              <a:rPr lang="en-US" sz="1550"/>
              <a:t>FY2025E Revenue ($M) — Value: 171889 · Source: META-US Revenue Estimate</a:t>
            </a:r>
          </a:p>
          <a:p>
            <a:r>
              <a:rPr lang="en-US" sz="1550"/>
              <a:t>FY2025E Adj EBITDA ($M) — Value: 99338 · Source: META-US Earnings Estimate</a:t>
            </a:r>
          </a:p>
          <a:p>
            <a:r>
              <a:rPr lang="en-US" sz="1550"/>
              <a:t>FY2025E Net Income ($M) — Value: 74570 · Source: META-US Earnings Estimate</a:t>
            </a:r>
          </a:p>
          <a:p>
            <a:r>
              <a:rPr lang="en-US" sz="1550"/>
              <a:t>Net Debt ($M) — Value: 8610 · Source: META-US Balance Sheet</a:t>
            </a:r>
          </a:p>
          <a:p>
            <a:r>
              <a:rPr lang="en-US" sz="1550"/>
              <a:t>Offer Price $600 - Premium % — Offer Price: 600 · Premium Pct: 1.69 · Equity Value M: 1306200 · Enterprise Value M: 1314810 · Ev Revenue: 7.65 · Ev Ebitda: 13.23</a:t>
            </a:r>
          </a:p>
          <a:p>
            <a:r>
              <a:rPr lang="en-US" sz="1550"/>
              <a:t>Offer Price $620 - Premium % — Offer Price: 620 · Premium Pct: 5.08 · Equity Value M: 1349740 · Enterprise Value M: 1358350 · Ev Revenue: 7.9 · Ev Ebitda: 13.67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META Take-Private Premium &amp; Forward Valuation Multiples Analysis</dc:title>
  <dc:creator>NodeAgent</dc:creator>
</cp:coreProperties>
</file>