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2"/>
  </p:sldMasterIdLst>
  <p:sldIdLst>
    <p:sldId id="256" r:id="rId1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Master" Target="slideMasters/slideMaster1.xml"/>
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sldLayoutIdLst>
    <p:sldLayoutId id="2147483649" r:id="rId1"/>
  </p:sldLayoutIdLst>
  <p:txStyles/>
</p:sldMaster>
</file>

<file path=ppt/slides/_rels/slide1.xml.rels><?xml version="1.0" encoding="UTF-8" standalone="yes"?><Relationships xmlns="http://schemas.openxmlformats.org/package/2006/relationships"/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2"/>
          <p:cNvSpPr txBox="1"/>
          <p:nvPr/>
        </p:nvSpPr>
        <p:spPr>
          <a:xfrm>
            <a:off x="500000" y="300000"/>
            <a:ext cx="11200000" cy="9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3200" b="1"/>
              <a:t>AI Infrastructure &amp; Cloud Comparative Analysis: MSFT, AMZN (incl. AWS), GOOGL, and AI (C3.ai)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650000" y="1450000"/>
            <a:ext cx="10800000" cy="47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1550"/>
              <a:t>This package compares four companies along the AI infrastructure and cloud-computing value chain: Microsoft (MSFT), Amazon (AMZN, including its AWS segment), Alphabet/Google (GOOGL), and C3.ai (AI). The analysis uses freshly uploaded room source files — company financial statements, share-price history, revenue/earnings estimates, 10-K filings, industry betas, and implied ERP — for every entity. All five requested tickers/segments (MSFT, AMZN, GOOGL, AI, AWS) are explicitly covered in the rows below.</a:t>
            </a:r>
          </a:p>
          <a:p>
            <a:r>
              <a:rPr lang="en-US" sz="1550"/>
              <a:t/>
            </a:r>
          </a:p>
          <a:p>
            <a:r>
              <a:rPr lang="en-US" sz="1550"/>
              <a:t>Key analytical scope per entity:</a:t>
            </a:r>
          </a:p>
          <a:p>
            <a:r>
              <a:rPr lang="en-US" sz="1550"/>
              <a:t>- MSFT: Revenue (FY2024: $245.1B), Net income ($88.1B), Azure-driven Intelligent Cloud growth, operating margin expansion.</a:t>
            </a:r>
          </a:p>
          <a:p>
            <a:r>
              <a:rPr lang="en-US" sz="1550"/>
              <a:t>- AMZN: Consolidated revenue (FY2024: $638.0B), AWS segment revenue ($107.6B) and operating income ($39.8B), North America and International segments.</a:t>
            </a:r>
          </a:p>
          <a:p>
            <a:r>
              <a:rPr lang="en-US" sz="1550"/>
              <a:t>- AWS (Amazon Web Services): Standalone segment revenue, operating income, and operating margin extracted from AMZN 10-K segment disclosures, treated as the cloud-infrastructure benchmark.</a:t>
            </a:r>
          </a:p>
          <a:p>
            <a:r>
              <a:rPr lang="en-US" sz="1550"/>
              <a:t>- GOOGL: Revenue (FY2024: $350.0B), Google Cloud segment revenue ($43.2B) and operating income, AI/TPU infrastructure investment cadence.</a:t>
            </a:r>
          </a:p>
          <a:p>
            <a:r>
              <a:rPr lang="en-US" sz="1550"/>
              <a:t>- AI (C3.ai): Revenue (FY2024: $309M), subscription revenue mix, gross margin, net loss, enterprise AI application positioning.</a:t>
            </a:r>
          </a:p>
          <a:p>
            <a:r>
              <a:rPr lang="en-US" sz="1550"/>
              <a:t/>
            </a:r>
          </a:p>
          <a:p>
            <a:r>
              <a:rPr lang="en-US" sz="1550"/>
              <a:t>Comparative metrics computed: revenue growth rate, operating margin, net margin, market capitalization (from price × shares outstanding), and analyst consensus revenue estimates where available. All figures sourced from the uploaded VDR workbook artifacts in this room; no external benchmark data used.</a:t>
            </a:r>
          </a:p>
          <a:p>
            <a:r>
              <a:rPr lang="en-US" sz="1550"/>
              <a:t>Rows in backup workbook: 36</a:t>
            </a:r>
          </a:p>
          <a:p>
            <a:r>
              <a:rPr lang="en-US" sz="1550"/>
              <a:t>MSFT — FY2024 Revenue ($B) — Value: 245.122 · Currency: USD billions · Fiscal Year: FY2024 (Jun 2024) · Source: MSFT-US Income Statement Annual.xlsx · Ticker: MSFT</a:t>
            </a:r>
          </a:p>
          <a:p>
            <a:r>
              <a:rPr lang="en-US" sz="1550"/>
              <a:t>MSFT — FY2024 Net Income ($B) — Value: 88.118 · Currency: USD billions · Fiscal Year: FY2024 · Source: MSFT-US Income Statement Annual.xlsx · Ticker: MSFT</a:t>
            </a:r>
          </a:p>
          <a:p>
            <a:r>
              <a:rPr lang="en-US" sz="1550"/>
              <a:t>MSFT — FY2024 Operating Margin (%) — Value: 44.7 · Unit: % · Calculation: Operating Income / Revenue · Source: MSFT-US Income Statement Annual.xlsx · Ticker: MSFT</a:t>
            </a:r>
          </a:p>
          <a:p>
            <a:r>
              <a:rPr lang="en-US" sz="1550"/>
              <a:t>MSFT — FY2023 Revenue ($B) for growth calc — Value: 211.915 · Currency: USD billions · Fiscal Year: FY2023 · Source: MSFT-US Income Statement Annual.xlsx · Ticker: MSFT</a:t>
            </a:r>
          </a:p>
          <a:p>
            <a:r>
              <a:rPr lang="en-US" sz="1550"/>
              <a:t>MSFT — Revenue YoY Growth (%) — Value: 15.7 · Unit: % · Calculation: (245.122/211.915-1)*100 · Ticker: MSFT</a:t>
            </a:r>
          </a:p>
          <a:p>
            <a:r>
              <a:rPr lang="en-US" sz="1550"/>
              <a:t>MSFT — Shares Outstanding (M) — Value: 7434 · Unit: millions · Source: MSFT-US Shares Outstanding.xlsx · Ticker: MSFT</a:t>
            </a:r>
          </a:p>
          <a:p>
            <a:r>
              <a:rPr lang="en-US" sz="1550"/>
              <a:t>MSFT — Market Cap ($B, latest price) — Value: 3109.5 · Currency: USD billions · Calculation: shares × latest close price · Source: MSFT-US Price History.xlsx; MSFT-US Shares Outstanding.xlsx · Ticker: MSFT</a:t>
            </a:r>
          </a:p>
          <a:p>
            <a:r>
              <a:rPr lang="en-US" sz="1550"/>
              <a:t>AMZN — FY2024 Revenue ($B) — Value: 637.959 · Currency: USD billions · Fiscal Year: FY2024 (Dec 2024) · Source: AMZN-US Income Statement Annual.xlsx · Ticker: AMZN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odeRoom">
  <a:themeElements>
    <a:clrScheme name="NodeRoom">
      <a:dk1>
        <a:srgbClr val="111418"/>
      </a:dk1>
      <a:lt1>
        <a:srgbClr val="FFFFFF"/>
      </a:lt1>
      <a:accent1>
        <a:srgbClr val="E36E4A"/>
      </a:accent1>
    </a:clrScheme>
    <a:fontScheme name="NodeRoom">
      <a:majorFont>
        <a:latin typeface="Arial"/>
      </a:majorFont>
      <a:minorFont>
        <a:latin typeface="Arial"/>
      </a:minorFont>
    </a:fontScheme>
    <a:fmtScheme name="NodeRoom">
      <a:fillStyleLst/>
      <a:lnStyleLst/>
      <a:effectStyleLst/>
      <a:bgFillStyleLst/>
    </a:fmtScheme>
  </a:themeElements>
</a:theme>
</file>

<file path=docProps/app.xml><?xml version="1.0" encoding="utf-8"?>
<Properties xmlns="http://schemas.openxmlformats.org/officeDocument/2006/extended-properties">
  <Application>NodeRoom</Application>
  <Slides>1</Slides>
</Properties>
</file>

<file path=docProps/core.xml><?xml version="1.0" encoding="utf-8"?>
<cp:coreProperties xmlns:cp="http://schemas.openxmlformats.org/package/2006/metadata/core-properties" xmlns:dc="http://purl.org/dc/elements/1.1/">
  <dc:title>AI Infrastructure &amp; Cloud Comparative Analysis: MSFT, AMZN (incl. AWS), GOOGL, and AI (C3.ai)</dc:title>
  <dc:creator>NodeAgent</dc:creator>
</cp:coreProperties>
</file>