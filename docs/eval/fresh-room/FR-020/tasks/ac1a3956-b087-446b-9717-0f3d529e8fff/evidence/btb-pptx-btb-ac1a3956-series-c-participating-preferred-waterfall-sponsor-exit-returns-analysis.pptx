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Series C Participating Preferred Waterfall — Sponsor Exit Returns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Sponsor exit waterfall model for Series C Participating Preferred investment ($100mm invested, 1.2x liquidation preference, 4% PIK dividends compounding annually over a 2-year hold from 01/31/2025). The cap table includes Series A common (40mm shares), Series B convertible preferred ($120mm invested, 10mm shares, 1.0x liq pref), and Series C participating preferred ($100mm invested, 10mm shares, 1.2x liq pref). PIK accrual: Year 1 = $4.00mm, Year 2 = $4.16mm, total accrued = $8.16mm, creating 0.816mm additional Series C PIK shares at 1.0x liq pref. Fully diluted shares = 60.816mm. Series B converts to common when its pro-rata share exceeds $120mm; at all exit scenarios from $750mm to $1,350mm, Series B converts. Waterfall order: (1) Series B payout = MAX(1.0x x $120mm, Series B FD% x exit equity); (2) Series C liquidation preference = $128.16mm ($120mm original + $8.16mm PIK); (3) remaining equity split pro-rata between Series A (78.7138%) and Series C + PIK (21.2862%). Sponsor (Series C) returns computed across seven exit scenarios from $750mm to $1,350mm in $100mm increments. Base case ($750mm): MoM 2.34x, IRR 53.1%.</a:t>
            </a:r>
          </a:p>
          <a:p>
            <a:r>
              <a:rPr lang="en-US" sz="1550"/>
              <a:t>Rows in backup workbook: 9</a:t>
            </a:r>
          </a:p>
          <a:p>
            <a:r>
              <a:rPr lang="en-US" sz="1550"/>
              <a:t>Sponsor Series C — $750mm Exit — Exit Equity Value Mm: 750 · Series B Payout Mm: 123.33 · Series C Liq Pref Mm: 128.16 · Remaining Equity Pool Mm: 498.51 · Series C Participation Mm: 106.11 · Series C Total Payout Mm: 234.27</a:t>
            </a:r>
          </a:p>
          <a:p>
            <a:r>
              <a:rPr lang="en-US" sz="1550"/>
              <a:t>Sponsor Series C — $850mm Exit — Exit Equity Value Mm: 850 · Series B Payout Mm: 139.77 · Series C Liq Pref Mm: 128.16 · Remaining Equity Pool Mm: 582.07 · Series C Participation Mm: 123.9 · Series C Total Payout Mm: 252.06</a:t>
            </a:r>
          </a:p>
          <a:p>
            <a:r>
              <a:rPr lang="en-US" sz="1550"/>
              <a:t>Sponsor Series C — $950mm Exit — Exit Equity Value Mm: 950 · Series B Payout Mm: 156.21 · Series C Liq Pref Mm: 128.16 · Remaining Equity Pool Mm: 665.63 · Series C Participation Mm: 141.7 · Series C Total Payout Mm: 269.86</a:t>
            </a:r>
          </a:p>
          <a:p>
            <a:r>
              <a:rPr lang="en-US" sz="1550"/>
              <a:t>Sponsor Series C — $1,050mm Exit — Exit Equity Value Mm: 1050 · Series B Payout Mm: 172.66 · Series C Liq Pref Mm: 128.16 · Remaining Equity Pool Mm: 749.18 · Series C Participation Mm: 159.49 · Series C Total Payout Mm: 287.65</a:t>
            </a:r>
          </a:p>
          <a:p>
            <a:r>
              <a:rPr lang="en-US" sz="1550"/>
              <a:t>Sponsor Series C — $1,150mm Exit — Exit Equity Value Mm: 1150 · Series B Payout Mm: 189.1 · Series C Liq Pref Mm: 128.16 · Remaining Equity Pool Mm: 832.74 · Series C Participation Mm: 177.29 · Series C Total Payout Mm: 305.45</a:t>
            </a:r>
          </a:p>
          <a:p>
            <a:r>
              <a:rPr lang="en-US" sz="1550"/>
              <a:t>Sponsor Series C — $1,250mm Exit — Exit Equity Value Mm: 1250 · Series B Payout Mm: 205.54 · Series C Liq Pref Mm: 128.16 · Remaining Equity Pool Mm: 916.3 · Series C Participation Mm: 195.08 · Series C Total Payout Mm: 323.24</a:t>
            </a:r>
          </a:p>
          <a:p>
            <a:r>
              <a:rPr lang="en-US" sz="1550"/>
              <a:t>Sponsor Series C — $1,350mm Exit — Exit Equity Value Mm: 1350 · Series B Payout Mm: 221.99 · Series C Liq Pref Mm: 128.16 · Remaining Equity Pool Mm: 999.85 · Series C Participation Mm: 212.83 · Series C Total Payout Mm: 340.99</a:t>
            </a:r>
          </a:p>
          <a:p>
            <a:r>
              <a:rPr lang="en-US" sz="1550"/>
              <a:t>Cap Table Summary — Series A Shares Mm: 40 · Series B Shares Mm: 10 · Series C Shares Mm: 10 · Series C PIK Shares Mm: 0.816 · Fully Diluted Shares Mm: 60.816 · Series B Invested Mm: 120</a:t>
            </a:r>
          </a:p>
          <a:p>
            <a:r>
              <a:rPr lang="en-US" sz="1550"/>
              <a:t>Sources: room://j97ds3wj9kbjptpv5h83tgbxvd89da1d, room://j974g6m88hw5vd1ts987pnnsyh89ckrk, room://j970jw0edbcvx2e518hk3ya5cx89d7rw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Series C Participating Preferred Waterfall — Sponsor Exit Returns Analysis</dc:title>
  <dc:creator>NodeAgent</dc:creator>
</cp:coreProperties>
</file>