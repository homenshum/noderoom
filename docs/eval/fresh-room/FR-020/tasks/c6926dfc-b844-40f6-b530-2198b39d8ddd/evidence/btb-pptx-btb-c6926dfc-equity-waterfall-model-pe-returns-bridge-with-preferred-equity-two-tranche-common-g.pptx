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Equity Waterfall Model — PE Returns Bridge with Preferred Equity, Two-Tranche Common &amp; Gain-Share Threshold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## Equity Waterfall Model — PE Returns Bridge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Model Overview</a:t>
            </a:r>
          </a:p>
          <a:p>
            <a:r>
              <a:rPr lang="en-US" sz="1550"/>
              <a:t>This deliverable builds a fully dynamic equity waterfall model replicating a PE returns bridge with a preferred equity layer and a two-tranche common equity structure with a gain-share threshold. All outputs are formula-driven and auditable.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Capital Structure (Entry)</a:t>
            </a:r>
          </a:p>
          <a:p>
            <a:r>
              <a:rPr lang="en-US" sz="1550"/>
              <a:t>| Component | Investor | Amount ($M) | Type |</a:t>
            </a:r>
          </a:p>
          <a:p>
            <a:r>
              <a:rPr lang="en-US" sz="1550"/>
              <a:t>|---|---|---|---|</a:t>
            </a:r>
          </a:p>
          <a:p>
            <a:r>
              <a:rPr lang="en-US" sz="1550"/>
              <a:t>| Sponsor Preferred | Sponsor | 100.0 | Preferred (8% PIK) |</a:t>
            </a:r>
          </a:p>
          <a:p>
            <a:r>
              <a:rPr lang="en-US" sz="1550"/>
              <a:t>| Sponsor Common | Sponsor | 40.0 | Common |</a:t>
            </a:r>
          </a:p>
          <a:p>
            <a:r>
              <a:rPr lang="en-US" sz="1550"/>
              <a:t>| Rollover Equity | Seller | 40.0 | Common |</a:t>
            </a:r>
          </a:p>
          <a:p>
            <a:r>
              <a:rPr lang="en-US" sz="1550"/>
              <a:t>| Management Common | Management | 20.0 | Common |</a:t>
            </a:r>
          </a:p>
          <a:p>
            <a:r>
              <a:rPr lang="en-US" sz="1550"/>
              <a:t>| **Total Equity** | | **200.0** |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- **Entry EV**: $500M | **Entry EBITDA**: $50M (10.0x) | **Net Debt**: $300M | **Hold Period**: 5 years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Waterfall Mechanics</a:t>
            </a:r>
          </a:p>
          <a:p>
            <a:r>
              <a:rPr lang="en-US" sz="1550"/>
              <a:t>1. **Preferred Layer**: Sponsor receives original $100M + 8% PIK accumulated over 5 years = $146.93M</a:t>
            </a:r>
          </a:p>
          <a:p>
            <a:r>
              <a:rPr lang="en-US" sz="1550"/>
              <a:t>2. **Return of Capital to Common**: $100M returned pro rata (Sponsor $40M / Rollover $40M / Mgmt $20M)</a:t>
            </a:r>
          </a:p>
          <a:p>
            <a:r>
              <a:rPr lang="en-US" sz="1550"/>
              <a:t>3. **Tranche 1 (First $50M of gains)**: Split 40% Sponsor / 40% Rollover / 20% Management</a:t>
            </a:r>
          </a:p>
          <a:p>
            <a:r>
              <a:rPr lang="en-US" sz="1550"/>
              <a:t>4. **Tranche 2 (Gains above $50M — Gain-Share Threshold)**: Split 30% Sponsor / 40% Rollover / 30% Management (sponsor gives up economics to management/seller)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Exit Scenarios (Exit EBITDA $60M, Net Debt $250M)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Exit Multiple | Exit EV | Equity Value | Preferred Payoff | Common Proceeds | Total Distrib |</a:t>
            </a:r>
          </a:p>
          <a:p>
            <a:r>
              <a:rPr lang="en-US" sz="1550"/>
              <a:t>|---|---|---|---|---|---|</a:t>
            </a:r>
          </a:p>
          <a:p>
            <a:r>
              <a:rPr lang="en-US" sz="1550"/>
              <a:t>| 8.0x | 480.0 | 230.0 | 146.93 | 83.07 | 230.00 |</a:t>
            </a:r>
          </a:p>
          <a:p>
            <a:r>
              <a:rPr lang="en-US" sz="1550"/>
              <a:t>| 9.0x | 540.0 | 290.0 | 146.93 | 143.07 | 290.00 |</a:t>
            </a:r>
          </a:p>
          <a:p>
            <a:r>
              <a:rPr lang="en-US" sz="1550"/>
              <a:t>| 10.0x | 600.0 | 350.0 | 146.93 | 203.07 | 350.00 |</a:t>
            </a:r>
          </a:p>
          <a:p>
            <a:r>
              <a:rPr lang="en-US" sz="1550"/>
              <a:t>| 11.0x | 660.0 | 410.0 | 146.93 | 263.07 | 410.00 |</a:t>
            </a:r>
          </a:p>
          <a:p>
            <a:r>
              <a:rPr lang="en-US" sz="1550"/>
              <a:t>| 12.0x | 720.0 | 470.0 | 146.93 | 323.07 | 470.00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Proceeds by Investor</a:t>
            </a:r>
          </a:p>
          <a:p>
            <a:r>
              <a:rPr lang="en-US" sz="1550"/>
              <a:t/>
            </a:r>
          </a:p>
          <a:p>
            <a:r>
              <a:rPr lang="en-US" sz="1550"/>
              <a:t>| Exit Mult | Sponsor Total ($M) | Rollover Total ($M) | Mgmt Total ($M) | Sponsor MOIC | Rollover MOIC | Mgmt MOIC |</a:t>
            </a:r>
          </a:p>
          <a:p>
            <a:r>
              <a:rPr lang="en-US" sz="1550"/>
              <a:t>|---|---|---|---|---|---|---|</a:t>
            </a:r>
          </a:p>
          <a:p>
            <a:r>
              <a:rPr lang="en-US" sz="1550"/>
              <a:t>| 8.0x | 180.16 | 33.23 | 16.61 | 1.29x | 0.83x | 0.83x |</a:t>
            </a:r>
          </a:p>
          <a:p>
            <a:r>
              <a:rPr lang="en-US" sz="1550"/>
              <a:t>| 9.0x | 204.16 | 57.23 | 28.61 | 1.46x | 1.43x | 1.43x |</a:t>
            </a:r>
          </a:p>
          <a:p>
            <a:r>
              <a:rPr lang="en-US" sz="1550"/>
              <a:t>| 10.0x | 222.85 | 81.23 | 45.92 | 1.59x | 2.03x | 2.30x |</a:t>
            </a:r>
          </a:p>
          <a:p>
            <a:r>
              <a:rPr lang="en-US" sz="1550"/>
              <a:t>| 11.0x | 240.85 | 105.23 | 63.92 | 1.72x | 2.63x | 3.20x |</a:t>
            </a:r>
          </a:p>
          <a:p>
            <a:r>
              <a:rPr lang="en-US" sz="1550"/>
              <a:t>| 12.0x | 258.85 | 129.23 | 81.92 | 1.85x | 3.23x | 4.10x |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Key Observations</a:t>
            </a:r>
          </a:p>
          <a:p>
            <a:r>
              <a:rPr lang="en-US" sz="1550"/>
              <a:t>- At 8x exit, common equity takes a loss ($83M vs $100M invested) since proceeds fall below original capital</a:t>
            </a:r>
          </a:p>
          <a:p>
            <a:r>
              <a:rPr lang="en-US" sz="1550"/>
              <a:t>- Gain-share threshold ($50M) kicks in at ~10x exit, shifting economics toward rollover and management</a:t>
            </a:r>
          </a:p>
          <a:p>
            <a:r>
              <a:rPr lang="en-US" sz="1550"/>
              <a:t>- Management benefits most from the gain-share structure, reaching 4.10x MOIC at 12x exit</a:t>
            </a:r>
          </a:p>
          <a:p>
            <a:r>
              <a:rPr lang="en-US" sz="1550"/>
              <a:t>- Sponsor preferred layer provides downside protection with guaranteed 8% PIK return</a:t>
            </a:r>
          </a:p>
          <a:p>
            <a:r>
              <a:rPr lang="en-US" sz="1550"/>
              <a:t/>
            </a:r>
          </a:p>
          <a:p>
            <a:r>
              <a:rPr lang="en-US" sz="1550"/>
              <a:t>### Source Files</a:t>
            </a:r>
          </a:p>
          <a:p>
            <a:r>
              <a:rPr lang="en-US" sz="1550"/>
              <a:t>- Betas by industry category (artifact j9710a8xekpkmjy8remd18pk3989d53d) — supporting WACC reference data</a:t>
            </a:r>
          </a:p>
          <a:p>
            <a:r>
              <a:rPr lang="en-US" sz="1550"/>
              <a:t>- Equity Risk Premium (artifact j975e2m935vxrak9kxf9t6h33s89d93e) — supporting WACC reference data</a:t>
            </a:r>
          </a:p>
          <a:p>
            <a:r>
              <a:rPr lang="en-US" sz="1550"/>
              <a:t>- Official task brief (artifact j977enq0sfg0xqwty09dkpv3ss89d31w)</a:t>
            </a:r>
          </a:p>
          <a:p>
            <a:r>
              <a:rPr lang="en-US" sz="1550"/>
              <a:t>Rows in backup workbook: 15</a:t>
            </a:r>
          </a:p>
          <a:p>
            <a:r>
              <a:rPr lang="en-US" sz="1550"/>
              <a:t>Capital Structure — Sponsor Preferred Investment — Investor: Sponsor · Type: Preferred Equity (8% PIK) · Amount Musd: 100 · Ownership Pct: 50</a:t>
            </a:r>
          </a:p>
          <a:p>
            <a:r>
              <a:rPr lang="en-US" sz="1550"/>
              <a:t>Capital Structure — Sponsor Common Investment — Investor: Sponsor · Type: Common Equity · Amount Musd: 40 · Ownership Pct: 20</a:t>
            </a:r>
          </a:p>
          <a:p>
            <a:r>
              <a:rPr lang="en-US" sz="1550"/>
              <a:t>Capital Structure — Rollover Equity (Seller) — Investor: Seller Rollover · Type: Common Equity · Amount Musd: 40 · Ownership Pct: 20</a:t>
            </a:r>
          </a:p>
          <a:p>
            <a:r>
              <a:rPr lang="en-US" sz="1550"/>
              <a:t>Capital Structure — Management Common — Investor: Management · Type: Common Equity · Amount Musd: 20 · Ownership Pct: 10</a:t>
            </a:r>
          </a:p>
          <a:p>
            <a:r>
              <a:rPr lang="en-US" sz="1550"/>
              <a:t>Capital Structure — Total Equity — Investor: Total · Type: All · Amount Musd: 200 · Ownership Pct: 100</a:t>
            </a:r>
          </a:p>
          <a:p>
            <a:r>
              <a:rPr lang="en-US" sz="1550"/>
              <a:t>Deal Assumptions — Entry — Entry Ev Musd: 500 · Entry Ebitda Musd: 50 · Entry Multiple: 10 · Net Debt Musd: 300 · Total Equity Musd: 200 · Hold Period Years: 5</a:t>
            </a:r>
          </a:p>
          <a:p>
            <a:r>
              <a:rPr lang="en-US" sz="1550"/>
              <a:t>Preferred Equity Terms — Preferred Amount Musd: 100 · Preferred Rate Pct: 8 · Compounding: PIK · Hold Years: 5 · Accumulated Preferred Musd: 146.93</a:t>
            </a:r>
          </a:p>
          <a:p>
            <a:r>
              <a:rPr lang="en-US" sz="1550"/>
              <a:t>Common Waterfall — Return of Capital — Sponsor Common Roc Musd: 40 · Rollover Roc Musd: 40 · Management Roc Musd: 20 · Total Roc Musd: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Equity Waterfall Model — PE Returns Bridge with Preferred Equity, Two-Tranche Common &amp; Gain-Share Threshold</dc:title>
  <dc:creator>NodeAgent</dc:creator>
</cp:coreProperties>
</file>