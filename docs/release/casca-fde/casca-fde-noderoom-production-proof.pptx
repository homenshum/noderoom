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632eb49d2404f" /><Relationship Type="http://schemas.openxmlformats.org/officeDocument/2006/relationships/extended-properties" Target="/docProps/app.xml" Id="Rb207d2a2a1ee4c84" /><Relationship Type="http://schemas.openxmlformats.org/officeDocument/2006/relationships/officeDocument" Target="/ppt/presentation.xml" Id="R43759cd248a7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39840ebd6845db"/>
  </p:sldMasterIdLst>
  <p:notesMasterIdLst>
    <p:notesMasterId xmlns:r="http://schemas.openxmlformats.org/officeDocument/2006/relationships" r:id="R05daf728604a4db3"/>
  </p:notesMasterIdLst>
  <p:sldIdLst>
    <p:sldId xmlns:r="http://schemas.openxmlformats.org/officeDocument/2006/relationships" id="256" r:id="R6c348b8037a247a0"/>
    <p:sldId xmlns:r="http://schemas.openxmlformats.org/officeDocument/2006/relationships" id="257" r:id="Rc5af7b10c49d497a"/>
    <p:sldId xmlns:r="http://schemas.openxmlformats.org/officeDocument/2006/relationships" id="258" r:id="R60f68f0570a84604"/>
    <p:sldId xmlns:r="http://schemas.openxmlformats.org/officeDocument/2006/relationships" id="259" r:id="Rd7a68378813447c0"/>
    <p:sldId xmlns:r="http://schemas.openxmlformats.org/officeDocument/2006/relationships" id="260" r:id="Re6743a9086214fc2"/>
    <p:sldId xmlns:r="http://schemas.openxmlformats.org/officeDocument/2006/relationships" id="261" r:id="R29989878164343e9"/>
    <p:sldId xmlns:r="http://schemas.openxmlformats.org/officeDocument/2006/relationships" id="262" r:id="R76427cb87f604a79"/>
    <p:sldId xmlns:r="http://schemas.openxmlformats.org/officeDocument/2006/relationships" id="263" r:id="Raa1f396c940c4a86"/>
    <p:sldId xmlns:r="http://schemas.openxmlformats.org/officeDocument/2006/relationships" id="264" r:id="R7cfc2df4dfb841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204a09c0c04cb7" /><Relationship Type="http://schemas.openxmlformats.org/officeDocument/2006/relationships/slideMaster" Target="/ppt/slideMasters/slideMaster1.xml" Id="Re639840ebd6845db" /><Relationship Type="http://schemas.openxmlformats.org/officeDocument/2006/relationships/notesMaster" Target="/ppt/notesMasters/notesMaster1.xml" Id="R05daf728604a4db3" /><Relationship Type="http://schemas.openxmlformats.org/officeDocument/2006/relationships/presProps" Target="/ppt/presProps.xml" Id="Rd31ca858b6784218" /><Relationship Type="http://schemas.openxmlformats.org/officeDocument/2006/relationships/tableStyles" Target="/ppt/tableStyles.xml" Id="R19a56f4edd774084" /><Relationship Type="http://schemas.openxmlformats.org/officeDocument/2006/relationships/slide" Target="/ppt/slides/slide1.xml" Id="R6c348b8037a247a0" /><Relationship Type="http://schemas.openxmlformats.org/officeDocument/2006/relationships/slide" Target="/ppt/slides/slide2.xml" Id="Rc5af7b10c49d497a" /><Relationship Type="http://schemas.openxmlformats.org/officeDocument/2006/relationships/slide" Target="/ppt/slides/slide3.xml" Id="R60f68f0570a84604" /><Relationship Type="http://schemas.openxmlformats.org/officeDocument/2006/relationships/slide" Target="/ppt/slides/slide4.xml" Id="Rd7a68378813447c0" /><Relationship Type="http://schemas.openxmlformats.org/officeDocument/2006/relationships/slide" Target="/ppt/slides/slide5.xml" Id="Re6743a9086214fc2" /><Relationship Type="http://schemas.openxmlformats.org/officeDocument/2006/relationships/slide" Target="/ppt/slides/slide6.xml" Id="R29989878164343e9" /><Relationship Type="http://schemas.openxmlformats.org/officeDocument/2006/relationships/slide" Target="/ppt/slides/slide7.xml" Id="R76427cb87f604a79" /><Relationship Type="http://schemas.openxmlformats.org/officeDocument/2006/relationships/slide" Target="/ppt/slides/slide8.xml" Id="Raa1f396c940c4a86" /><Relationship Type="http://schemas.openxmlformats.org/officeDocument/2006/relationships/slide" Target="/ppt/slides/slide9.xml" Id="R7cfc2df4dfb841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b8c884b16b4f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86ba1a7fe4995" /><Relationship Type="http://schemas.openxmlformats.org/officeDocument/2006/relationships/notesMaster" Target="/ppt/notesMasters/notesMaster1.xml" Id="R9e8fd48fe06949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7c433fc0cd4449" /><Relationship Type="http://schemas.openxmlformats.org/officeDocument/2006/relationships/notesMaster" Target="/ppt/notesMasters/notesMaster1.xml" Id="Re0fa1d401e5a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6a77cb6995457f" /><Relationship Type="http://schemas.openxmlformats.org/officeDocument/2006/relationships/notesMaster" Target="/ppt/notesMasters/notesMaster1.xml" Id="Rff72f11881d448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fc20cdec204e9f" /><Relationship Type="http://schemas.openxmlformats.org/officeDocument/2006/relationships/notesMaster" Target="/ppt/notesMasters/notesMaster1.xml" Id="R5c89bf561595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3105d6e7f4368" /><Relationship Type="http://schemas.openxmlformats.org/officeDocument/2006/relationships/notesMaster" Target="/ppt/notesMasters/notesMaster1.xml" Id="R304c7a48351e4c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2e0d9f5f2c44c9" /><Relationship Type="http://schemas.openxmlformats.org/officeDocument/2006/relationships/notesMaster" Target="/ppt/notesMasters/notesMaster1.xml" Id="Rd831a7e925e54b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dc30a87eb646a0" /><Relationship Type="http://schemas.openxmlformats.org/officeDocument/2006/relationships/notesMaster" Target="/ppt/notesMasters/notesMaster1.xml" Id="R3b406b90824046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8834653d184147" /><Relationship Type="http://schemas.openxmlformats.org/officeDocument/2006/relationships/notesMaster" Target="/ppt/notesMasters/notesMaster1.xml" Id="R919bd58b4d6e48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daf9d168f74e2b" /><Relationship Type="http://schemas.openxmlformats.org/officeDocument/2006/relationships/notesMaster" Target="/ppt/notesMasters/notesMaster1.xml" Id="R66775bf61f9849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b0773b7a244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1616c962740dc" /><Relationship Type="http://schemas.openxmlformats.org/officeDocument/2006/relationships/slideLayout" Target="/ppt/slideLayouts/slideLayout1.xml" Id="Rac1fcaa69d674f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1fcaa69d674f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ad46754214973" /><Relationship Type="http://schemas.openxmlformats.org/officeDocument/2006/relationships/notesSlide" Target="/ppt/notesSlides/notesSlide1.xml" Id="R3973b628e77d41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b9966960f4ecb" /><Relationship Type="http://schemas.openxmlformats.org/officeDocument/2006/relationships/notesSlide" Target="/ppt/notesSlides/notesSlide2.xml" Id="R1d37dce253e54a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7a627c33b463a" /><Relationship Type="http://schemas.openxmlformats.org/officeDocument/2006/relationships/notesSlide" Target="/ppt/notesSlides/notesSlide3.xml" Id="R05f24418f4a74a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3ed04d17e4180" /><Relationship Type="http://schemas.openxmlformats.org/officeDocument/2006/relationships/image" Target="/ppt/media/image.png" Id="R4f4a460b7e714d59" /><Relationship Type="http://schemas.openxmlformats.org/officeDocument/2006/relationships/notesSlide" Target="/ppt/notesSlides/notesSlide4.xml" Id="R42161814a47f49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984dff30448d6" /><Relationship Type="http://schemas.openxmlformats.org/officeDocument/2006/relationships/notesSlide" Target="/ppt/notesSlides/notesSlide5.xml" Id="Rc97d2665ee104f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5f2582b314a20" /><Relationship Type="http://schemas.openxmlformats.org/officeDocument/2006/relationships/notesSlide" Target="/ppt/notesSlides/notesSlide6.xml" Id="R289ffbfdd33c42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5b4d3e7824d0e" /><Relationship Type="http://schemas.openxmlformats.org/officeDocument/2006/relationships/notesSlide" Target="/ppt/notesSlides/notesSlide7.xml" Id="R262d32d6d44448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743701ccd487b" /><Relationship Type="http://schemas.openxmlformats.org/officeDocument/2006/relationships/notesSlide" Target="/ppt/notesSlides/notesSlide8.xml" Id="R874a5bcc3c8b4b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39f71691a4218" /><Relationship Type="http://schemas.openxmlformats.org/officeDocument/2006/relationships/notesSlide" Target="/ppt/notesSlides/notesSlide9.xml" Id="R469d573aee7d42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13968-D5E2-48F0-A7DE-770DE896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INDEPENDENT CASCA FDE PROOF OF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8EE29-4496-4EDA-9359-F5BE1821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04800"/>
            <a:ext cx="1438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2896F-2A81-4DEF-8201-041DADBB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1009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B0D10"/>
                </a:solidFill>
              </a:defRPr>
            </a:pPr>
            <a:r>
              <a:rPr sz="4950" b="1">
                <a:solidFill>
                  <a:srgbClr val="0B0D10"/>
                </a:solidFill>
              </a:rPr>
              <a:t>I built the deployment room</a:t>
            </a:r>
          </a:p>
          <a:p xmlns:a="http://schemas.openxmlformats.org/drawingml/2006/main">
            <a:pPr algn="l">
              <a:defRPr sz="4950" b="1">
                <a:solidFill>
                  <a:srgbClr val="0B0D10"/>
                </a:solidFill>
              </a:defRPr>
            </a:pPr>
            <a:r>
              <a:rPr sz="4950" b="1">
                <a:solidFill>
                  <a:srgbClr val="0B0D10"/>
                </a:solidFill>
              </a:rPr>
              <a:t>I would have wanted as a banker.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2EF33-8E95-42C2-AB51-6B9A8A01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3A42"/>
                </a:solidFill>
              </a:defRPr>
            </a:pPr>
            <a:r>
              <a:rPr sz="2100" b="0">
                <a:solidFill>
                  <a:srgbClr val="343A42"/>
                </a:solidFill>
              </a:rPr>
              <a:t>A production-proven, governed SMB lending workflow inside NodeRoom.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19100" y="5257800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D76B3-6C79-422A-922D-15A7AFBE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</a:defRPr>
            </a:pPr>
            <a:r>
              <a:rPr sz="1350" b="1">
                <a:solidFill>
                  <a:srgbClr val="0B0D10"/>
                </a:solidFill>
              </a:rPr>
              <a:t>Former JPMorgan commercial credit, healthcare / life-science and startup banking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BEA71-1441-4B78-8E95-E0987F64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27D"/>
                </a:solidFill>
              </a:defRPr>
            </a:pPr>
            <a:r>
              <a:rPr sz="1350" b="0">
                <a:solidFill>
                  <a:srgbClr val="6A727D"/>
                </a:solidFill>
              </a:rPr>
              <a:t>Now building the agent systems I needed as an operator.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2C780-4521-4788-916B-B47EDEB3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INDEPENDENT PROJECT · NOT AFFILIATED WITH OR ENDORSED BY CASCA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C61D4-5B12-4AB8-8E11-59268494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9035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42324-6F01-497D-97AB-F3C3390B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CASCA FDE DEPLOYMENT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9E6F3-285C-4566-80D5-F4CE8417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</a:defRPr>
            </a:pPr>
            <a:r>
              <a:rPr sz="3000" b="1">
                <a:solidFill>
                  <a:srgbClr val="0B0D10"/>
                </a:solidFill>
              </a:rPr>
              <a:t>The hard problem is reconstructing the operating workflow—not adding a chatbot.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63481-ECB5-4750-BD6E-10F82ED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INDEPENDENT PROOF OF WORK · 2026-07-21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C41E9-3D70-4702-B0F7-ADB7C231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02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723900" y="308610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D1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9BC53-DE20-4D30-B6CA-16B71185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66503-B634-481C-87BA-D695F21C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EF92B-F928-4A5D-8FEB-723BD889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DOCUMENT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E476C-92DA-479D-89D2-6F41BC2B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What exists, what is missing, and what changed?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77C69-CB0D-473B-BDBA-36FCFC33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68A95-D9D2-4C4B-A36F-0227B838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49D4A-C208-4A78-9445-BCD74B3D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76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DEPENDENCY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280BC-5D7C-4C59-A330-731018B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05250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What blocks a complete credit file right now?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CDD7B-3EE8-4CC8-8041-57EBC8E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21842-D1ED-4A78-A716-A8DBD62C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32677-2424-477B-BA55-7CB6973B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0E269-C7A3-4FAD-A8F4-C822AF46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Which action belongs to the agent, banker, or credit officer?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26DA2-46B7-406D-8FDC-388966D5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9CAEC-9F98-48AE-8195-4CB6AA1F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CCDB3-B7FE-452D-B3A8-2D971D45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76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801C4-74B5-4F03-9799-A55C0871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Can the packet be reopened and independently checked?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F3DE75-ACF0-4A82-B9C3-AD5DAF1E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05425"/>
            <a:ext cx="1135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5ED43-10A4-4D56-9B68-6039273B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D10"/>
                </a:solidFill>
              </a:defRPr>
            </a:pPr>
            <a:r>
              <a:rPr sz="1425" b="1">
                <a:solidFill>
                  <a:srgbClr val="0B0D10"/>
                </a:solidFill>
              </a:rPr>
              <a:t>Synthetic borrower data only. The workflow prepares and validates a human-review packet; it never makes the credit decision.</a:t>
            </a:r>
          </a:p>
        </p:txBody>
      </p:sp>
    </p:spTree>
    <p:extLst>
      <p:ext uri="{BB962C8B-B14F-4D97-AF65-F5344CB8AC3E}">
        <p14:creationId xmlns:p14="http://schemas.microsoft.com/office/powerpoint/2010/main" val="1831450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B9354-B4AC-470F-AF40-52D3BC7B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CASCA FDE DEPLOYMENT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60CB8-00BF-4D81-8542-55E4A3B1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</a:defRPr>
            </a:pPr>
            <a:r>
              <a:rPr sz="3000" b="1">
                <a:solidFill>
                  <a:srgbClr val="0B0D10"/>
                </a:solidFill>
              </a:rPr>
              <a:t>The Casca-inspired workflow lives inside NodeRoom—not beside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B0F4C-9B19-420D-8222-A933C529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INDEPENDENT PROOF OF WORK · 2026-07-21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AD56E-1884-47D6-B5BD-04C35DFB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C682E-B375-48FD-B0DB-5CD66A0F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25336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09C9D-DF1D-4601-A03C-5CFFC1B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CF3A9-FBD4-4625-809E-5AC8952E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NODE ROOM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09600" y="3476625"/>
            <a:ext cx="2152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DD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7B2A9-A9CB-4711-BC51-A334A57A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152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A42"/>
                </a:solidFill>
              </a:defRPr>
            </a:pPr>
            <a:r>
              <a:rPr sz="1275" b="0">
                <a:solidFill>
                  <a:srgbClr val="343A42"/>
                </a:solidFill>
              </a:rPr>
              <a:t>Canonical room, identity, collaboration, artifacts and approval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1E6A4-6AFF-468E-A4C6-79D00AC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18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82F6"/>
                </a:solidFill>
              </a:defRPr>
            </a:pPr>
            <a:r>
              <a:rPr sz="1800" b="1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89ED0-328B-40DB-B37D-27C6F08C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2625"/>
            <a:ext cx="25336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F24EF-A8CB-407B-9B20-6238226F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81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BF436-7268-4AC3-996F-70E29FDF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SMB LENDING PACK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3448050" y="3476625"/>
            <a:ext cx="2152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DD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B1BB8-C367-4745-AD2E-9E5D163C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24275"/>
            <a:ext cx="2152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A42"/>
                </a:solidFill>
              </a:defRPr>
            </a:pPr>
            <a:r>
              <a:rPr sz="1275" b="0">
                <a:solidFill>
                  <a:srgbClr val="343A42"/>
                </a:solidFill>
              </a:rPr>
              <a:t>Synthetic fixtures, document logic, critical path, calculations and validators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D2702-BA83-4E6E-93EF-503F59A0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718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82F6"/>
                </a:solidFill>
              </a:defRPr>
            </a:pPr>
            <a:r>
              <a:rPr sz="1800" b="1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A863D-2285-4E11-96EF-033F58FA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5336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0ECA5-0150-4280-8F63-C54A1ABA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81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614A8-FF09-4076-879C-EA409613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GOVERNED TRANSACTION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286500" y="3476625"/>
            <a:ext cx="2152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DD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0118D-34F5-4845-A865-DD048B98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24275"/>
            <a:ext cx="2152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A42"/>
                </a:solidFill>
              </a:defRPr>
            </a:pPr>
            <a:r>
              <a:rPr sz="1275" b="0">
                <a:solidFill>
                  <a:srgbClr val="343A42"/>
                </a:solidFill>
              </a:rPr>
              <a:t>Pinned proposal → validation → human decision → CAS apply → receipt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13B4C-0AD5-48B0-B8BE-5E3F992D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718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82F6"/>
                </a:solidFill>
              </a:defRPr>
            </a:pPr>
            <a:r>
              <a:rPr sz="1800" b="1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4BFDC-DAD4-4EC4-9108-AC7EE7E3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52625"/>
            <a:ext cx="25336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A8EE-E1A7-4255-B857-12E88D01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81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78EF5C-8BEE-41F8-B5C2-C0A5A76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OPTIONAL GRAPH READ MODEL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9124950" y="3476625"/>
            <a:ext cx="2152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DD4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19A15C-0FE7-4670-97D0-1C500428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24275"/>
            <a:ext cx="2152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A42"/>
                </a:solidFill>
              </a:defRPr>
            </a:pPr>
            <a:r>
              <a:rPr sz="1275" b="0">
                <a:solidFill>
                  <a:srgbClr val="343A42"/>
                </a:solidFill>
              </a:rPr>
              <a:t>Tenant-scoped blocker and path queries; never canonical application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B9516-E0B8-42E5-98E0-FDC8CF25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81625"/>
            <a:ext cx="1135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0"/>
                </a:solidFill>
              </a:defRPr>
            </a:pPr>
            <a:r>
              <a:rPr sz="2025" b="1">
                <a:solidFill>
                  <a:srgbClr val="0B0D10"/>
                </a:solidFill>
              </a:rPr>
              <a:t>One product surface. One proposal lifecycle. One receipt format.</a:t>
            </a:r>
          </a:p>
        </p:txBody>
      </p:sp>
    </p:spTree>
    <p:extLst>
      <p:ext uri="{BB962C8B-B14F-4D97-AF65-F5344CB8AC3E}">
        <p14:creationId xmlns:p14="http://schemas.microsoft.com/office/powerpoint/2010/main" val="640200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B05D9-B326-4573-A56B-3D0F8893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CASCA FDE DEPLOYMENT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64A3D-6700-43E7-9DE6-170330DF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</a:defRPr>
            </a:pPr>
            <a:r>
              <a:rPr sz="3000" b="1">
                <a:solidFill>
                  <a:srgbClr val="0B0D10"/>
                </a:solidFill>
              </a:rPr>
              <a:t>The browser journey completed the full governed transaction.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9E5B4-E883-4360-85A5-66CA9F56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INDEPENDENT PROOF OF WORK · 2026-07-21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017E2-19CE-441E-B3F3-5C394A16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04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a460b7e714d59"/>
          <a:stretch xmlns:a="http://schemas.openxmlformats.org/drawingml/2006/main"/>
        </p:blipFill>
        <p:spPr>
          <a:xfrm xmlns:a="http://schemas.openxmlformats.org/drawingml/2006/main">
            <a:off x="448590" y="1524000"/>
            <a:ext cx="7418146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6A21F-3184-4510-9DCD-803490AA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3562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0F83A-707B-4B37-8466-85E142B8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3355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B82F6"/>
                </a:solidFill>
              </a:defRPr>
            </a:pPr>
            <a:r>
              <a:rPr sz="2700" b="1">
                <a:solidFill>
                  <a:srgbClr val="3B82F6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60149-4615-4471-BB06-DD1C4C9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5742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</a:defRPr>
            </a:pPr>
            <a:r>
              <a:rPr sz="1125" b="0">
                <a:solidFill>
                  <a:srgbClr val="343A42"/>
                </a:solidFill>
              </a:rPr>
              <a:t>Sequential human approvals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7EADB-670B-498D-8A61-7E1CF3F1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3562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EFB3F-AC6C-4A78-90DA-419DD4DA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8A5F"/>
                </a:solidFill>
              </a:defRPr>
            </a:pPr>
            <a:r>
              <a:rPr sz="2700" b="1">
                <a:solidFill>
                  <a:srgbClr val="0D8A5F"/>
                </a:solidFill>
              </a:rPr>
              <a:t>v1 → v3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BADA8-8DD3-413C-B473-F0886887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718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</a:defRPr>
            </a:pPr>
            <a:r>
              <a:rPr sz="1125" b="0">
                <a:solidFill>
                  <a:srgbClr val="343A42"/>
                </a:solidFill>
              </a:rPr>
              <a:t>CAS-protected application versions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1E9B3-89C7-41D9-AE75-7E5C517F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3562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F55DD-DB28-4AB0-B095-AA5FBCC8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D10"/>
                </a:solidFill>
              </a:defRPr>
            </a:pPr>
            <a:r>
              <a:rPr sz="2700" b="1">
                <a:solidFill>
                  <a:srgbClr val="0B0D10"/>
                </a:solidFill>
              </a:rPr>
              <a:t>2 hashes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3A7BA-2A5D-4A05-A093-B1EADE3C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8632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</a:defRPr>
            </a:pPr>
            <a:r>
              <a:rPr sz="1125" b="0">
                <a:solidFill>
                  <a:srgbClr val="343A42"/>
                </a:solidFill>
              </a:rPr>
              <a:t>Export and packet reopened independently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70312-A934-4D63-B092-02BF5E15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05450"/>
            <a:ext cx="3562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262FC-485A-4DE1-8279-96BC9859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578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7816"/>
                </a:solidFill>
              </a:defRPr>
            </a:pPr>
            <a:r>
              <a:rPr sz="1500" b="1">
                <a:solidFill>
                  <a:srgbClr val="C87816"/>
                </a:solidFill>
              </a:rPr>
              <a:t>No credit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16B34-5315-4F38-8252-EF77822A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943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</a:defRPr>
            </a:pPr>
            <a:r>
              <a:rPr sz="1125" b="0">
                <a:solidFill>
                  <a:srgbClr val="343A42"/>
                </a:solidFill>
              </a:rPr>
              <a:t>Authority remains human.</a:t>
            </a:r>
          </a:p>
        </p:txBody>
      </p:sp>
    </p:spTree>
    <p:extLst>
      <p:ext uri="{BB962C8B-B14F-4D97-AF65-F5344CB8AC3E}">
        <p14:creationId xmlns:p14="http://schemas.microsoft.com/office/powerpoint/2010/main" val="620778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63D249-7854-461E-AB89-DEE53CBD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CASCA FDE DEPLOYMENT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F4DE5-611A-473B-AFA2-5853E4EA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</a:defRPr>
            </a:pPr>
            <a:r>
              <a:rPr sz="3000" b="1">
                <a:solidFill>
                  <a:srgbClr val="0B0D10"/>
                </a:solidFill>
              </a:rPr>
              <a:t>Human credit authority is encoded into the transaction.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7390A-147A-4D18-BC35-31D8DC72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INDEPENDENT PROOF OF WORK · 2026-07-21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CBA18-DBDF-4359-A389-908594D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70C46-0DA4-4BDB-A156-58FD07A8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27D"/>
                </a:solidFill>
              </a:defRPr>
            </a:pPr>
            <a:r>
              <a:rPr sz="975" b="1">
                <a:solidFill>
                  <a:srgbClr val="6A727D"/>
                </a:solidFill>
              </a:rPr>
              <a:t>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11F95-D571-4C0F-9F97-A51AF328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9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27D"/>
                </a:solidFill>
              </a:defRPr>
            </a:pPr>
            <a:r>
              <a:rPr sz="975" b="1">
                <a:solidFill>
                  <a:srgbClr val="6A727D"/>
                </a:solidFill>
              </a:rPr>
              <a:t>AGENT /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D4DB1-DA51-444D-B4DB-0BE4254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27D"/>
                </a:solidFill>
              </a:defRPr>
            </a:pPr>
            <a:r>
              <a:rPr sz="975" b="1">
                <a:solidFill>
                  <a:srgbClr val="6A727D"/>
                </a:solidFill>
              </a:rPr>
              <a:t>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ACB17-D32C-4A33-8109-8EF4E4DC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27D"/>
                </a:solidFill>
              </a:defRPr>
            </a:pPr>
            <a:r>
              <a:rPr sz="975" b="1">
                <a:solidFill>
                  <a:srgbClr val="6A727D"/>
                </a:solidFill>
              </a:rPr>
              <a:t>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415A7-0F39-4AC4-9E2D-F4779F97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8375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DA526-B8DA-4FC0-9266-D9AE8120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5A299-3739-4159-85B0-18E12F1C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MISSING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DBE47-5B70-44C0-936D-613978EC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A42"/>
                </a:solidFill>
              </a:defRPr>
            </a:pPr>
            <a:r>
              <a:rPr sz="1275" b="0">
                <a:solidFill>
                  <a:srgbClr val="343A42"/>
                </a:solidFill>
              </a:rPr>
              <a:t>Base version pinned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8A6BD-8887-42B3-959A-95A5376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</a:defRPr>
            </a:pPr>
            <a:r>
              <a:rPr sz="1275" b="1">
                <a:solidFill>
                  <a:srgbClr val="0B0D10"/>
                </a:solidFill>
              </a:rPr>
              <a:t>Request document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51E95-07A5-47CB-AD8F-DC813306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479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A42"/>
                </a:solidFill>
              </a:defRPr>
            </a:pPr>
            <a:r>
              <a:rPr sz="1275" b="0">
                <a:solidFill>
                  <a:srgbClr val="343A42"/>
                </a:solidFill>
              </a:rPr>
              <a:t>Human approval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5920D-D2FB-48EF-862E-6E9CE7BA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38525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DBDFD-FA5E-4355-B39F-A6D486C3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01AFF-7DD4-4AA2-BD23-4AADF387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REQUESTED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34857-307A-4BD9-82E5-81B85D9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A42"/>
                </a:solidFill>
              </a:defRPr>
            </a:pPr>
            <a:r>
              <a:rPr sz="1275" b="0">
                <a:solidFill>
                  <a:srgbClr val="343A42"/>
                </a:solidFill>
              </a:rPr>
              <a:t>Source + digest supplied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B6890-B1FA-4FF8-8C63-4CE4DB3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480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</a:defRPr>
            </a:pPr>
            <a:r>
              <a:rPr sz="1275" b="1">
                <a:solidFill>
                  <a:srgbClr val="0B0D10"/>
                </a:solidFill>
              </a:rPr>
              <a:t>Verify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B2F68-8636-4FDB-8BDC-BD751253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480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A42"/>
                </a:solidFill>
              </a:defRPr>
            </a:pPr>
            <a:r>
              <a:rPr sz="1275" b="0">
                <a:solidFill>
                  <a:srgbClr val="343A42"/>
                </a:solidFill>
              </a:rPr>
              <a:t>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EE0BB-DC53-4F25-8416-3D2399F9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8675"/>
            <a:ext cx="1135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433FA-C808-4F63-892A-8EF60CAC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DBEDD-0244-41DA-8F75-B13F5F60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8A5F"/>
                </a:solidFill>
              </a:defRPr>
            </a:pPr>
            <a:r>
              <a:rPr sz="1800" b="1">
                <a:solidFill>
                  <a:srgbClr val="0D8A5F"/>
                </a:solidFill>
              </a:rPr>
              <a:t>VERIFIED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69011-A00D-4634-983F-E2DCB9BB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482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A42"/>
                </a:solidFill>
              </a:defRPr>
            </a:pPr>
            <a:r>
              <a:rPr sz="1275" b="0">
                <a:solidFill>
                  <a:srgbClr val="343A42"/>
                </a:solidFill>
              </a:rPr>
              <a:t>Packet regenerated atomically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28057-84AB-4869-8C31-8DBF7C4A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482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</a:defRPr>
            </a:pPr>
            <a:r>
              <a:rPr sz="1275" b="1">
                <a:solidFill>
                  <a:srgbClr val="0B0D10"/>
                </a:solidFill>
              </a:rPr>
              <a:t>Export + reopen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8E70E-61A3-43A5-B608-5DF85CEC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482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8A5F"/>
                </a:solidFill>
              </a:defRPr>
            </a:pPr>
            <a:r>
              <a:rPr sz="1275" b="1">
                <a:solidFill>
                  <a:srgbClr val="0D8A5F"/>
                </a:solidFill>
              </a:rPr>
              <a:t>Independent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9A27C-358E-4163-9C84-CDE09229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Every transition is reviewable, versioned, and receipt-backed—even when policy eventually automates a low-risk step.</a:t>
            </a:r>
          </a:p>
        </p:txBody>
      </p:sp>
    </p:spTree>
    <p:extLst>
      <p:ext uri="{BB962C8B-B14F-4D97-AF65-F5344CB8AC3E}">
        <p14:creationId xmlns:p14="http://schemas.microsoft.com/office/powerpoint/2010/main" val="39236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2BD00-9D17-41E5-B336-98917682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CASCA FDE DEPLOYMENT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25ED4-630C-4AFA-9C02-5263E330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</a:defRPr>
            </a:pPr>
            <a:r>
              <a:rPr sz="3000" b="1">
                <a:solidFill>
                  <a:srgbClr val="0B0D10"/>
                </a:solidFill>
              </a:rPr>
              <a:t>Production proof found a defect that health checks missed.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FA11B-C94D-4A6F-AD3E-66E56D9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INDEPENDENT PROOF OF WORK · 2026-07-21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4D903-6442-4F8F-A474-47CFE77D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BA79B-0FDE-44E3-8369-5A198B84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5095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19050">
            <a:solidFill>
              <a:srgbClr val="C878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1188E-799B-471B-AF55-8EBB5391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7816"/>
                </a:solidFill>
              </a:defRPr>
            </a:pPr>
            <a:r>
              <a:rPr sz="1050" b="1">
                <a:solidFill>
                  <a:srgbClr val="C87816"/>
                </a:solidFill>
              </a:rPr>
              <a:t>FIRST ATTEMPT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FD14A-E5CA-4928-98FC-2DB5E9A5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438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10"/>
                </a:solidFill>
              </a:defRPr>
            </a:pPr>
            <a:r>
              <a:rPr sz="2400" b="1">
                <a:solidFill>
                  <a:srgbClr val="0B0D10"/>
                </a:solidFill>
              </a:rPr>
              <a:t>Frontend and backend</a:t>
            </a:r>
          </a:p>
          <a:p xmlns:a="http://schemas.openxmlformats.org/drawingml/2006/main">
            <a:pPr algn="l">
              <a:defRPr sz="2400" b="1">
                <a:solidFill>
                  <a:srgbClr val="0B0D10"/>
                </a:solidFill>
              </a:defRPr>
            </a:pPr>
            <a:r>
              <a:rPr sz="2400" b="1">
                <a:solidFill>
                  <a:srgbClr val="0B0D10"/>
                </a:solidFill>
              </a:rPr>
              <a:t>served different deployments.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03DE8-E89E-43D2-B6FE-B5B0B7E3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3A42"/>
                </a:solidFill>
              </a:defRPr>
            </a:pPr>
            <a:r>
              <a:rPr sz="1500" b="0">
                <a:solidFill>
                  <a:srgbClr val="343A42"/>
                </a:solidFill>
              </a:rPr>
              <a:t>The page was healthy. The production journey stalled.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7E21D-A29B-4011-991F-FEB42A96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48000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B82F6"/>
                </a:solidFill>
              </a:defRPr>
            </a:pPr>
            <a:r>
              <a:rPr sz="3600" b="1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5B5F2-84E0-49CE-80BA-59DDE86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5105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19050">
            <a:solidFill>
              <a:srgbClr val="0D8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19672-EA42-41A8-AE49-C8F78A90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81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A5F"/>
                </a:solidFill>
              </a:defRPr>
            </a:pPr>
            <a:r>
              <a:rPr sz="1050" b="1">
                <a:solidFill>
                  <a:srgbClr val="0D8A5F"/>
                </a:solidFill>
              </a:rPr>
              <a:t>REPAIRED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9A781-8357-4757-8844-03683CC7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24125"/>
            <a:ext cx="438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10"/>
                </a:solidFill>
              </a:defRPr>
            </a:pPr>
            <a:r>
              <a:rPr sz="2400" b="1">
                <a:solidFill>
                  <a:srgbClr val="0B0D10"/>
                </a:solidFill>
              </a:rPr>
              <a:t>Verified served bundle</a:t>
            </a:r>
          </a:p>
          <a:p xmlns:a="http://schemas.openxmlformats.org/drawingml/2006/main">
            <a:pPr algn="l">
              <a:defRPr sz="2400" b="1">
                <a:solidFill>
                  <a:srgbClr val="0B0D10"/>
                </a:solidFill>
              </a:defRPr>
            </a:pPr>
            <a:r>
              <a:rPr sz="2400" b="1">
                <a:solidFill>
                  <a:srgbClr val="0B0D10"/>
                </a:solidFill>
              </a:rPr>
              <a:t>→ exact clean redeploy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3AD41-AC6C-4629-B1F3-030925CD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76675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3A42"/>
                </a:solidFill>
              </a:defRPr>
            </a:pPr>
            <a:r>
              <a:rPr sz="1500" b="0">
                <a:solidFill>
                  <a:srgbClr val="343A42"/>
                </a:solidFill>
              </a:rPr>
              <a:t>The same browser journey then passed and persisted after reload.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3ED25-CD05-409E-BB57-D79011B8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0"/>
            <a:ext cx="11353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1F7A7-7407-469E-8911-71BBD1C1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87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D10"/>
                </a:solidFill>
              </a:defRPr>
            </a:pPr>
            <a:r>
              <a:rPr sz="1650" b="1">
                <a:solidFill>
                  <a:srgbClr val="0B0D10"/>
                </a:solidFill>
              </a:rPr>
              <a:t>FDE lesson: deployment is not complete until the user-visible workflow proves the exact frontend/backend binding.</a:t>
            </a:r>
          </a:p>
        </p:txBody>
      </p:sp>
    </p:spTree>
    <p:extLst>
      <p:ext uri="{BB962C8B-B14F-4D97-AF65-F5344CB8AC3E}">
        <p14:creationId xmlns:p14="http://schemas.microsoft.com/office/powerpoint/2010/main" val="762926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E6D58A-AD53-4266-8F51-5A06A078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CASCA FDE DEPLOYMENT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076C7-33BE-4426-A643-6441E774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</a:defRPr>
            </a:pPr>
            <a:r>
              <a:rPr sz="3000" b="1">
                <a:solidFill>
                  <a:srgbClr val="0B0D10"/>
                </a:solidFill>
              </a:rPr>
              <a:t>The benchmark is dimensional—never a universal winner claim.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D89C2-BEAB-4C33-A9A1-0DFF968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INDEPENDENT PROOF OF WORK · 2026-07-21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D1C5-6E4B-498C-9FCC-12DCCA0F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E5E0E-BC91-4C9C-BA72-B21E7B6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1925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F47B8-8F6E-44C9-9351-3FCCCB59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8A5F"/>
                </a:solidFill>
              </a:defRPr>
            </a:pPr>
            <a:r>
              <a:rPr sz="2700" b="1">
                <a:solidFill>
                  <a:srgbClr val="0D8A5F"/>
                </a:solidFill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D67EF-75C6-4AD9-82B3-0D88312A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</a:defRPr>
            </a:pPr>
            <a:r>
              <a:rPr sz="1125" b="0">
                <a:solidFill>
                  <a:srgbClr val="343A42"/>
                </a:solidFill>
              </a:rPr>
              <a:t>Locked runs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65FC7-49CA-48A8-B28D-408E98E5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3772E-0D55-4B0F-B416-8E9CBA67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B82F6"/>
                </a:solidFill>
              </a:defRPr>
            </a:pPr>
            <a:r>
              <a:rPr sz="2700" b="1">
                <a:solidFill>
                  <a:srgbClr val="3B82F6"/>
                </a:solidFill>
              </a:rPr>
              <a:t>3× each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852FB-D87E-48A0-B086-BF72549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145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</a:defRPr>
            </a:pPr>
            <a:r>
              <a:rPr sz="1125" b="0">
                <a:solidFill>
                  <a:srgbClr val="343A42"/>
                </a:solidFill>
              </a:rPr>
              <a:t>Model-backed repetitions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DDE4E-A747-45F9-B2D3-09E40398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240D9-746C-483E-95B4-4687DD2F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D10"/>
                </a:solidFill>
              </a:defRPr>
            </a:pPr>
            <a:r>
              <a:rPr sz="2700" b="1">
                <a:solidFill>
                  <a:srgbClr val="0B0D10"/>
                </a:solidFill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5132D-3F96-40D8-9A17-ECD957C6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145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</a:defRPr>
            </a:pPr>
            <a:r>
              <a:rPr sz="1125" b="0">
                <a:solidFill>
                  <a:srgbClr val="343A42"/>
                </a:solidFill>
              </a:rPr>
              <a:t>Document recall + blocker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BAE01-1719-47F8-9F90-E9CA46A7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19250"/>
            <a:ext cx="3067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55177-4F88-42F8-A719-8DC7C2C0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907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D10"/>
                </a:solidFill>
              </a:defRPr>
            </a:pPr>
            <a:r>
              <a:rPr sz="2700" b="1">
                <a:solidFill>
                  <a:srgbClr val="0B0D10"/>
                </a:solidFill>
              </a:rPr>
              <a:t>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BD284-75E2-44B8-BBFC-590F57B4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145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</a:defRPr>
            </a:pPr>
            <a:r>
              <a:rPr sz="1125" b="0">
                <a:solidFill>
                  <a:srgbClr val="343A42"/>
                </a:solidFill>
              </a:rPr>
              <a:t>False requirement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EE3CB-FE47-4685-B0AA-81F893DF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86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27D"/>
                </a:solidFill>
              </a:defRPr>
            </a:pPr>
            <a:r>
              <a:rPr sz="975" b="1">
                <a:solidFill>
                  <a:srgbClr val="6A727D"/>
                </a:solidFill>
              </a:rPr>
              <a:t>MEAN RUNTIME · MILLISECONDS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5E606-34DD-4100-BEA7-B77EFC64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33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</a:defRPr>
            </a:pPr>
            <a:r>
              <a:rPr sz="1275" b="1">
                <a:solidFill>
                  <a:srgbClr val="0B0D10"/>
                </a:solidFill>
              </a:rPr>
              <a:t>Manual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B6311-3B39-4D65-BC68-95C7AF2D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5D93F-0E89-48E8-92EF-2023A27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3380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0D10"/>
                </a:solidFill>
              </a:defRPr>
            </a:pPr>
            <a:r>
              <a:rPr sz="1200" b="1">
                <a:solidFill>
                  <a:srgbClr val="0B0D10"/>
                </a:solidFill>
              </a:rPr>
              <a:t>0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50CB8-D8D7-4D5B-A7C2-186D8C5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338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A727D"/>
                </a:solidFill>
              </a:defRPr>
            </a:pPr>
            <a:r>
              <a:rPr sz="1125" b="0">
                <a:solidFill>
                  <a:srgbClr val="6A727D"/>
                </a:solidFill>
              </a:rPr>
              <a:t>1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C94A7-86B5-49E4-A084-51247DAA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76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</a:defRPr>
            </a:pPr>
            <a:r>
              <a:rPr sz="1275" b="1">
                <a:solidFill>
                  <a:srgbClr val="0B0D10"/>
                </a:solidFill>
              </a:rPr>
              <a:t>Chat-only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C624F-2760-44AE-82A1-B0046035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95775"/>
            <a:ext cx="264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0D6121-EA04-44D5-BFA2-FEF003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7672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0D10"/>
                </a:solidFill>
              </a:defRPr>
            </a:pPr>
            <a:r>
              <a:rPr sz="1200" b="1">
                <a:solidFill>
                  <a:srgbClr val="0B0D10"/>
                </a:solidFill>
              </a:rPr>
              <a:t>3,328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3D0F5-00D2-4E57-B8F5-E5EE8528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767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A727D"/>
                </a:solidFill>
              </a:defRPr>
            </a:pPr>
            <a:r>
              <a:rPr sz="1125" b="0">
                <a:solidFill>
                  <a:srgbClr val="6A727D"/>
                </a:solidFill>
              </a:rPr>
              <a:t>3 runs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AC5DE-197A-401E-BDE7-12427832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19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</a:defRPr>
            </a:pPr>
            <a:r>
              <a:rPr sz="1275" b="1">
                <a:solidFill>
                  <a:srgbClr val="0B0D10"/>
                </a:solidFill>
              </a:rPr>
              <a:t>Graph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284C9B-96AC-4DB3-BE77-AC0C6EAD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556339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404D64-BF72-43D6-9633-8CF55F8E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96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0D10"/>
                </a:solidFill>
              </a:defRPr>
            </a:pPr>
            <a:r>
              <a:rPr sz="1200" b="1">
                <a:solidFill>
                  <a:srgbClr val="0B0D10"/>
                </a:solidFill>
              </a:rPr>
              <a:t>7,009 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CF096-36D2-4174-AD12-2983386A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196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A727D"/>
                </a:solidFill>
              </a:defRPr>
            </a:pPr>
            <a:r>
              <a:rPr sz="1125" b="0">
                <a:solidFill>
                  <a:srgbClr val="6A727D"/>
                </a:solidFill>
              </a:rPr>
              <a:t>3 runs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91F2F9-C76F-4D2C-9A5E-9CFC7C2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62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</a:defRPr>
            </a:pPr>
            <a:r>
              <a:rPr sz="1275" b="1">
                <a:solidFill>
                  <a:srgbClr val="0B0D10"/>
                </a:solidFill>
              </a:rPr>
              <a:t>Memory-enhanced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797854-7DF7-4F49-A387-7DF58112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664130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8BAEEB-E0C0-4C5E-A920-0DDD2106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625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B0D10"/>
                </a:solidFill>
              </a:defRPr>
            </a:pPr>
            <a:r>
              <a:rPr sz="1200" b="1">
                <a:solidFill>
                  <a:srgbClr val="0B0D10"/>
                </a:solidFill>
              </a:rPr>
              <a:t>8,367 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BEBDDE-A543-4F9A-A02B-3D43E745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6257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A727D"/>
                </a:solidFill>
              </a:defRPr>
            </a:pPr>
            <a:r>
              <a:rPr sz="1125" b="0">
                <a:solidFill>
                  <a:srgbClr val="6A727D"/>
                </a:solidFill>
              </a:rPr>
              <a:t>3 runs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66AC26-2294-4C79-9495-8F38952A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19800"/>
            <a:ext cx="1135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A727D"/>
                </a:solidFill>
              </a:defRPr>
            </a:pPr>
            <a:r>
              <a:rPr sz="1200" b="0">
                <a:solidFill>
                  <a:srgbClr val="6A727D"/>
                </a:solidFill>
              </a:rPr>
              <a:t>Billed provider cost was unavailable in the response, so the receipt records cost as n/a instead of estimating it.</a:t>
            </a:r>
          </a:p>
        </p:txBody>
      </p:sp>
    </p:spTree>
    <p:extLst>
      <p:ext uri="{BB962C8B-B14F-4D97-AF65-F5344CB8AC3E}">
        <p14:creationId xmlns:p14="http://schemas.microsoft.com/office/powerpoint/2010/main" val="1771530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CE20C5-426E-41CA-AD2D-CCEE7E12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CASCA FDE DEPLOYMENT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EB7FE-EDB8-4304-B8C0-74BE3425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</a:defRPr>
            </a:pPr>
            <a:r>
              <a:rPr sz="3000" b="1">
                <a:solidFill>
                  <a:srgbClr val="0B0D10"/>
                </a:solidFill>
              </a:rPr>
              <a:t>The deployment separates configuration from reusable platform learning.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1FE75-6C4E-45F9-A676-7B3BD98B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INDEPENDENT PROOF OF WORK · 2026-07-21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34C62-7F68-4E7E-8B04-FB32A17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59F21-C334-4678-8D27-F13D61C4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3476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AD9BD-1B5E-4593-9526-3A8F6D6E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BANK-SPECIFIC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647700" y="26289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DD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5C38A-7A0C-4F05-8A45-C49AFA3F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</a:defRPr>
            </a:pPr>
            <a:r>
              <a:rPr sz="1500" b="1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29164-D0CF-4828-95EF-5C24CC60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Document checklist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2F14F-C184-4AE2-8EE6-DCDED4A1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</a:defRPr>
            </a:pPr>
            <a:r>
              <a:rPr sz="1500" b="1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CEFCE-3042-4A34-B3E2-BE31A1C8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Product stages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4AB3B-B9B8-434C-B57E-299236BC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</a:defRPr>
            </a:pPr>
            <a:r>
              <a:rPr sz="1500" b="1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53BA7-9FFF-4AE3-8393-CE284E9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Policy / exception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1C6B0-142F-4E4D-864B-E8D0A44B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</a:defRPr>
            </a:pPr>
            <a:r>
              <a:rPr sz="1500" b="1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7F7AE-EF46-4377-B032-26B88AE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Integration mapping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F0466-36D5-4300-842A-BABDDBDA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3476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5AC4C-87FB-442B-AD33-16C69763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REUSABLE NOW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429125" y="26289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DD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A4B2A-5275-43CF-8BBE-A0438693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5F"/>
                </a:solidFill>
              </a:defRPr>
            </a:pPr>
            <a:r>
              <a:rPr sz="1500" b="1">
                <a:solidFill>
                  <a:srgbClr val="0D8A5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CBC69-B8DE-46DD-ADE1-0E876DA6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52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Pinned proposals + CAS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624EA-E851-4C9A-9AB4-6849218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5F"/>
                </a:solidFill>
              </a:defRPr>
            </a:pPr>
            <a:r>
              <a:rPr sz="1500" b="1">
                <a:solidFill>
                  <a:srgbClr val="0D8A5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7D6CA-7896-46EC-92DB-43093C1D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05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Evidence lineage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BACA15-5A02-4E05-BAD4-A76E47F5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5F"/>
                </a:solidFill>
              </a:defRPr>
            </a:pPr>
            <a:r>
              <a:rPr sz="1500" b="1">
                <a:solidFill>
                  <a:srgbClr val="0D8A5F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F6F38-12FF-42F8-9BEA-DED42A1C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576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Decision-free packets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EE6FD-2683-40E5-865F-4338DF96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0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5F"/>
                </a:solidFill>
              </a:defRPr>
            </a:pPr>
            <a:r>
              <a:rPr sz="1500" b="1">
                <a:solidFill>
                  <a:srgbClr val="0D8A5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ED0DB-0BBE-4428-8EFD-C3129944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101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Export / reopen receipts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019B3-8D04-46F4-818B-B4C9B7AD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476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23F112-57C3-498A-9EAB-69A474A0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NEXT PLATFORM GAPS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8210550" y="26289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DD4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E0BA4-F6C2-4250-8E81-87A09515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</a:defRPr>
            </a:pPr>
            <a:r>
              <a:rPr sz="1500" b="1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DA12FB-584A-4616-A6AE-83300C2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Actual-byte browser upload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F7A029-4A12-4155-87AD-CAF16DF7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</a:defRPr>
            </a:pPr>
            <a:r>
              <a:rPr sz="1500" b="1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E093D7-DF03-4D47-B176-E80EF91E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Optional Neo4j read projection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1F7228-565A-45D0-9DB7-939F0BD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</a:defRPr>
            </a:pPr>
            <a:r>
              <a:rPr sz="1500" b="1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CB37E0-A46F-4E03-AE53-87A3C4E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External bank connectors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E7FFD-8094-4756-B435-59449A49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</a:defRPr>
            </a:pPr>
            <a:r>
              <a:rPr sz="1500" b="1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0293A8-376A-464D-8BAA-A7051DF1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More held-out products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A98F52-4127-44E6-9A2A-96F140D5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1135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D10"/>
                </a:solidFill>
              </a:defRPr>
            </a:pPr>
            <a:r>
              <a:rPr sz="1575" b="1">
                <a:solidFill>
                  <a:srgbClr val="0B0D10"/>
                </a:solidFill>
              </a:rPr>
              <a:t>This is the FDE flywheel: map one customer deeply, ship one bounded workflow, then promote only the proven primitives into the platform.</a:t>
            </a:r>
          </a:p>
        </p:txBody>
      </p:sp>
    </p:spTree>
    <p:extLst>
      <p:ext uri="{BB962C8B-B14F-4D97-AF65-F5344CB8AC3E}">
        <p14:creationId xmlns:p14="http://schemas.microsoft.com/office/powerpoint/2010/main" val="498881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1ABE0-A2E6-44C2-B2D7-9CB1751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WHY CASCA · WHY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ADAE2-926A-4AC0-912D-E0C40799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9525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0D10"/>
                </a:solidFill>
              </a:defRPr>
            </a:pPr>
            <a:r>
              <a:rPr sz="5100" b="1">
                <a:solidFill>
                  <a:srgbClr val="0B0D10"/>
                </a:solidFill>
              </a:rPr>
              <a:t>Banking fluency expressed</a:t>
            </a:r>
          </a:p>
          <a:p xmlns:a="http://schemas.openxmlformats.org/drawingml/2006/main">
            <a:pPr algn="l">
              <a:defRPr sz="5100" b="1">
                <a:solidFill>
                  <a:srgbClr val="0B0D10"/>
                </a:solidFill>
              </a:defRPr>
            </a:pPr>
            <a:r>
              <a:rPr sz="5100" b="1">
                <a:solidFill>
                  <a:srgbClr val="0B0D10"/>
                </a:solidFill>
              </a:rPr>
              <a:t>as deployed software.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19100" y="40957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CDD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EFC47-FE6F-488B-BA88-A4FAED22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D10"/>
                </a:solidFill>
              </a:defRPr>
            </a:pPr>
            <a:r>
              <a:rPr sz="1200" b="1">
                <a:solidFill>
                  <a:srgbClr val="0B0D10"/>
                </a:solidFill>
              </a:rPr>
              <a:t>01  LIVED THE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121A3-E5D7-4534-AAD3-EAF4132E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34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Commercial credit, healthcare / life-science and startup banking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200525" y="40957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CDD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E4A68-6BD7-49BE-AFAF-63EC1CB6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24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D10"/>
                </a:solidFill>
              </a:defRPr>
            </a:pPr>
            <a:r>
              <a:rPr sz="1200" b="1">
                <a:solidFill>
                  <a:srgbClr val="0B0D10"/>
                </a:solidFill>
              </a:rPr>
              <a:t>02  BUILT THE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37AF2-3C0B-46A4-B75F-E8C08D2A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434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NodeRoom proposal, evidence, CAS, packet and proof lifecycle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7981950" y="40957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B82F6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B4954-8C86-40AF-B106-0EC7A94E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24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D10"/>
                </a:solidFill>
              </a:defRPr>
            </a:pPr>
            <a:r>
              <a:rPr sz="1200" b="1">
                <a:solidFill>
                  <a:srgbClr val="0B0D10"/>
                </a:solidFill>
              </a:rPr>
              <a:t>03  CLOSED THE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4CA11-43C0-4793-8F62-8B52BDB2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34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A42"/>
                </a:solidFill>
              </a:defRPr>
            </a:pPr>
            <a:r>
              <a:rPr sz="1350" b="0">
                <a:solidFill>
                  <a:srgbClr val="343A42"/>
                </a:solidFill>
              </a:rPr>
              <a:t>Production browser proof exposed and repaired a real deployment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EA6EA-189C-4FF3-8D6A-F61DDFC8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81675"/>
            <a:ext cx="1135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94C7C-E7E4-4C0A-B3D0-A928A000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Give me one real workflow. I’ll map it, ship it, and prove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58484-C9D5-4966-B144-1119EDCD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PUBLIC APP · NODEROOM.LIVE · SOURCE + PROOF 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AF069-6E9D-41C6-BEC0-188C98FA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7D"/>
                </a:solidFill>
              </a:defRPr>
            </a:pPr>
            <a:r>
              <a:rPr sz="825" b="0">
                <a:solidFill>
                  <a:srgbClr val="6A727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09873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2026-07-21T11:15:12.1290000Z</dcterms:created>
  <dcterms:modified xsi:type="dcterms:W3CDTF">2026-07-21T11:15:12.1300000Z</dcterms:modified>
</coreProperties>
</file>