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/>
          <p:nvPr/>
        </p:nvSpPr>
        <p:spPr>
          <a:xfrm>
            <a:off x="457200" y="365760"/>
            <a:ext cx="548640" cy="365760"/>
          </a:xfrm>
          <a:prstGeom prst="rect">
            <a:avLst/>
          </a:prstGeom>
          <a:solidFill>
            <a:srgbClr val="241713"/>
          </a:solidFill>
          <a:ln w="12700">
            <a:solidFill>
              <a:srgbClr val="5A3529"/>
            </a:solidFill>
          </a:ln>
        </p:spPr>
        <p:txBody>
          <a:bodyPr wrap="square" lIns="91440" tIns="73152" rIns="91440" bIns="73152"/>
          <a:lstStyle/>
          <a:p>
            <a:r>
              <a:rPr lang="en-US" sz="1550" b="1">
                <a:solidFill>
                  <a:srgbClr val="E59579"/>
                </a:solidFill>
              </a:rPr>
              <a:t>01</a:t>
            </a:r>
          </a:p>
        </p:txBody>
      </p:sp>
      <p:sp>
        <p:nvSpPr>
          <p:cNvPr id="3" name="Status"/>
          <p:cNvSpPr/>
          <p:nvPr/>
        </p:nvSpPr>
        <p:spPr>
          <a:xfrm>
            <a:off x="1021080" y="365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180" b="1">
                <a:solidFill>
                  <a:srgbClr val="E59579"/>
                </a:solidFill>
              </a:rPr>
              <a:t>NEEDS REVIEW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91440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3000" b="1">
                <a:solidFill>
                  <a:srgbClr val="F3F6FB"/>
                </a:solidFill>
              </a:rPr>
              <a:t>Capture Notebook - founder review</a:t>
            </a:r>
          </a:p>
        </p:txBody>
      </p:sp>
      <p:sp>
        <p:nvSpPr>
          <p:cNvPr id="5" name="Purpose"/>
          <p:cNvSpPr/>
          <p:nvPr/>
        </p:nvSpPr>
        <p:spPr>
          <a:xfrm>
            <a:off x="457200" y="164592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650">
                <a:solidFill>
                  <a:srgbClr val="AAB4C2"/>
                </a:solidFill>
              </a:rPr>
              <a:t>Convert written analysis into presentation narrative.</a:t>
            </a:r>
          </a:p>
        </p:txBody>
      </p:sp>
      <p:sp>
        <p:nvSpPr>
          <p:cNvPr id="6" name="Claims"/>
          <p:cNvSpPr/>
          <p:nvPr/>
        </p:nvSpPr>
        <p:spPr>
          <a:xfrm>
            <a:off x="457200" y="2552700"/>
            <a:ext cx="8138160" cy="18288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500">
                <a:solidFill>
                  <a:srgbClr val="D7DEE9"/>
                </a:solidFill>
              </a:rPr>
              <a:t>manual - CardioNova - diligence brief notebook · v12 3 sources draft Funding CardioNova closed a $14M Series A led by Meridian Health Ventur...</a:t>
            </a:r>
          </a:p>
        </p:txBody>
      </p:sp>
      <p:sp>
        <p:nvSpPr>
          <p:cNvPr id="7" name="Gaps"/>
          <p:cNvSpPr/>
          <p:nvPr/>
        </p:nvSpPr>
        <p:spPr>
          <a:xfrm>
            <a:off x="457200" y="4564380"/>
            <a:ext cx="8138160" cy="9144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450">
                <a:solidFill>
                  <a:srgbClr val="8E98A7"/>
                </a:solidFill>
              </a:rPr>
              <a:t>No unresolved gaps on this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/>
          <p:nvPr/>
        </p:nvSpPr>
        <p:spPr>
          <a:xfrm>
            <a:off x="457200" y="365760"/>
            <a:ext cx="548640" cy="365760"/>
          </a:xfrm>
          <a:prstGeom prst="rect">
            <a:avLst/>
          </a:prstGeom>
          <a:solidFill>
            <a:srgbClr val="241713"/>
          </a:solidFill>
          <a:ln w="12700">
            <a:solidFill>
              <a:srgbClr val="5A3529"/>
            </a:solidFill>
          </a:ln>
        </p:spPr>
        <p:txBody>
          <a:bodyPr wrap="square" lIns="91440" tIns="73152" rIns="91440" bIns="73152"/>
          <a:lstStyle/>
          <a:p>
            <a:r>
              <a:rPr lang="en-US" sz="1550" b="1">
                <a:solidFill>
                  <a:srgbClr val="E59579"/>
                </a:solidFill>
              </a:rPr>
              <a:t>02</a:t>
            </a:r>
          </a:p>
        </p:txBody>
      </p:sp>
      <p:sp>
        <p:nvSpPr>
          <p:cNvPr id="3" name="Status"/>
          <p:cNvSpPr/>
          <p:nvPr/>
        </p:nvSpPr>
        <p:spPr>
          <a:xfrm>
            <a:off x="1021080" y="365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180" b="1">
                <a:solidFill>
                  <a:srgbClr val="E59579"/>
                </a:solidFill>
              </a:rPr>
              <a:t>NEEDS REVIEW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91440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3000" b="1">
                <a:solidFill>
                  <a:srgbClr val="F3F6FB"/>
                </a:solidFill>
              </a:rPr>
              <a:t>Agent wiki</a:t>
            </a:r>
          </a:p>
        </p:txBody>
      </p:sp>
      <p:sp>
        <p:nvSpPr>
          <p:cNvPr id="5" name="Purpose"/>
          <p:cNvSpPr/>
          <p:nvPr/>
        </p:nvSpPr>
        <p:spPr>
          <a:xfrm>
            <a:off x="457200" y="164592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650">
                <a:solidFill>
                  <a:srgbClr val="AAB4C2"/>
                </a:solidFill>
              </a:rPr>
              <a:t>Convert written analysis into presentation narrative.</a:t>
            </a:r>
          </a:p>
        </p:txBody>
      </p:sp>
      <p:sp>
        <p:nvSpPr>
          <p:cNvPr id="6" name="Claims"/>
          <p:cNvSpPr/>
          <p:nvPr/>
        </p:nvSpPr>
        <p:spPr>
          <a:xfrm>
            <a:off x="457200" y="2552700"/>
            <a:ext cx="8138160" cy="18288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500">
                <a:solidFill>
                  <a:srgbClr val="D7DEE9"/>
                </a:solidFill>
              </a:rPr>
              <a:t>manual - Living wiki for room state, file inventory, agent sessions, workflows, backend map, and recent trace evidence. It updates from arti...</a:t>
            </a:r>
          </a:p>
        </p:txBody>
      </p:sp>
      <p:sp>
        <p:nvSpPr>
          <p:cNvPr id="7" name="Gaps"/>
          <p:cNvSpPr/>
          <p:nvPr/>
        </p:nvSpPr>
        <p:spPr>
          <a:xfrm>
            <a:off x="457200" y="4564380"/>
            <a:ext cx="8138160" cy="9144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450">
                <a:solidFill>
                  <a:srgbClr val="8E98A7"/>
                </a:solidFill>
              </a:rPr>
              <a:t>No unresolved gaps on this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/>
          <p:nvPr/>
        </p:nvSpPr>
        <p:spPr>
          <a:xfrm>
            <a:off x="457200" y="365760"/>
            <a:ext cx="548640" cy="365760"/>
          </a:xfrm>
          <a:prstGeom prst="rect">
            <a:avLst/>
          </a:prstGeom>
          <a:solidFill>
            <a:srgbClr val="241713"/>
          </a:solidFill>
          <a:ln w="12700">
            <a:solidFill>
              <a:srgbClr val="5A3529"/>
            </a:solidFill>
          </a:ln>
        </p:spPr>
        <p:txBody>
          <a:bodyPr wrap="square" lIns="91440" tIns="73152" rIns="91440" bIns="73152"/>
          <a:lstStyle/>
          <a:p>
            <a:r>
              <a:rPr lang="en-US" sz="1550" b="1">
                <a:solidFill>
                  <a:srgbClr val="E59579"/>
                </a:solidFill>
              </a:rPr>
              <a:t>03</a:t>
            </a:r>
          </a:p>
        </p:txBody>
      </p:sp>
      <p:sp>
        <p:nvSpPr>
          <p:cNvPr id="3" name="Status"/>
          <p:cNvSpPr/>
          <p:nvPr/>
        </p:nvSpPr>
        <p:spPr>
          <a:xfrm>
            <a:off x="1021080" y="365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180" b="1">
                <a:solidFill>
                  <a:srgbClr val="E59579"/>
                </a:solidFill>
              </a:rPr>
              <a:t>NEEDS REVIEW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91440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3000" b="1">
                <a:solidFill>
                  <a:srgbClr val="F3F6FB"/>
                </a:solidFill>
              </a:rPr>
              <a:t>Today's Brief</a:t>
            </a:r>
          </a:p>
        </p:txBody>
      </p:sp>
      <p:sp>
        <p:nvSpPr>
          <p:cNvPr id="5" name="Purpose"/>
          <p:cNvSpPr/>
          <p:nvPr/>
        </p:nvSpPr>
        <p:spPr>
          <a:xfrm>
            <a:off x="457200" y="164592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650">
                <a:solidFill>
                  <a:srgbClr val="AAB4C2"/>
                </a:solidFill>
              </a:rPr>
              <a:t>Convert written analysis into presentation narrative.</a:t>
            </a:r>
          </a:p>
        </p:txBody>
      </p:sp>
      <p:sp>
        <p:nvSpPr>
          <p:cNvPr id="6" name="Claims"/>
          <p:cNvSpPr/>
          <p:nvPr/>
        </p:nvSpPr>
        <p:spPr>
          <a:xfrm>
            <a:off x="457200" y="2552700"/>
            <a:ext cx="8138160" cy="18288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500">
                <a:solidFill>
                  <a:srgbClr val="D7DEE9"/>
                </a:solidFill>
              </a:rPr>
              <a:t>manual - Today's Brief — the room's ranked next actions, assembled from evidence, runway, and review state. Derived from the room and update...</a:t>
            </a:r>
          </a:p>
        </p:txBody>
      </p:sp>
      <p:sp>
        <p:nvSpPr>
          <p:cNvPr id="7" name="Gaps"/>
          <p:cNvSpPr/>
          <p:nvPr/>
        </p:nvSpPr>
        <p:spPr>
          <a:xfrm>
            <a:off x="457200" y="4564380"/>
            <a:ext cx="8138160" cy="9144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450">
                <a:solidFill>
                  <a:srgbClr val="8E98A7"/>
                </a:solidFill>
              </a:rPr>
              <a:t>No unresolved gaps on this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/>
          <p:nvPr/>
        </p:nvSpPr>
        <p:spPr>
          <a:xfrm>
            <a:off x="457200" y="365760"/>
            <a:ext cx="548640" cy="365760"/>
          </a:xfrm>
          <a:prstGeom prst="rect">
            <a:avLst/>
          </a:prstGeom>
          <a:solidFill>
            <a:srgbClr val="241713"/>
          </a:solidFill>
          <a:ln w="12700">
            <a:solidFill>
              <a:srgbClr val="5A3529"/>
            </a:solidFill>
          </a:ln>
        </p:spPr>
        <p:txBody>
          <a:bodyPr wrap="square" lIns="91440" tIns="73152" rIns="91440" bIns="73152"/>
          <a:lstStyle/>
          <a:p>
            <a:r>
              <a:rPr lang="en-US" sz="1550" b="1">
                <a:solidFill>
                  <a:srgbClr val="E59579"/>
                </a:solidFill>
              </a:rPr>
              <a:t>04</a:t>
            </a:r>
          </a:p>
        </p:txBody>
      </p:sp>
      <p:sp>
        <p:nvSpPr>
          <p:cNvPr id="3" name="Status"/>
          <p:cNvSpPr/>
          <p:nvPr/>
        </p:nvSpPr>
        <p:spPr>
          <a:xfrm>
            <a:off x="1021080" y="365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180" b="1">
                <a:solidFill>
                  <a:srgbClr val="E59579"/>
                </a:solidFill>
              </a:rPr>
              <a:t>NEEDS REVIEW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91440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3000" b="1">
                <a:solidFill>
                  <a:srgbClr val="F3F6FB"/>
                </a:solidFill>
              </a:rPr>
              <a:t>Q3 variance</a:t>
            </a:r>
          </a:p>
        </p:txBody>
      </p:sp>
      <p:sp>
        <p:nvSpPr>
          <p:cNvPr id="5" name="Purpose"/>
          <p:cNvSpPr/>
          <p:nvPr/>
        </p:nvSpPr>
        <p:spPr>
          <a:xfrm>
            <a:off x="457200" y="164592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650">
                <a:solidFill>
                  <a:srgbClr val="AAB4C2"/>
                </a:solidFill>
              </a:rPr>
              <a:t>Summarize structured findings and unresolved cells.</a:t>
            </a:r>
          </a:p>
        </p:txBody>
      </p:sp>
      <p:sp>
        <p:nvSpPr>
          <p:cNvPr id="6" name="Claims"/>
          <p:cNvSpPr/>
          <p:nvPr/>
        </p:nvSpPr>
        <p:spPr>
          <a:xfrm>
            <a:off x="457200" y="2552700"/>
            <a:ext cx="8138160" cy="18288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500">
                <a:solidFill>
                  <a:srgbClr val="D7DEE9"/>
                </a:solidFill>
              </a:rPr>
              <a:t>manual - Revenue</a:t>
            </a:r>
          </a:p>
          <a:p>
            <a:r>
              <a:rPr lang="en-US" sz="1500">
                <a:solidFill>
                  <a:srgbClr val="D7DEE9"/>
                </a:solidFill>
              </a:rPr>
              <a:t>manual - $10,000</a:t>
            </a:r>
          </a:p>
          <a:p>
            <a:r>
              <a:rPr lang="en-US" sz="1500">
                <a:solidFill>
                  <a:srgbClr val="D7DEE9"/>
                </a:solidFill>
              </a:rPr>
              <a:t>manual - $12,400</a:t>
            </a:r>
          </a:p>
        </p:txBody>
      </p:sp>
      <p:sp>
        <p:nvSpPr>
          <p:cNvPr id="7" name="Gaps"/>
          <p:cNvSpPr/>
          <p:nvPr/>
        </p:nvSpPr>
        <p:spPr>
          <a:xfrm>
            <a:off x="457200" y="4564380"/>
            <a:ext cx="8138160" cy="9144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450">
                <a:solidFill>
                  <a:srgbClr val="8E98A7"/>
                </a:solidFill>
              </a:rPr>
              <a:t>No unresolved gaps on this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/>
          <p:nvPr/>
        </p:nvSpPr>
        <p:spPr>
          <a:xfrm>
            <a:off x="457200" y="365760"/>
            <a:ext cx="548640" cy="365760"/>
          </a:xfrm>
          <a:prstGeom prst="rect">
            <a:avLst/>
          </a:prstGeom>
          <a:solidFill>
            <a:srgbClr val="241713"/>
          </a:solidFill>
          <a:ln w="12700">
            <a:solidFill>
              <a:srgbClr val="5A3529"/>
            </a:solidFill>
          </a:ln>
        </p:spPr>
        <p:txBody>
          <a:bodyPr wrap="square" lIns="91440" tIns="73152" rIns="91440" bIns="73152"/>
          <a:lstStyle/>
          <a:p>
            <a:r>
              <a:rPr lang="en-US" sz="1550" b="1">
                <a:solidFill>
                  <a:srgbClr val="E59579"/>
                </a:solidFill>
              </a:rPr>
              <a:t>05</a:t>
            </a:r>
          </a:p>
        </p:txBody>
      </p:sp>
      <p:sp>
        <p:nvSpPr>
          <p:cNvPr id="3" name="Status"/>
          <p:cNvSpPr/>
          <p:nvPr/>
        </p:nvSpPr>
        <p:spPr>
          <a:xfrm>
            <a:off x="1021080" y="365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180" b="1">
                <a:solidFill>
                  <a:srgbClr val="E59579"/>
                </a:solidFill>
              </a:rPr>
              <a:t>NEEDS REVIEW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91440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3000" b="1">
                <a:solidFill>
                  <a:srgbClr val="F3F6FB"/>
                </a:solidFill>
              </a:rPr>
              <a:t>Company research</a:t>
            </a:r>
          </a:p>
        </p:txBody>
      </p:sp>
      <p:sp>
        <p:nvSpPr>
          <p:cNvPr id="5" name="Purpose"/>
          <p:cNvSpPr/>
          <p:nvPr/>
        </p:nvSpPr>
        <p:spPr>
          <a:xfrm>
            <a:off x="457200" y="164592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650">
                <a:solidFill>
                  <a:srgbClr val="AAB4C2"/>
                </a:solidFill>
              </a:rPr>
              <a:t>Summarize structured findings and unresolved cells.</a:t>
            </a:r>
          </a:p>
        </p:txBody>
      </p:sp>
      <p:sp>
        <p:nvSpPr>
          <p:cNvPr id="6" name="Claims"/>
          <p:cNvSpPr/>
          <p:nvPr/>
        </p:nvSpPr>
        <p:spPr>
          <a:xfrm>
            <a:off x="457200" y="2552700"/>
            <a:ext cx="8138160" cy="18288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500">
                <a:solidFill>
                  <a:srgbClr val="55D49A"/>
                </a:solidFill>
              </a:rPr>
              <a:t>verified - CardioNova</a:t>
            </a:r>
          </a:p>
          <a:p>
            <a:r>
              <a:rPr lang="en-US" sz="1500">
                <a:solidFill>
                  <a:srgbClr val="55D49A"/>
                </a:solidFill>
              </a:rPr>
              <a:t>verified - https://cardionova.com</a:t>
            </a:r>
          </a:p>
          <a:p>
            <a:r>
              <a:rPr lang="en-US" sz="1500">
                <a:solidFill>
                  <a:srgbClr val="55D49A"/>
                </a:solidFill>
              </a:rPr>
              <a:t>verified - complete</a:t>
            </a:r>
          </a:p>
        </p:txBody>
      </p:sp>
      <p:sp>
        <p:nvSpPr>
          <p:cNvPr id="7" name="Gaps"/>
          <p:cNvSpPr/>
          <p:nvPr/>
        </p:nvSpPr>
        <p:spPr>
          <a:xfrm>
            <a:off x="457200" y="4564380"/>
            <a:ext cx="8138160" cy="9144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450">
                <a:solidFill>
                  <a:srgbClr val="E59579"/>
                </a:solidFill>
              </a:rPr>
              <a:t>Review - needs_review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08090B"/>
      </a:dk1>
      <a:lt1>
        <a:srgbClr val="F3F6FB"/>
      </a:lt1>
      <a:dk2>
        <a:srgbClr val="101317"/>
      </a:dk2>
      <a:lt2>
        <a:srgbClr val="D7DEE9"/>
      </a:lt2>
      <a:accent1>
        <a:srgbClr val="E59579"/>
      </a:accent1>
      <a:accent2>
        <a:srgbClr val="55D49A"/>
      </a:accent2>
      <a:accent3>
        <a:srgbClr val="6AA9FF"/>
      </a:accent3>
      <a:accent4>
        <a:srgbClr val="A78BFA"/>
      </a:accent4>
      <a:accent5>
        <a:srgbClr val="FFD16A"/>
      </a:accent5>
      <a:accent6>
        <a:srgbClr val="AAB4C2"/>
      </a:accent6>
      <a:hlink>
        <a:srgbClr val="6AA9FF"/>
      </a:hlink>
      <a:folHlink>
        <a:srgbClr val="A78BFA"/>
      </a:folHlink>
    </a:clrScheme>
    <a:fontScheme name="NodeRoom">
      <a:majorFont>
        <a:latin typeface="Aptos Display"/>
      </a:majorFont>
      <a:minorFont>
        <a:latin typeface="Aptos"/>
      </a:minorFont>
    </a:fontScheme>
    <a:fmtScheme name="NodeRoom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NodeRoom</Application>
  <PresentationFormat>On-screen Show (16:9)</PresentationFormat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diligence readout</dc:title>
  <dc:creator>NodeRoom</dc:creator>
  <cp:lastModifiedBy>NodeRoom</cp:lastModifiedBy>
  <dcterms:created xsi:type="dcterms:W3CDTF">1970-01-01T00:00:00Z</dcterms:created>
  <dcterms:modified xsi:type="dcterms:W3CDTF">1970-01-01T00:00:00Z</dcterms:modified>
</cp:coreProperties>
</file>